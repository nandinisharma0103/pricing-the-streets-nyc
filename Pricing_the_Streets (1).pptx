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5.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6.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7.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8.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charts/chart9.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charts/chart10.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charts/chart11.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charts/chart12.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a724453-3fc7-6903-0384-4f2900306a94}">
          <p14:sldIdLst>
            <p14:sldId id="256"/>
          </p14:sldIdLst>
        </p14:section>
        <p14:section name="A. Introduction" id="{ac33aaed-2459-fdbc-ccfd-76eb0b586eb4}">
          <p14:sldIdLst>
            <p14:sldId id="257"/>
            <p14:sldId id="258"/>
            <p14:sldId id="259"/>
            <p14:sldId id="260"/>
          </p14:sldIdLst>
        </p14:section>
        <p14:section name="B. Data and methodology" id="{162be6f5-d517-d603-91b4-c636649662d1}">
          <p14:sldIdLst>
            <p14:sldId id="261"/>
            <p14:sldId id="262"/>
            <p14:sldId id="263"/>
            <p14:sldId id="264"/>
            <p14:sldId id="265"/>
          </p14:sldIdLst>
        </p14:section>
        <p14:section name="C. Descriptive evidence" id="{23b33e79-3baa-4ede-8fe9-00f58bb44800}">
          <p14:sldIdLst>
            <p14:sldId id="266"/>
            <p14:sldId id="267"/>
            <p14:sldId id="268"/>
            <p14:sldId id="269"/>
            <p14:sldId id="270"/>
            <p14:sldId id="271"/>
            <p14:sldId id="272"/>
            <p14:sldId id="273"/>
          </p14:sldIdLst>
        </p14:section>
        <p14:section name="D. Results" id="{56e56c25-9fd8-166f-822f-dbabec078e07}">
          <p14:sldIdLst>
            <p14:sldId id="274"/>
            <p14:sldId id="275"/>
            <p14:sldId id="276"/>
            <p14:sldId id="277"/>
            <p14:sldId id="278"/>
            <p14:sldId id="279"/>
            <p14:sldId id="280"/>
            <p14:sldId id="281"/>
            <p14:sldId id="282"/>
            <p14:sldId id="283"/>
            <p14:sldId id="284"/>
            <p14:sldId id="285"/>
          </p14:sldIdLst>
        </p14:section>
        <p14:section name="E. Implications" id="{3d155d4e-3af4-a367-c17f-4570a498bfc8}">
          <p14:sldIdLst>
            <p14:sldId id="286"/>
            <p14:sldId id="287"/>
            <p14:sldId id="288"/>
            <p14:sldId id="289"/>
            <p14:sldId id="29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D31"/>
                </a:solidFill>
                <a:latin typeface="+mn-lt"/>
              </a:defRPr>
            </a:pPr>
            <a:r>
              <a:rPr sz="1300" b="0" i="0" u="none" strike="noStrike">
                <a:solidFill>
                  <a:srgbClr val="2B2D31"/>
                </a:solidFill>
                <a:latin typeface="+mn-lt"/>
              </a:rPr>
              <a:t>Rows removed, 2022–2025 (thousands)</a:t>
            </a:r>
          </a:p>
        </c:rich>
      </c:tx>
      <c:layout/>
      <c:overlay val="0"/>
    </c:title>
    <c:autoTitleDeleted val="0"/>
    <c:plotArea>
      <c:layout/>
      <c:barChart>
        <c:barDir val="bar"/>
        <c:grouping val="clustered"/>
        <c:varyColors val="0"/>
        <c:ser>
          <c:idx val="0"/>
          <c:order val="0"/>
          <c:tx>
            <c:strRef>
              <c:f>Sheet1!$B$1</c:f>
              <c:strCache>
                <c:ptCount val="1"/>
                <c:pt idx="0">
                  <c:v>Rows removed (thousands)</c:v>
                </c:pt>
              </c:strCache>
            </c:strRef>
          </c:tx>
          <c:spPr>
            <a:solidFill>
              <a:srgbClr val="F5B700"/>
            </a:solidFill>
            <a:effectLst/>
          </c:spPr>
          <c:invertIfNegative val="0"/>
          <c:dLbls>
            <c:numFmt formatCode="#,##0" sourceLinked="0"/>
            <c:txPr>
              <a:bodyPr/>
              <a:lstStyle/>
              <a:p>
                <a:pPr>
                  <a:defRPr b="0" i="0" strike="noStrike" sz="1100" u="none">
                    <a:solidFill>
                      <a:srgbClr val="2B2D31"/>
                    </a:solidFill>
                    <a:latin typeface="+mn-lt"/>
                  </a:defRPr>
                </a:pPr>
              </a:p>
            </c:txPr>
            <c:showLegendKey val="0"/>
            <c:showVal val="1"/>
            <c:showCatName val="0"/>
            <c:showSerName val="0"/>
            <c:showPercent val="0"/>
            <c:showBubbleSize val="0"/>
            <c:showLeaderLines val="0"/>
          </c:dLbls>
          <c:cat>
            <c:multiLvlStrRef>
              <c:f>Sheet1!$A$2:$A$7</c:f>
              <c:multiLvlStrCache>
                <c:ptCount val="6"/>
                <c:lvl>
                  <c:pt idx="0">
                    <c:v>Negative fare</c:v>
                  </c:pt>
                  <c:pt idx="1">
                    <c:v>Zero or negative distance</c:v>
                  </c:pt>
                  <c:pt idx="2">
                    <c:v>Passenger count 0 or &gt; 6</c:v>
                  </c:pt>
                  <c:pt idx="3">
                    <c:v>Drop-off not after pickup</c:v>
                  </c:pt>
                  <c:pt idx="4">
                    <c:v>Speed over 80 mph</c:v>
                  </c:pt>
                  <c:pt idx="5">
                    <c:v>Other 6 rules</c:v>
                  </c:pt>
                </c:lvl>
              </c:multiLvlStrCache>
            </c:multiLvlStrRef>
          </c:cat>
          <c:val>
            <c:numRef>
              <c:f>Sheet1!$B$2:$B$7</c:f>
              <c:numCache>
                <c:formatCode>General</c:formatCode>
                <c:ptCount val="6"/>
                <c:pt idx="0">
                  <c:v>3836.5</c:v>
                </c:pt>
                <c:pt idx="1">
                  <c:v>3470.8</c:v>
                </c:pt>
                <c:pt idx="2">
                  <c:v>1948.3</c:v>
                </c:pt>
                <c:pt idx="3">
                  <c:v>607.4</c:v>
                </c:pt>
                <c:pt idx="4">
                  <c:v>81.8</c:v>
                </c:pt>
                <c:pt idx="5">
                  <c:v>22.9</c:v>
                </c:pt>
              </c:numCache>
            </c:numRef>
          </c:val>
        </c:ser>
        <c:dLbls>
          <c:numFmt formatCode="#,##0" sourceLinked="0"/>
          <c:txPr>
            <a:bodyPr/>
            <a:lstStyle/>
            <a:p>
              <a:pPr>
                <a:defRPr b="0" i="0" strike="noStrike" sz="1100" u="none">
                  <a:solidFill>
                    <a:srgbClr val="2B2D31"/>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BFBFBF"/>
            </a:solidFill>
            <a:prstDash val="solid"/>
            <a:round/>
          </a:ln>
        </c:spPr>
        <c:txPr>
          <a:bodyPr/>
          <a:lstStyle/>
          <a:p>
            <a:pPr>
              <a:defRPr sz="1100" b="0" i="0" u="none" strike="noStrike">
                <a:solidFill>
                  <a:srgbClr val="595959"/>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59595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D31"/>
                </a:solidFill>
                <a:latin typeface="+mn-lt"/>
              </a:defRPr>
            </a:pPr>
            <a:r>
              <a:rPr sz="1300" b="0" i="0" u="none" strike="noStrike">
                <a:solidFill>
                  <a:srgbClr val="2B2D31"/>
                </a:solidFill>
                <a:latin typeface="+mn-lt"/>
              </a:rPr>
              <a:t>Average trips per day, thousands</a:t>
            </a:r>
          </a:p>
        </c:rich>
      </c:tx>
      <c:layout/>
      <c:overlay val="0"/>
    </c:title>
    <c:autoTitleDeleted val="0"/>
    <c:plotArea>
      <c:layout/>
      <c:lineChart>
        <c:varyColors val="0"/>
        <c:ser>
          <c:idx val="0"/>
          <c:order val="0"/>
          <c:tx>
            <c:strRef>
              <c:f>Sheet1!$B$1</c:f>
              <c:strCache>
                <c:ptCount val="1"/>
                <c:pt idx="0">
                  <c:v>Trips per day (thousands)</c:v>
                </c:pt>
              </c:strCache>
            </c:strRef>
          </c:tx>
          <c:spPr>
            <a:solidFill>
              <a:srgbClr val="111111"/>
            </a:solidFill>
            <a:ln w="28575" cap="flat">
              <a:solidFill>
                <a:srgbClr val="111111"/>
              </a:solidFill>
              <a:prstDash val="solid"/>
              <a:round/>
            </a:ln>
            <a:effectLst/>
          </c:spPr>
          <c:invertIfNegative val="0"/>
          <c:dLbls>
            <c:numFmt formatCode="#,##0" sourceLinked="0"/>
            <c:txPr>
              <a:bodyPr/>
              <a:lstStyle/>
              <a:p>
                <a:pPr>
                  <a:defRPr b="0" i="0" strike="noStrike" sz="1100" u="none">
                    <a:solidFill>
                      <a:srgbClr val="2B2D31"/>
                    </a:solidFill>
                    <a:latin typeface="+mn-lt"/>
                  </a:defRPr>
                </a:pPr>
              </a:p>
            </c:txPr>
            <c:showLegendKey val="0"/>
            <c:showVal val="0"/>
            <c:showCatName val="0"/>
            <c:showSerName val="0"/>
            <c:showPercent val="0"/>
            <c:showBubbleSize val="0"/>
            <c:showLeaderLines val="0"/>
          </c:dLbls>
          <c:marker>
            <c:symbol val="none"/>
            <c:size val="6"/>
            <c:spPr>
              <a:solidFill>
                <a:srgbClr val="111111"/>
              </a:solidFill>
              <a:ln w="9525" cap="flat">
                <a:solidFill>
                  <a:srgbClr val="111111"/>
                </a:solidFill>
                <a:prstDash val="solid"/>
                <a:round/>
              </a:ln>
              <a:effectLst/>
            </c:spPr>
          </c:marker>
          <c:cat>
            <c:multiLvlStrRef>
              <c:f>Sheet1!$A$2:$A$49</c:f>
              <c:multiLvlStrCache>
                <c:ptCount val="48"/>
                <c:lvl>
                  <c:pt idx="0">
                    <c:v>2022</c:v>
                  </c:pt>
                  <c:pt idx="1">
                    <c:v>Feb 22</c:v>
                  </c:pt>
                  <c:pt idx="2">
                    <c:v>Mar 22</c:v>
                  </c:pt>
                  <c:pt idx="3">
                    <c:v>Apr 22</c:v>
                  </c:pt>
                  <c:pt idx="4">
                    <c:v>May 22</c:v>
                  </c:pt>
                  <c:pt idx="5">
                    <c:v>Jun 22</c:v>
                  </c:pt>
                  <c:pt idx="6">
                    <c:v>Jul 22</c:v>
                  </c:pt>
                  <c:pt idx="7">
                    <c:v>Aug 22</c:v>
                  </c:pt>
                  <c:pt idx="8">
                    <c:v>Sep 22</c:v>
                  </c:pt>
                  <c:pt idx="9">
                    <c:v>Oct 22</c:v>
                  </c:pt>
                  <c:pt idx="10">
                    <c:v>Nov 22</c:v>
                  </c:pt>
                  <c:pt idx="11">
                    <c:v>Dec 22</c:v>
                  </c:pt>
                  <c:pt idx="12">
                    <c:v>2023</c:v>
                  </c:pt>
                  <c:pt idx="13">
                    <c:v>Feb 23</c:v>
                  </c:pt>
                  <c:pt idx="14">
                    <c:v>Mar 23</c:v>
                  </c:pt>
                  <c:pt idx="15">
                    <c:v>Apr 23</c:v>
                  </c:pt>
                  <c:pt idx="16">
                    <c:v>May 23</c:v>
                  </c:pt>
                  <c:pt idx="17">
                    <c:v>Jun 23</c:v>
                  </c:pt>
                  <c:pt idx="18">
                    <c:v>Jul 23</c:v>
                  </c:pt>
                  <c:pt idx="19">
                    <c:v>Aug 23</c:v>
                  </c:pt>
                  <c:pt idx="20">
                    <c:v>Sep 23</c:v>
                  </c:pt>
                  <c:pt idx="21">
                    <c:v>Oct 23</c:v>
                  </c:pt>
                  <c:pt idx="22">
                    <c:v>Nov 23</c:v>
                  </c:pt>
                  <c:pt idx="23">
                    <c:v>Dec 23</c:v>
                  </c:pt>
                  <c:pt idx="24">
                    <c:v>2024</c:v>
                  </c:pt>
                  <c:pt idx="25">
                    <c:v>Feb 24</c:v>
                  </c:pt>
                  <c:pt idx="26">
                    <c:v>Mar 24</c:v>
                  </c:pt>
                  <c:pt idx="27">
                    <c:v>Apr 24</c:v>
                  </c:pt>
                  <c:pt idx="28">
                    <c:v>May 24</c:v>
                  </c:pt>
                  <c:pt idx="29">
                    <c:v>Jun 24</c:v>
                  </c:pt>
                  <c:pt idx="30">
                    <c:v>Jul 24</c:v>
                  </c:pt>
                  <c:pt idx="31">
                    <c:v>Aug 24</c:v>
                  </c:pt>
                  <c:pt idx="32">
                    <c:v>Sep 24</c:v>
                  </c:pt>
                  <c:pt idx="33">
                    <c:v>Oct 24</c:v>
                  </c:pt>
                  <c:pt idx="34">
                    <c:v>Nov 24</c:v>
                  </c:pt>
                  <c:pt idx="35">
                    <c:v>Dec 24</c:v>
                  </c:pt>
                  <c:pt idx="36">
                    <c:v>2025</c:v>
                  </c:pt>
                  <c:pt idx="37">
                    <c:v>Feb 25</c:v>
                  </c:pt>
                  <c:pt idx="38">
                    <c:v>Mar 25</c:v>
                  </c:pt>
                  <c:pt idx="39">
                    <c:v>Apr 25</c:v>
                  </c:pt>
                  <c:pt idx="40">
                    <c:v>May 25</c:v>
                  </c:pt>
                  <c:pt idx="41">
                    <c:v>Jun 25</c:v>
                  </c:pt>
                  <c:pt idx="42">
                    <c:v>Jul 25</c:v>
                  </c:pt>
                  <c:pt idx="43">
                    <c:v>Aug 25</c:v>
                  </c:pt>
                  <c:pt idx="44">
                    <c:v>Sep 25</c:v>
                  </c:pt>
                  <c:pt idx="45">
                    <c:v>Oct 25</c:v>
                  </c:pt>
                  <c:pt idx="46">
                    <c:v>Nov 25</c:v>
                  </c:pt>
                  <c:pt idx="47">
                    <c:v>Dec 25</c:v>
                  </c:pt>
                </c:lvl>
              </c:multiLvlStrCache>
            </c:multiLvlStrRef>
          </c:cat>
          <c:val>
            <c:numRef>
              <c:f>Sheet1!$B$2:$B$49</c:f>
              <c:numCache>
                <c:formatCode>General</c:formatCode>
                <c:ptCount val="48"/>
                <c:pt idx="0">
                  <c:v>76.4</c:v>
                </c:pt>
                <c:pt idx="1">
                  <c:v>102.4</c:v>
                </c:pt>
                <c:pt idx="2">
                  <c:v>112.6</c:v>
                </c:pt>
                <c:pt idx="3">
                  <c:v>115.5</c:v>
                </c:pt>
                <c:pt idx="4">
                  <c:v>111.2</c:v>
                </c:pt>
                <c:pt idx="5">
                  <c:v>113.7</c:v>
                </c:pt>
                <c:pt idx="6">
                  <c:v>98.2</c:v>
                </c:pt>
                <c:pt idx="7">
                  <c:v>97.4</c:v>
                </c:pt>
                <c:pt idx="8">
                  <c:v>105.2</c:v>
                </c:pt>
                <c:pt idx="9">
                  <c:v>113.5</c:v>
                </c:pt>
                <c:pt idx="10">
                  <c:v>104</c:v>
                </c:pt>
                <c:pt idx="11">
                  <c:v>104.9</c:v>
                </c:pt>
                <c:pt idx="12">
                  <c:v>95.1</c:v>
                </c:pt>
                <c:pt idx="13">
                  <c:v>100.1</c:v>
                </c:pt>
                <c:pt idx="14">
                  <c:v>105.5</c:v>
                </c:pt>
                <c:pt idx="15">
                  <c:v>105.4</c:v>
                </c:pt>
                <c:pt idx="16">
                  <c:v>109</c:v>
                </c:pt>
                <c:pt idx="17">
                  <c:v>105.9</c:v>
                </c:pt>
                <c:pt idx="18">
                  <c:v>89.8</c:v>
                </c:pt>
                <c:pt idx="19">
                  <c:v>87</c:v>
                </c:pt>
                <c:pt idx="20">
                  <c:v>101.3</c:v>
                </c:pt>
                <c:pt idx="21">
                  <c:v>107.1</c:v>
                </c:pt>
                <c:pt idx="22">
                  <c:v>105.4</c:v>
                </c:pt>
                <c:pt idx="23">
                  <c:v>103.9</c:v>
                </c:pt>
                <c:pt idx="24">
                  <c:v>91.6</c:v>
                </c:pt>
                <c:pt idx="25">
                  <c:v>98.9</c:v>
                </c:pt>
                <c:pt idx="26">
                  <c:v>109.7</c:v>
                </c:pt>
                <c:pt idx="27">
                  <c:v>112.5</c:v>
                </c:pt>
                <c:pt idx="28">
                  <c:v>115.5</c:v>
                </c:pt>
                <c:pt idx="29">
                  <c:v>113.1</c:v>
                </c:pt>
                <c:pt idx="30">
                  <c:v>95</c:v>
                </c:pt>
                <c:pt idx="31">
                  <c:v>91.7</c:v>
                </c:pt>
                <c:pt idx="32">
                  <c:v>115.2</c:v>
                </c:pt>
                <c:pt idx="33">
                  <c:v>117.7</c:v>
                </c:pt>
                <c:pt idx="34">
                  <c:v>116.1</c:v>
                </c:pt>
                <c:pt idx="35">
                  <c:v>112.6</c:v>
                </c:pt>
                <c:pt idx="36">
                  <c:v>104.1</c:v>
                </c:pt>
                <c:pt idx="37">
                  <c:v>117.3</c:v>
                </c:pt>
                <c:pt idx="38">
                  <c:v>122.8</c:v>
                </c:pt>
                <c:pt idx="39">
                  <c:v>121.6</c:v>
                </c:pt>
                <c:pt idx="40">
                  <c:v>131.3</c:v>
                </c:pt>
                <c:pt idx="41">
                  <c:v>128.2</c:v>
                </c:pt>
                <c:pt idx="42">
                  <c:v>112.1</c:v>
                </c:pt>
                <c:pt idx="43">
                  <c:v>102.1</c:v>
                </c:pt>
                <c:pt idx="44">
                  <c:v>127.2</c:v>
                </c:pt>
                <c:pt idx="45">
                  <c:v>126.5</c:v>
                </c:pt>
                <c:pt idx="46">
                  <c:v>120.8</c:v>
                </c:pt>
                <c:pt idx="47">
                  <c:v>130.1</c:v>
                </c:pt>
              </c:numCache>
            </c:numRef>
          </c:val>
          <c:smooth val="0"/>
        </c:ser>
        <c:dLbls>
          <c:numFmt formatCode="#,##0" sourceLinked="0"/>
          <c:txPr>
            <a:bodyPr/>
            <a:lstStyle/>
            <a:p>
              <a:pPr>
                <a:defRPr b="0" i="0" strike="noStrike" sz="1100" u="none">
                  <a:solidFill>
                    <a:srgbClr val="2B2D31"/>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1100" b="0" i="0" u="none" strike="noStrike">
                <a:solidFill>
                  <a:srgbClr val="595959"/>
                </a:solidFill>
                <a:latin typeface="+mn-lt"/>
              </a:defRPr>
            </a:pPr>
            <a:endParaRPr lang="en-US"/>
          </a:p>
        </c:txPr>
        <c:crossAx val="2094734552"/>
        <c:crosses val="autoZero"/>
        <c:auto val="1"/>
        <c:lblAlgn val="ctr"/>
        <c:noMultiLvlLbl val="1"/>
        <c:tickLblSkip val="12"/>
      </c:catAx>
      <c:valAx>
        <c:axId val="2094734552"/>
        <c:scaling>
          <c:orientation val="minMax"/>
          <c:max val="140"/>
          <c:min val="60"/>
        </c:scaling>
        <c:delete val="0"/>
        <c:axPos val="l"/>
        <c:majorGridlines>
          <c:spPr>
            <a:ln w="9525" cap="flat">
              <a:solidFill>
                <a:srgbClr val="E6E6E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95959"/>
                </a:solidFill>
                <a:latin typeface="+mn-lt"/>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D31"/>
                </a:solidFill>
                <a:latin typeface="+mn-lt"/>
              </a:defRPr>
            </a:pPr>
            <a:r>
              <a:rPr sz="1300" b="0" i="0" u="none" strike="noStrike">
                <a:solidFill>
                  <a:srgbClr val="2B2D31"/>
                </a:solidFill>
                <a:latin typeface="+mn-lt"/>
              </a:rPr>
              <a:t>Mean meter fare per trip ($)</a:t>
            </a:r>
          </a:p>
        </c:rich>
      </c:tx>
      <c:layout/>
      <c:overlay val="0"/>
    </c:title>
    <c:autoTitleDeleted val="0"/>
    <c:plotArea>
      <c:layout/>
      <c:lineChart>
        <c:varyColors val="0"/>
        <c:ser>
          <c:idx val="0"/>
          <c:order val="0"/>
          <c:tx>
            <c:strRef>
              <c:f>Sheet1!$B$1</c:f>
              <c:strCache>
                <c:ptCount val="1"/>
                <c:pt idx="0">
                  <c:v>Mean fare ($)</c:v>
                </c:pt>
              </c:strCache>
            </c:strRef>
          </c:tx>
          <c:spPr>
            <a:solidFill>
              <a:srgbClr val="111111"/>
            </a:solidFill>
            <a:ln w="28575" cap="flat">
              <a:solidFill>
                <a:srgbClr val="111111"/>
              </a:solidFill>
              <a:prstDash val="solid"/>
              <a:round/>
            </a:ln>
            <a:effectLst/>
          </c:spPr>
          <c:invertIfNegative val="0"/>
          <c:dLbls>
            <c:numFmt formatCode="#,##0" sourceLinked="0"/>
            <c:txPr>
              <a:bodyPr/>
              <a:lstStyle/>
              <a:p>
                <a:pPr>
                  <a:defRPr b="0" i="0" strike="noStrike" sz="1100" u="none">
                    <a:solidFill>
                      <a:srgbClr val="2B2D31"/>
                    </a:solidFill>
                    <a:latin typeface="+mn-lt"/>
                  </a:defRPr>
                </a:pPr>
              </a:p>
            </c:txPr>
            <c:showLegendKey val="0"/>
            <c:showVal val="0"/>
            <c:showCatName val="0"/>
            <c:showSerName val="0"/>
            <c:showPercent val="0"/>
            <c:showBubbleSize val="0"/>
            <c:showLeaderLines val="0"/>
          </c:dLbls>
          <c:marker>
            <c:symbol val="none"/>
            <c:size val="6"/>
            <c:spPr>
              <a:solidFill>
                <a:srgbClr val="111111"/>
              </a:solidFill>
              <a:ln w="9525" cap="flat">
                <a:solidFill>
                  <a:srgbClr val="111111"/>
                </a:solidFill>
                <a:prstDash val="solid"/>
                <a:round/>
              </a:ln>
              <a:effectLst/>
            </c:spPr>
          </c:marker>
          <c:cat>
            <c:multiLvlStrRef>
              <c:f>Sheet1!$A$2:$A$49</c:f>
              <c:multiLvlStrCache>
                <c:ptCount val="48"/>
                <c:lvl>
                  <c:pt idx="0">
                    <c:v>2022</c:v>
                  </c:pt>
                  <c:pt idx="1">
                    <c:v>Feb 22</c:v>
                  </c:pt>
                  <c:pt idx="2">
                    <c:v>Mar 22</c:v>
                  </c:pt>
                  <c:pt idx="3">
                    <c:v>Apr 22</c:v>
                  </c:pt>
                  <c:pt idx="4">
                    <c:v>May 22</c:v>
                  </c:pt>
                  <c:pt idx="5">
                    <c:v>Jun 22</c:v>
                  </c:pt>
                  <c:pt idx="6">
                    <c:v>Jul 22</c:v>
                  </c:pt>
                  <c:pt idx="7">
                    <c:v>Aug 22</c:v>
                  </c:pt>
                  <c:pt idx="8">
                    <c:v>Sep 22</c:v>
                  </c:pt>
                  <c:pt idx="9">
                    <c:v>Oct 22</c:v>
                  </c:pt>
                  <c:pt idx="10">
                    <c:v>Nov 22</c:v>
                  </c:pt>
                  <c:pt idx="11">
                    <c:v>Dec 22</c:v>
                  </c:pt>
                  <c:pt idx="12">
                    <c:v>2023</c:v>
                  </c:pt>
                  <c:pt idx="13">
                    <c:v>Feb 23</c:v>
                  </c:pt>
                  <c:pt idx="14">
                    <c:v>Mar 23</c:v>
                  </c:pt>
                  <c:pt idx="15">
                    <c:v>Apr 23</c:v>
                  </c:pt>
                  <c:pt idx="16">
                    <c:v>May 23</c:v>
                  </c:pt>
                  <c:pt idx="17">
                    <c:v>Jun 23</c:v>
                  </c:pt>
                  <c:pt idx="18">
                    <c:v>Jul 23</c:v>
                  </c:pt>
                  <c:pt idx="19">
                    <c:v>Aug 23</c:v>
                  </c:pt>
                  <c:pt idx="20">
                    <c:v>Sep 23</c:v>
                  </c:pt>
                  <c:pt idx="21">
                    <c:v>Oct 23</c:v>
                  </c:pt>
                  <c:pt idx="22">
                    <c:v>Nov 23</c:v>
                  </c:pt>
                  <c:pt idx="23">
                    <c:v>Dec 23</c:v>
                  </c:pt>
                  <c:pt idx="24">
                    <c:v>2024</c:v>
                  </c:pt>
                  <c:pt idx="25">
                    <c:v>Feb 24</c:v>
                  </c:pt>
                  <c:pt idx="26">
                    <c:v>Mar 24</c:v>
                  </c:pt>
                  <c:pt idx="27">
                    <c:v>Apr 24</c:v>
                  </c:pt>
                  <c:pt idx="28">
                    <c:v>May 24</c:v>
                  </c:pt>
                  <c:pt idx="29">
                    <c:v>Jun 24</c:v>
                  </c:pt>
                  <c:pt idx="30">
                    <c:v>Jul 24</c:v>
                  </c:pt>
                  <c:pt idx="31">
                    <c:v>Aug 24</c:v>
                  </c:pt>
                  <c:pt idx="32">
                    <c:v>Sep 24</c:v>
                  </c:pt>
                  <c:pt idx="33">
                    <c:v>Oct 24</c:v>
                  </c:pt>
                  <c:pt idx="34">
                    <c:v>Nov 24</c:v>
                  </c:pt>
                  <c:pt idx="35">
                    <c:v>Dec 24</c:v>
                  </c:pt>
                  <c:pt idx="36">
                    <c:v>2025</c:v>
                  </c:pt>
                  <c:pt idx="37">
                    <c:v>Feb 25</c:v>
                  </c:pt>
                  <c:pt idx="38">
                    <c:v>Mar 25</c:v>
                  </c:pt>
                  <c:pt idx="39">
                    <c:v>Apr 25</c:v>
                  </c:pt>
                  <c:pt idx="40">
                    <c:v>May 25</c:v>
                  </c:pt>
                  <c:pt idx="41">
                    <c:v>Jun 25</c:v>
                  </c:pt>
                  <c:pt idx="42">
                    <c:v>Jul 25</c:v>
                  </c:pt>
                  <c:pt idx="43">
                    <c:v>Aug 25</c:v>
                  </c:pt>
                  <c:pt idx="44">
                    <c:v>Sep 25</c:v>
                  </c:pt>
                  <c:pt idx="45">
                    <c:v>Oct 25</c:v>
                  </c:pt>
                  <c:pt idx="46">
                    <c:v>Nov 25</c:v>
                  </c:pt>
                  <c:pt idx="47">
                    <c:v>Dec 25</c:v>
                  </c:pt>
                </c:lvl>
              </c:multiLvlStrCache>
            </c:multiLvlStrRef>
          </c:cat>
          <c:val>
            <c:numRef>
              <c:f>Sheet1!$B$2:$B$49</c:f>
              <c:numCache>
                <c:formatCode>General</c:formatCode>
                <c:ptCount val="48"/>
                <c:pt idx="0">
                  <c:v>12.76</c:v>
                </c:pt>
                <c:pt idx="1">
                  <c:v>13.12</c:v>
                </c:pt>
                <c:pt idx="2">
                  <c:v>13.91</c:v>
                </c:pt>
                <c:pt idx="3">
                  <c:v>14.42</c:v>
                </c:pt>
                <c:pt idx="4">
                  <c:v>15.15</c:v>
                </c:pt>
                <c:pt idx="5">
                  <c:v>14.99</c:v>
                </c:pt>
                <c:pt idx="6">
                  <c:v>14.7</c:v>
                </c:pt>
                <c:pt idx="7">
                  <c:v>14.8</c:v>
                </c:pt>
                <c:pt idx="8">
                  <c:v>15.57</c:v>
                </c:pt>
                <c:pt idx="9">
                  <c:v>15.28</c:v>
                </c:pt>
                <c:pt idx="10">
                  <c:v>15.14</c:v>
                </c:pt>
                <c:pt idx="11">
                  <c:v>17.07</c:v>
                </c:pt>
                <c:pt idx="12">
                  <c:v>18.59</c:v>
                </c:pt>
                <c:pt idx="13">
                  <c:v>18.46</c:v>
                </c:pt>
                <c:pt idx="14">
                  <c:v>19.18</c:v>
                </c:pt>
                <c:pt idx="15">
                  <c:v>19.64</c:v>
                </c:pt>
                <c:pt idx="16">
                  <c:v>20.17</c:v>
                </c:pt>
                <c:pt idx="17">
                  <c:v>20.16</c:v>
                </c:pt>
                <c:pt idx="18">
                  <c:v>20.05</c:v>
                </c:pt>
                <c:pt idx="19">
                  <c:v>20.08</c:v>
                </c:pt>
                <c:pt idx="20">
                  <c:v>20.86</c:v>
                </c:pt>
                <c:pt idx="21">
                  <c:v>20.4</c:v>
                </c:pt>
                <c:pt idx="22">
                  <c:v>20</c:v>
                </c:pt>
                <c:pt idx="23">
                  <c:v>20.03</c:v>
                </c:pt>
                <c:pt idx="24">
                  <c:v>18.5</c:v>
                </c:pt>
                <c:pt idx="25">
                  <c:v>18.43</c:v>
                </c:pt>
                <c:pt idx="26">
                  <c:v>19.17</c:v>
                </c:pt>
                <c:pt idx="27">
                  <c:v>19.47</c:v>
                </c:pt>
                <c:pt idx="28">
                  <c:v>20.16</c:v>
                </c:pt>
                <c:pt idx="29">
                  <c:v>19.97</c:v>
                </c:pt>
                <c:pt idx="30">
                  <c:v>20.17</c:v>
                </c:pt>
                <c:pt idx="31">
                  <c:v>20.38</c:v>
                </c:pt>
                <c:pt idx="32">
                  <c:v>20.67</c:v>
                </c:pt>
                <c:pt idx="33">
                  <c:v>20.37</c:v>
                </c:pt>
                <c:pt idx="34">
                  <c:v>19.75</c:v>
                </c:pt>
                <c:pt idx="35">
                  <c:v>20.41</c:v>
                </c:pt>
                <c:pt idx="36">
                  <c:v>17.96</c:v>
                </c:pt>
                <c:pt idx="37">
                  <c:v>18.04</c:v>
                </c:pt>
                <c:pt idx="38">
                  <c:v>19.17</c:v>
                </c:pt>
                <c:pt idx="39">
                  <c:v>19.32</c:v>
                </c:pt>
                <c:pt idx="40">
                  <c:v>20.39</c:v>
                </c:pt>
                <c:pt idx="41">
                  <c:v>20.77</c:v>
                </c:pt>
                <c:pt idx="42">
                  <c:v>20.42</c:v>
                </c:pt>
                <c:pt idx="43">
                  <c:v>20.24</c:v>
                </c:pt>
                <c:pt idx="44">
                  <c:v>20.93</c:v>
                </c:pt>
                <c:pt idx="45">
                  <c:v>20.29</c:v>
                </c:pt>
                <c:pt idx="46">
                  <c:v>19.56</c:v>
                </c:pt>
                <c:pt idx="47">
                  <c:v>22.52</c:v>
                </c:pt>
              </c:numCache>
            </c:numRef>
          </c:val>
          <c:smooth val="0"/>
        </c:ser>
        <c:dLbls>
          <c:numFmt formatCode="#,##0" sourceLinked="0"/>
          <c:txPr>
            <a:bodyPr/>
            <a:lstStyle/>
            <a:p>
              <a:pPr>
                <a:defRPr b="0" i="0" strike="noStrike" sz="1100" u="none">
                  <a:solidFill>
                    <a:srgbClr val="2B2D31"/>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1100" b="0" i="0" u="none" strike="noStrike">
                <a:solidFill>
                  <a:srgbClr val="595959"/>
                </a:solidFill>
                <a:latin typeface="+mn-lt"/>
              </a:defRPr>
            </a:pPr>
            <a:endParaRPr lang="en-US"/>
          </a:p>
        </c:txPr>
        <c:crossAx val="2094734552"/>
        <c:crosses val="autoZero"/>
        <c:auto val="1"/>
        <c:lblAlgn val="ctr"/>
        <c:noMultiLvlLbl val="1"/>
        <c:tickLblSkip val="12"/>
      </c:catAx>
      <c:valAx>
        <c:axId val="2094734552"/>
        <c:scaling>
          <c:orientation val="minMax"/>
          <c:max val="24"/>
          <c:min val="10"/>
        </c:scaling>
        <c:delete val="0"/>
        <c:axPos val="l"/>
        <c:majorGridlines>
          <c:spPr>
            <a:ln w="9525" cap="flat">
              <a:solidFill>
                <a:srgbClr val="E6E6E6"/>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595959"/>
                </a:solidFill>
                <a:latin typeface="+mn-lt"/>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D31"/>
                </a:solidFill>
                <a:latin typeface="+mn-lt"/>
              </a:defRPr>
            </a:pPr>
            <a:r>
              <a:rPr sz="1300" b="0" i="0" u="none" strike="noStrike">
                <a:solidFill>
                  <a:srgbClr val="2B2D31"/>
                </a:solidFill>
                <a:latin typeface="+mn-lt"/>
              </a:rPr>
              <a:t>Passenger spending per day ($ millions)</a:t>
            </a:r>
          </a:p>
        </c:rich>
      </c:tx>
      <c:layout/>
      <c:overlay val="0"/>
    </c:title>
    <c:autoTitleDeleted val="0"/>
    <c:plotArea>
      <c:layout/>
      <c:lineChart>
        <c:varyColors val="0"/>
        <c:ser>
          <c:idx val="0"/>
          <c:order val="0"/>
          <c:tx>
            <c:strRef>
              <c:f>Sheet1!$B$1</c:f>
              <c:strCache>
                <c:ptCount val="1"/>
                <c:pt idx="0">
                  <c:v>Revenue per day ($M)</c:v>
                </c:pt>
              </c:strCache>
            </c:strRef>
          </c:tx>
          <c:spPr>
            <a:solidFill>
              <a:srgbClr val="3D5A75"/>
            </a:solidFill>
            <a:ln w="28575" cap="flat">
              <a:solidFill>
                <a:srgbClr val="3D5A75"/>
              </a:solidFill>
              <a:prstDash val="solid"/>
              <a:round/>
            </a:ln>
            <a:effectLst/>
          </c:spPr>
          <c:invertIfNegative val="0"/>
          <c:dLbls>
            <c:numFmt formatCode="#,##0" sourceLinked="0"/>
            <c:txPr>
              <a:bodyPr/>
              <a:lstStyle/>
              <a:p>
                <a:pPr>
                  <a:defRPr b="0" i="0" strike="noStrike" sz="1100" u="none">
                    <a:solidFill>
                      <a:srgbClr val="2B2D31"/>
                    </a:solidFill>
                    <a:latin typeface="+mn-lt"/>
                  </a:defRPr>
                </a:pPr>
              </a:p>
            </c:txPr>
            <c:showLegendKey val="0"/>
            <c:showVal val="0"/>
            <c:showCatName val="0"/>
            <c:showSerName val="0"/>
            <c:showPercent val="0"/>
            <c:showBubbleSize val="0"/>
            <c:showLeaderLines val="0"/>
          </c:dLbls>
          <c:marker>
            <c:symbol val="none"/>
            <c:size val="6"/>
            <c:spPr>
              <a:solidFill>
                <a:srgbClr val="3D5A75"/>
              </a:solidFill>
              <a:ln w="9525" cap="flat">
                <a:solidFill>
                  <a:srgbClr val="3D5A75"/>
                </a:solidFill>
                <a:prstDash val="solid"/>
                <a:round/>
              </a:ln>
              <a:effectLst/>
            </c:spPr>
          </c:marker>
          <c:cat>
            <c:multiLvlStrRef>
              <c:f>Sheet1!$A$2:$A$49</c:f>
              <c:multiLvlStrCache>
                <c:ptCount val="48"/>
                <c:lvl>
                  <c:pt idx="0">
                    <c:v>2022</c:v>
                  </c:pt>
                  <c:pt idx="1">
                    <c:v>Feb 22</c:v>
                  </c:pt>
                  <c:pt idx="2">
                    <c:v>Mar 22</c:v>
                  </c:pt>
                  <c:pt idx="3">
                    <c:v>Apr 22</c:v>
                  </c:pt>
                  <c:pt idx="4">
                    <c:v>May 22</c:v>
                  </c:pt>
                  <c:pt idx="5">
                    <c:v>Jun 22</c:v>
                  </c:pt>
                  <c:pt idx="6">
                    <c:v>Jul 22</c:v>
                  </c:pt>
                  <c:pt idx="7">
                    <c:v>Aug 22</c:v>
                  </c:pt>
                  <c:pt idx="8">
                    <c:v>Sep 22</c:v>
                  </c:pt>
                  <c:pt idx="9">
                    <c:v>Oct 22</c:v>
                  </c:pt>
                  <c:pt idx="10">
                    <c:v>Nov 22</c:v>
                  </c:pt>
                  <c:pt idx="11">
                    <c:v>Dec 22</c:v>
                  </c:pt>
                  <c:pt idx="12">
                    <c:v>2023</c:v>
                  </c:pt>
                  <c:pt idx="13">
                    <c:v>Feb 23</c:v>
                  </c:pt>
                  <c:pt idx="14">
                    <c:v>Mar 23</c:v>
                  </c:pt>
                  <c:pt idx="15">
                    <c:v>Apr 23</c:v>
                  </c:pt>
                  <c:pt idx="16">
                    <c:v>May 23</c:v>
                  </c:pt>
                  <c:pt idx="17">
                    <c:v>Jun 23</c:v>
                  </c:pt>
                  <c:pt idx="18">
                    <c:v>Jul 23</c:v>
                  </c:pt>
                  <c:pt idx="19">
                    <c:v>Aug 23</c:v>
                  </c:pt>
                  <c:pt idx="20">
                    <c:v>Sep 23</c:v>
                  </c:pt>
                  <c:pt idx="21">
                    <c:v>Oct 23</c:v>
                  </c:pt>
                  <c:pt idx="22">
                    <c:v>Nov 23</c:v>
                  </c:pt>
                  <c:pt idx="23">
                    <c:v>Dec 23</c:v>
                  </c:pt>
                  <c:pt idx="24">
                    <c:v>2024</c:v>
                  </c:pt>
                  <c:pt idx="25">
                    <c:v>Feb 24</c:v>
                  </c:pt>
                  <c:pt idx="26">
                    <c:v>Mar 24</c:v>
                  </c:pt>
                  <c:pt idx="27">
                    <c:v>Apr 24</c:v>
                  </c:pt>
                  <c:pt idx="28">
                    <c:v>May 24</c:v>
                  </c:pt>
                  <c:pt idx="29">
                    <c:v>Jun 24</c:v>
                  </c:pt>
                  <c:pt idx="30">
                    <c:v>Jul 24</c:v>
                  </c:pt>
                  <c:pt idx="31">
                    <c:v>Aug 24</c:v>
                  </c:pt>
                  <c:pt idx="32">
                    <c:v>Sep 24</c:v>
                  </c:pt>
                  <c:pt idx="33">
                    <c:v>Oct 24</c:v>
                  </c:pt>
                  <c:pt idx="34">
                    <c:v>Nov 24</c:v>
                  </c:pt>
                  <c:pt idx="35">
                    <c:v>Dec 24</c:v>
                  </c:pt>
                  <c:pt idx="36">
                    <c:v>2025</c:v>
                  </c:pt>
                  <c:pt idx="37">
                    <c:v>Feb 25</c:v>
                  </c:pt>
                  <c:pt idx="38">
                    <c:v>Mar 25</c:v>
                  </c:pt>
                  <c:pt idx="39">
                    <c:v>Apr 25</c:v>
                  </c:pt>
                  <c:pt idx="40">
                    <c:v>May 25</c:v>
                  </c:pt>
                  <c:pt idx="41">
                    <c:v>Jun 25</c:v>
                  </c:pt>
                  <c:pt idx="42">
                    <c:v>Jul 25</c:v>
                  </c:pt>
                  <c:pt idx="43">
                    <c:v>Aug 25</c:v>
                  </c:pt>
                  <c:pt idx="44">
                    <c:v>Sep 25</c:v>
                  </c:pt>
                  <c:pt idx="45">
                    <c:v>Oct 25</c:v>
                  </c:pt>
                  <c:pt idx="46">
                    <c:v>Nov 25</c:v>
                  </c:pt>
                  <c:pt idx="47">
                    <c:v>Dec 25</c:v>
                  </c:pt>
                </c:lvl>
              </c:multiLvlStrCache>
            </c:multiLvlStrRef>
          </c:cat>
          <c:val>
            <c:numRef>
              <c:f>Sheet1!$B$2:$B$49</c:f>
              <c:numCache>
                <c:formatCode>General</c:formatCode>
                <c:ptCount val="48"/>
                <c:pt idx="0">
                  <c:v>1.46</c:v>
                </c:pt>
                <c:pt idx="1">
                  <c:v>2</c:v>
                </c:pt>
                <c:pt idx="2">
                  <c:v>2.32</c:v>
                </c:pt>
                <c:pt idx="3">
                  <c:v>2.45</c:v>
                </c:pt>
                <c:pt idx="4">
                  <c:v>2.46</c:v>
                </c:pt>
                <c:pt idx="5">
                  <c:v>2.5</c:v>
                </c:pt>
                <c:pt idx="6">
                  <c:v>2.11</c:v>
                </c:pt>
                <c:pt idx="7">
                  <c:v>2.11</c:v>
                </c:pt>
                <c:pt idx="8">
                  <c:v>2.38</c:v>
                </c:pt>
                <c:pt idx="9">
                  <c:v>2.53</c:v>
                </c:pt>
                <c:pt idx="10">
                  <c:v>2.3</c:v>
                </c:pt>
                <c:pt idx="11">
                  <c:v>2.6</c:v>
                </c:pt>
                <c:pt idx="12">
                  <c:v>2.6</c:v>
                </c:pt>
                <c:pt idx="13">
                  <c:v>2.73</c:v>
                </c:pt>
                <c:pt idx="14">
                  <c:v>2.98</c:v>
                </c:pt>
                <c:pt idx="15">
                  <c:v>3.03</c:v>
                </c:pt>
                <c:pt idx="16">
                  <c:v>3.21</c:v>
                </c:pt>
                <c:pt idx="17">
                  <c:v>3.12</c:v>
                </c:pt>
                <c:pt idx="18">
                  <c:v>2.62</c:v>
                </c:pt>
                <c:pt idx="19">
                  <c:v>2.54</c:v>
                </c:pt>
                <c:pt idx="20">
                  <c:v>3.07</c:v>
                </c:pt>
                <c:pt idx="21">
                  <c:v>3.19</c:v>
                </c:pt>
                <c:pt idx="22">
                  <c:v>3.09</c:v>
                </c:pt>
                <c:pt idx="23">
                  <c:v>3.03</c:v>
                </c:pt>
                <c:pt idx="24">
                  <c:v>2.5</c:v>
                </c:pt>
                <c:pt idx="25">
                  <c:v>2.7</c:v>
                </c:pt>
                <c:pt idx="26">
                  <c:v>3.06</c:v>
                </c:pt>
                <c:pt idx="27">
                  <c:v>3.17</c:v>
                </c:pt>
                <c:pt idx="28">
                  <c:v>3.35</c:v>
                </c:pt>
                <c:pt idx="29">
                  <c:v>3.25</c:v>
                </c:pt>
                <c:pt idx="30">
                  <c:v>2.76</c:v>
                </c:pt>
                <c:pt idx="31">
                  <c:v>2.68</c:v>
                </c:pt>
                <c:pt idx="32">
                  <c:v>3.4</c:v>
                </c:pt>
                <c:pt idx="33">
                  <c:v>3.46</c:v>
                </c:pt>
                <c:pt idx="34">
                  <c:v>3.31</c:v>
                </c:pt>
                <c:pt idx="35">
                  <c:v>3.31</c:v>
                </c:pt>
                <c:pt idx="36">
                  <c:v>2.79</c:v>
                </c:pt>
                <c:pt idx="37">
                  <c:v>3.12</c:v>
                </c:pt>
                <c:pt idx="38">
                  <c:v>3.43</c:v>
                </c:pt>
                <c:pt idx="39">
                  <c:v>3.44</c:v>
                </c:pt>
                <c:pt idx="40">
                  <c:v>3.84</c:v>
                </c:pt>
                <c:pt idx="41">
                  <c:v>3.78</c:v>
                </c:pt>
                <c:pt idx="42">
                  <c:v>3.25</c:v>
                </c:pt>
                <c:pt idx="43">
                  <c:v>2.95</c:v>
                </c:pt>
                <c:pt idx="44">
                  <c:v>3.78</c:v>
                </c:pt>
                <c:pt idx="45">
                  <c:v>3.72</c:v>
                </c:pt>
                <c:pt idx="46">
                  <c:v>3.44</c:v>
                </c:pt>
                <c:pt idx="47">
                  <c:v>4.08</c:v>
                </c:pt>
              </c:numCache>
            </c:numRef>
          </c:val>
          <c:smooth val="0"/>
        </c:ser>
        <c:dLbls>
          <c:numFmt formatCode="#,##0" sourceLinked="0"/>
          <c:txPr>
            <a:bodyPr/>
            <a:lstStyle/>
            <a:p>
              <a:pPr>
                <a:defRPr b="0" i="0" strike="noStrike" sz="1100" u="none">
                  <a:solidFill>
                    <a:srgbClr val="2B2D31"/>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1100" b="0" i="0" u="none" strike="noStrike">
                <a:solidFill>
                  <a:srgbClr val="595959"/>
                </a:solidFill>
                <a:latin typeface="+mn-lt"/>
              </a:defRPr>
            </a:pPr>
            <a:endParaRPr lang="en-US"/>
          </a:p>
        </c:txPr>
        <c:crossAx val="2094734552"/>
        <c:crosses val="autoZero"/>
        <c:auto val="1"/>
        <c:lblAlgn val="ctr"/>
        <c:noMultiLvlLbl val="1"/>
        <c:tickLblSkip val="12"/>
      </c:catAx>
      <c:valAx>
        <c:axId val="2094734552"/>
        <c:scaling>
          <c:orientation val="minMax"/>
          <c:max val="4.5"/>
          <c:min val="1"/>
        </c:scaling>
        <c:delete val="0"/>
        <c:axPos val="l"/>
        <c:majorGridlines>
          <c:spPr>
            <a:ln w="9525" cap="flat">
              <a:solidFill>
                <a:srgbClr val="E6E6E6"/>
              </a:solidFill>
              <a:prstDash val="solid"/>
              <a:round/>
            </a:ln>
          </c:spPr>
        </c:majorGridlines>
        <c:numFmt formatCode="$0.0" sourceLinked="0"/>
        <c:majorTickMark val="out"/>
        <c:minorTickMark val="none"/>
        <c:tickLblPos val="nextTo"/>
        <c:spPr>
          <a:ln w="12700" cap="flat">
            <a:noFill/>
            <a:prstDash val="solid"/>
            <a:round/>
          </a:ln>
        </c:spPr>
        <c:txPr>
          <a:bodyPr/>
          <a:lstStyle/>
          <a:p>
            <a:pPr>
              <a:defRPr sz="1100" b="0" i="0" u="none" strike="noStrike">
                <a:solidFill>
                  <a:srgbClr val="595959"/>
                </a:solidFill>
                <a:latin typeface="+mn-lt"/>
              </a:defRPr>
            </a:pPr>
            <a:endParaRPr lang="en-US"/>
          </a:p>
        </c:txPr>
        <c:crossAx val="2094734554"/>
        <c:crosses val="autoZero"/>
        <c:crossBetween val="between"/>
        <c:majorUnit val="0.5"/>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Charging zone</c:v>
                </c:pt>
              </c:strCache>
            </c:strRef>
          </c:tx>
          <c:spPr>
            <a:solidFill>
              <a:srgbClr val="3D5A75"/>
            </a:solidFill>
            <a:effectLst/>
          </c:spPr>
          <c:invertIfNegative val="0"/>
          <c:dLbls>
            <c:numFmt formatCode="0.0" sourceLinked="0"/>
            <c:txPr>
              <a:bodyPr/>
              <a:lstStyle/>
              <a:p>
                <a:pPr>
                  <a:defRPr b="0" i="0" strike="noStrike" sz="900" u="none">
                    <a:solidFill>
                      <a:srgbClr val="2B2D31"/>
                    </a:solidFill>
                    <a:latin typeface="+mn-lt"/>
                  </a:defRPr>
                </a:pPr>
              </a:p>
            </c:txPr>
            <c:showLegendKey val="0"/>
            <c:showVal val="1"/>
            <c:showCatName val="0"/>
            <c:showSerName val="0"/>
            <c:showPercent val="0"/>
            <c:showBubbleSize val="0"/>
            <c:showLeaderLines val="0"/>
          </c:dLbls>
          <c:cat>
            <c:multiLvlStrRef>
              <c:f>Sheet1!$A$2:$A$5</c:f>
              <c:multiLvlStrCache>
                <c:ptCount val="4"/>
                <c:lvl>
                  <c:pt idx="0">
                    <c:v>Pickups</c:v>
                  </c:pt>
                  <c:pt idx="1">
                    <c:v>Speed</c:v>
                  </c:pt>
                  <c:pt idx="2">
                    <c:v>Duration</c:v>
                  </c:pt>
                  <c:pt idx="3">
                    <c:v>Fare</c:v>
                  </c:pt>
                </c:lvl>
              </c:multiLvlStrCache>
            </c:multiLvlStrRef>
          </c:cat>
          <c:val>
            <c:numRef>
              <c:f>Sheet1!$B$2:$B$5</c:f>
              <c:numCache>
                <c:formatCode>General</c:formatCode>
                <c:ptCount val="4"/>
                <c:pt idx="0">
                  <c:v>9.2</c:v>
                </c:pt>
                <c:pt idx="1">
                  <c:v>4.4</c:v>
                </c:pt>
                <c:pt idx="2">
                  <c:v>-2.5</c:v>
                </c:pt>
                <c:pt idx="3">
                  <c:v>0.6</c:v>
                </c:pt>
              </c:numCache>
            </c:numRef>
          </c:val>
        </c:ser>
        <c:ser>
          <c:idx val="1"/>
          <c:order val="1"/>
          <c:tx>
            <c:strRef>
              <c:f>Sheet1!$C$1</c:f>
              <c:strCache>
                <c:ptCount val="1"/>
                <c:pt idx="0">
                  <c:v>Buffer</c:v>
                </c:pt>
              </c:strCache>
            </c:strRef>
          </c:tx>
          <c:spPr>
            <a:solidFill>
              <a:srgbClr val="F5B700"/>
            </a:solidFill>
            <a:effectLst/>
          </c:spPr>
          <c:invertIfNegative val="0"/>
          <c:dLbls>
            <c:numFmt formatCode="0.0" sourceLinked="0"/>
            <c:txPr>
              <a:bodyPr/>
              <a:lstStyle/>
              <a:p>
                <a:pPr>
                  <a:defRPr b="0" i="0" strike="noStrike" sz="900" u="none">
                    <a:solidFill>
                      <a:srgbClr val="2B2D31"/>
                    </a:solidFill>
                    <a:latin typeface="+mn-lt"/>
                  </a:defRPr>
                </a:pPr>
              </a:p>
            </c:txPr>
            <c:showLegendKey val="0"/>
            <c:showVal val="1"/>
            <c:showCatName val="0"/>
            <c:showSerName val="0"/>
            <c:showPercent val="0"/>
            <c:showBubbleSize val="0"/>
            <c:showLeaderLines val="0"/>
          </c:dLbls>
          <c:cat>
            <c:multiLvlStrRef>
              <c:f>Sheet1!$A$2:$A$5</c:f>
              <c:multiLvlStrCache>
                <c:ptCount val="4"/>
                <c:lvl>
                  <c:pt idx="0">
                    <c:v>Pickups</c:v>
                  </c:pt>
                  <c:pt idx="1">
                    <c:v>Speed</c:v>
                  </c:pt>
                  <c:pt idx="2">
                    <c:v>Duration</c:v>
                  </c:pt>
                  <c:pt idx="3">
                    <c:v>Fare</c:v>
                  </c:pt>
                </c:lvl>
              </c:multiLvlStrCache>
            </c:multiLvlStrRef>
          </c:cat>
          <c:val>
            <c:numRef>
              <c:f>Sheet1!$C$2:$C$5</c:f>
              <c:numCache>
                <c:formatCode>General</c:formatCode>
                <c:ptCount val="4"/>
                <c:pt idx="0">
                  <c:v>4.6</c:v>
                </c:pt>
                <c:pt idx="1">
                  <c:v>1.4</c:v>
                </c:pt>
                <c:pt idx="2">
                  <c:v>-0.4</c:v>
                </c:pt>
                <c:pt idx="3">
                  <c:v>1.2</c:v>
                </c:pt>
              </c:numCache>
            </c:numRef>
          </c:val>
        </c:ser>
        <c:ser>
          <c:idx val="2"/>
          <c:order val="2"/>
          <c:tx>
            <c:strRef>
              <c:f>Sheet1!$D$1</c:f>
              <c:strCache>
                <c:ptCount val="1"/>
                <c:pt idx="0">
                  <c:v>Control</c:v>
                </c:pt>
              </c:strCache>
            </c:strRef>
          </c:tx>
          <c:spPr>
            <a:solidFill>
              <a:srgbClr val="8A8F98"/>
            </a:solidFill>
            <a:effectLst/>
          </c:spPr>
          <c:invertIfNegative val="0"/>
          <c:dLbls>
            <c:numFmt formatCode="0.0" sourceLinked="0"/>
            <c:txPr>
              <a:bodyPr/>
              <a:lstStyle/>
              <a:p>
                <a:pPr>
                  <a:defRPr b="0" i="0" strike="noStrike" sz="900" u="none">
                    <a:solidFill>
                      <a:srgbClr val="2B2D31"/>
                    </a:solidFill>
                    <a:latin typeface="+mn-lt"/>
                  </a:defRPr>
                </a:pPr>
              </a:p>
            </c:txPr>
            <c:showLegendKey val="0"/>
            <c:showVal val="1"/>
            <c:showCatName val="0"/>
            <c:showSerName val="0"/>
            <c:showPercent val="0"/>
            <c:showBubbleSize val="0"/>
            <c:showLeaderLines val="0"/>
          </c:dLbls>
          <c:cat>
            <c:multiLvlStrRef>
              <c:f>Sheet1!$A$2:$A$5</c:f>
              <c:multiLvlStrCache>
                <c:ptCount val="4"/>
                <c:lvl>
                  <c:pt idx="0">
                    <c:v>Pickups</c:v>
                  </c:pt>
                  <c:pt idx="1">
                    <c:v>Speed</c:v>
                  </c:pt>
                  <c:pt idx="2">
                    <c:v>Duration</c:v>
                  </c:pt>
                  <c:pt idx="3">
                    <c:v>Fare</c:v>
                  </c:pt>
                </c:lvl>
              </c:multiLvlStrCache>
            </c:multiLvlStrRef>
          </c:cat>
          <c:val>
            <c:numRef>
              <c:f>Sheet1!$D$2:$D$5</c:f>
              <c:numCache>
                <c:formatCode>General</c:formatCode>
                <c:ptCount val="4"/>
                <c:pt idx="0">
                  <c:v>11.1</c:v>
                </c:pt>
                <c:pt idx="1">
                  <c:v>2.1</c:v>
                </c:pt>
                <c:pt idx="2">
                  <c:v>5.6</c:v>
                </c:pt>
                <c:pt idx="3">
                  <c:v>5.9</c:v>
                </c:pt>
              </c:numCache>
            </c:numRef>
          </c:val>
        </c:ser>
        <c:dLbls>
          <c:numFmt formatCode="0.0" sourceLinked="0"/>
          <c:txPr>
            <a:bodyPr/>
            <a:lstStyle/>
            <a:p>
              <a:pPr>
                <a:defRPr b="0" i="0" strike="noStrike" sz="900" u="none">
                  <a:solidFill>
                    <a:srgbClr val="2B2D31"/>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1000" b="0" i="0" u="none" strike="noStrike">
                <a:solidFill>
                  <a:srgbClr val="595959"/>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595959"/>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900">
              <a:solidFill>
                <a:srgbClr val="2B2D3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D31"/>
                </a:solidFill>
                <a:latin typeface="+mn-lt"/>
              </a:defRPr>
            </a:pPr>
            <a:r>
              <a:rPr sz="1300" b="0" i="0" u="none" strike="noStrike">
                <a:solidFill>
                  <a:srgbClr val="2B2D31"/>
                </a:solidFill>
                <a:latin typeface="+mn-lt"/>
              </a:rPr>
              <a:t>Effect on daily trips (%), OLS with Newey–West SEs</a:t>
            </a:r>
          </a:p>
        </c:rich>
      </c:tx>
      <c:layout/>
      <c:overlay val="0"/>
    </c:title>
    <c:autoTitleDeleted val="0"/>
    <c:plotArea>
      <c:layout/>
      <c:barChart>
        <c:barDir val="bar"/>
        <c:grouping val="clustered"/>
        <c:varyColors val="0"/>
        <c:ser>
          <c:idx val="0"/>
          <c:order val="0"/>
          <c:tx>
            <c:strRef>
              <c:f>Sheet1!$B$1</c:f>
              <c:strCache>
                <c:ptCount val="1"/>
                <c:pt idx="0">
                  <c:v>Effect on daily trips (%)</c:v>
                </c:pt>
              </c:strCache>
            </c:strRef>
          </c:tx>
          <c:spPr>
            <a:solidFill>
              <a:srgbClr val="3D5A75"/>
            </a:solidFill>
            <a:effectLst/>
          </c:spPr>
          <c:invertIfNegative val="0"/>
          <c:dLbls>
            <c:numFmt formatCode="0.0" sourceLinked="0"/>
            <c:txPr>
              <a:bodyPr/>
              <a:lstStyle/>
              <a:p>
                <a:pPr>
                  <a:defRPr b="0" i="0" strike="noStrike" sz="1100" u="none">
                    <a:solidFill>
                      <a:srgbClr val="2B2D31"/>
                    </a:solidFill>
                    <a:latin typeface="+mn-lt"/>
                  </a:defRPr>
                </a:pPr>
              </a:p>
            </c:txPr>
            <c:showLegendKey val="0"/>
            <c:showVal val="1"/>
            <c:showCatName val="0"/>
            <c:showSerName val="0"/>
            <c:showPercent val="0"/>
            <c:showBubbleSize val="0"/>
            <c:showLeaderLines val="0"/>
          </c:dLbls>
          <c:cat>
            <c:multiLvlStrRef>
              <c:f>Sheet1!$A$2:$A$5</c:f>
              <c:multiLvlStrCache>
                <c:ptCount val="4"/>
                <c:lvl>
                  <c:pt idx="0">
                    <c:v>Public holiday</c:v>
                  </c:pt>
                  <c:pt idx="1">
                    <c:v>Snowfall, per cm</c:v>
                  </c:pt>
                  <c:pt idx="2">
                    <c:v>Snow on ground, per cm</c:v>
                  </c:pt>
                  <c:pt idx="3">
                    <c:v>Rain, per cm (n.s.)</c:v>
                  </c:pt>
                </c:lvl>
              </c:multiLvlStrCache>
            </c:multiLvlStrRef>
          </c:cat>
          <c:val>
            <c:numRef>
              <c:f>Sheet1!$B$2:$B$5</c:f>
              <c:numCache>
                <c:formatCode>General</c:formatCode>
                <c:ptCount val="4"/>
                <c:pt idx="0">
                  <c:v>-19.1</c:v>
                </c:pt>
                <c:pt idx="1">
                  <c:v>-2.6</c:v>
                </c:pt>
                <c:pt idx="2">
                  <c:v>-0.9</c:v>
                </c:pt>
                <c:pt idx="3">
                  <c:v>0.2</c:v>
                </c:pt>
              </c:numCache>
            </c:numRef>
          </c:val>
        </c:ser>
        <c:dLbls>
          <c:numFmt formatCode="0.0" sourceLinked="0"/>
          <c:txPr>
            <a:bodyPr/>
            <a:lstStyle/>
            <a:p>
              <a:pPr>
                <a:defRPr b="0" i="0" strike="noStrike" sz="1100" u="none">
                  <a:solidFill>
                    <a:srgbClr val="2B2D31"/>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BFBFBF"/>
            </a:solidFill>
            <a:prstDash val="solid"/>
            <a:round/>
          </a:ln>
        </c:spPr>
        <c:txPr>
          <a:bodyPr/>
          <a:lstStyle/>
          <a:p>
            <a:pPr>
              <a:defRPr sz="1100" b="0" i="0" u="none" strike="noStrike">
                <a:solidFill>
                  <a:srgbClr val="595959"/>
                </a:solidFill>
                <a:latin typeface="+mn-lt"/>
              </a:defRPr>
            </a:pPr>
            <a:endParaRPr lang="en-US"/>
          </a:p>
        </c:txPr>
        <c:crossAx val="2094734552"/>
        <c:crosses val="autoZero"/>
        <c:auto val="1"/>
        <c:lblAlgn val="ctr"/>
        <c:noMultiLvlLbl val="1"/>
      </c:catAx>
      <c:valAx>
        <c:axId val="2094734552"/>
        <c:scaling>
          <c:orientation val="minMax"/>
          <c:max val="4"/>
          <c:min val="-22"/>
        </c:scaling>
        <c:delete val="0"/>
        <c:axPos val="b"/>
        <c:majorGridlines>
          <c:spPr>
            <a:ln w="9525" cap="flat">
              <a:solidFill>
                <a:srgbClr val="E6E6E6"/>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100" b="0" i="0" u="none" strike="noStrike">
                <a:solidFill>
                  <a:srgbClr val="595959"/>
                </a:solidFill>
                <a:latin typeface="+mn-lt"/>
              </a:defRPr>
            </a:pPr>
            <a:endParaRPr lang="en-US"/>
          </a:p>
        </c:txPr>
        <c:crossAx val="2094734554"/>
        <c:crosses val="autoZero"/>
        <c:crossBetween val="between"/>
        <c:majorUnit val="4"/>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D31"/>
                </a:solidFill>
                <a:latin typeface="+mn-lt"/>
              </a:defRPr>
            </a:pPr>
            <a:r>
              <a:rPr sz="1300" b="0" i="0" u="none" strike="noStrike">
                <a:solidFill>
                  <a:srgbClr val="2B2D31"/>
                </a:solidFill>
                <a:latin typeface="+mn-lt"/>
              </a:rPr>
              <a:t>Effect on speed in the charging zone (%)</a:t>
            </a:r>
          </a:p>
        </c:rich>
      </c:tx>
      <c:layout/>
      <c:overlay val="0"/>
    </c:title>
    <c:autoTitleDeleted val="0"/>
    <c:plotArea>
      <c:layout/>
      <c:barChart>
        <c:barDir val="bar"/>
        <c:grouping val="clustered"/>
        <c:varyColors val="0"/>
        <c:ser>
          <c:idx val="0"/>
          <c:order val="0"/>
          <c:tx>
            <c:strRef>
              <c:f>Sheet1!$B$1</c:f>
              <c:strCache>
                <c:ptCount val="1"/>
                <c:pt idx="0">
                  <c:v>Speed effect (%)</c:v>
                </c:pt>
              </c:strCache>
            </c:strRef>
          </c:tx>
          <c:spPr>
            <a:solidFill>
              <a:srgbClr val="8A8F98"/>
            </a:solidFill>
            <a:effectLst/>
          </c:spPr>
          <c:invertIfNegative val="0"/>
          <c:dLbls>
            <c:numFmt formatCode="+0.0;-0.0" sourceLinked="0"/>
            <c:txPr>
              <a:bodyPr/>
              <a:lstStyle/>
              <a:p>
                <a:pPr>
                  <a:defRPr b="0" i="0" strike="noStrike" sz="1100" u="none">
                    <a:solidFill>
                      <a:srgbClr val="2B2D31"/>
                    </a:solidFill>
                    <a:latin typeface="+mn-lt"/>
                  </a:defRPr>
                </a:pPr>
              </a:p>
            </c:txPr>
            <c:showLegendKey val="0"/>
            <c:showVal val="1"/>
            <c:showCatName val="0"/>
            <c:showSerName val="0"/>
            <c:showPercent val="0"/>
            <c:showBubbleSize val="0"/>
            <c:showLeaderLines val="0"/>
          </c:dLbls>
          <c:dPt>
            <c:idx val="0"/>
            <c:invertIfNegative val="0"/>
            <c:bubble3D val="0"/>
            <c:spPr>
              <a:solidFill>
                <a:srgbClr val="8A8F98"/>
              </a:solidFill>
              <a:effectLst/>
            </c:spPr>
          </c:dPt>
          <c:dPt>
            <c:idx val="1"/>
            <c:invertIfNegative val="0"/>
            <c:bubble3D val="0"/>
            <c:spPr>
              <a:solidFill>
                <a:srgbClr val="F5B700"/>
              </a:solidFill>
              <a:effectLst/>
            </c:spPr>
          </c:dPt>
          <c:dPt>
            <c:idx val="2"/>
            <c:invertIfNegative val="0"/>
            <c:bubble3D val="0"/>
            <c:spPr>
              <a:solidFill>
                <a:srgbClr val="F5B700"/>
              </a:solidFill>
              <a:effectLst/>
            </c:spPr>
          </c:dPt>
          <c:dPt>
            <c:idx val="3"/>
            <c:invertIfNegative val="0"/>
            <c:bubble3D val="0"/>
            <c:spPr>
              <a:solidFill>
                <a:srgbClr val="F5B700"/>
              </a:solidFill>
              <a:effectLst/>
            </c:spPr>
          </c:dPt>
          <c:dPt>
            <c:idx val="4"/>
            <c:invertIfNegative val="0"/>
            <c:bubble3D val="0"/>
            <c:spPr>
              <a:solidFill>
                <a:srgbClr val="F5B700"/>
              </a:solidFill>
              <a:effectLst/>
            </c:spPr>
          </c:dPt>
          <c:dPt>
            <c:idx val="5"/>
            <c:invertIfNegative val="0"/>
            <c:bubble3D val="0"/>
            <c:spPr>
              <a:solidFill>
                <a:srgbClr val="8A8F98"/>
              </a:solidFill>
              <a:effectLst/>
            </c:spPr>
          </c:dPt>
          <c:cat>
            <c:multiLvlStrRef>
              <c:f>Sheet1!$A$2:$A$7</c:f>
              <c:multiLvlStrCache>
                <c:ptCount val="6"/>
                <c:lvl>
                  <c:pt idx="0">
                    <c:v>DiD, 2022–24 baseline</c:v>
                  </c:pt>
                  <c:pt idx="1">
                    <c:v>DiD, 2023–24 baseline</c:v>
                  </c:pt>
                  <c:pt idx="2">
                    <c:v>DiD, 2024 baseline</c:v>
                  </c:pt>
                  <c:pt idx="3">
                    <c:v>ML forecast, placebo-adjusted</c:v>
                  </c:pt>
                  <c:pt idx="4">
                    <c:v>Spark GBT, trip level</c:v>
                  </c:pt>
                  <c:pt idx="5">
                    <c:v>DiD with group trend</c:v>
                  </c:pt>
                </c:lvl>
              </c:multiLvlStrCache>
            </c:multiLvlStrRef>
          </c:cat>
          <c:val>
            <c:numRef>
              <c:f>Sheet1!$B$2:$B$7</c:f>
              <c:numCache>
                <c:formatCode>General</c:formatCode>
                <c:ptCount val="6"/>
                <c:pt idx="0">
                  <c:v>-1</c:v>
                </c:pt>
                <c:pt idx="1">
                  <c:v>1.1</c:v>
                </c:pt>
                <c:pt idx="2">
                  <c:v>2.4</c:v>
                </c:pt>
                <c:pt idx="3">
                  <c:v>0.9</c:v>
                </c:pt>
                <c:pt idx="4">
                  <c:v>2.4</c:v>
                </c:pt>
                <c:pt idx="5">
                  <c:v>6.9</c:v>
                </c:pt>
              </c:numCache>
            </c:numRef>
          </c:val>
        </c:ser>
        <c:dLbls>
          <c:numFmt formatCode="+0.0;-0.0" sourceLinked="0"/>
          <c:txPr>
            <a:bodyPr/>
            <a:lstStyle/>
            <a:p>
              <a:pPr>
                <a:defRPr b="0" i="0" strike="noStrike" sz="1100" u="none">
                  <a:solidFill>
                    <a:srgbClr val="2B2D31"/>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BFBFBF"/>
            </a:solidFill>
            <a:prstDash val="solid"/>
            <a:round/>
          </a:ln>
        </c:spPr>
        <c:txPr>
          <a:bodyPr/>
          <a:lstStyle/>
          <a:p>
            <a:pPr>
              <a:defRPr sz="1100" b="0" i="0" u="none" strike="noStrike">
                <a:solidFill>
                  <a:srgbClr val="595959"/>
                </a:solidFill>
                <a:latin typeface="+mn-lt"/>
              </a:defRPr>
            </a:pPr>
            <a:endParaRPr lang="en-US"/>
          </a:p>
        </c:txPr>
        <c:crossAx val="2094734552"/>
        <c:crosses val="autoZero"/>
        <c:auto val="1"/>
        <c:lblAlgn val="ctr"/>
        <c:noMultiLvlLbl val="1"/>
      </c:catAx>
      <c:valAx>
        <c:axId val="2094734552"/>
        <c:scaling>
          <c:orientation val="minMax"/>
          <c:max val="8"/>
          <c:min val="-2"/>
        </c:scaling>
        <c:delete val="0"/>
        <c:axPos val="b"/>
        <c:majorGridlines>
          <c:spPr>
            <a:ln w="9525" cap="flat">
              <a:solidFill>
                <a:srgbClr val="E6E6E6"/>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100" b="0" i="0" u="none" strike="noStrike">
                <a:solidFill>
                  <a:srgbClr val="595959"/>
                </a:solidFill>
                <a:latin typeface="+mn-lt"/>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D31"/>
                </a:solidFill>
                <a:latin typeface="+mn-lt"/>
              </a:defRPr>
            </a:pPr>
            <a:r>
              <a:rPr sz="1300" b="0" i="0" u="none" strike="noStrike">
                <a:solidFill>
                  <a:srgbClr val="2B2D31"/>
                </a:solidFill>
                <a:latin typeface="+mn-lt"/>
              </a:rPr>
              <a:t>Speed effect by half-year (%)</a:t>
            </a:r>
          </a:p>
        </c:rich>
      </c:tx>
      <c:layout/>
      <c:overlay val="0"/>
    </c:title>
    <c:autoTitleDeleted val="0"/>
    <c:plotArea>
      <c:layout/>
      <c:barChart>
        <c:barDir val="col"/>
        <c:grouping val="clustered"/>
        <c:varyColors val="0"/>
        <c:ser>
          <c:idx val="0"/>
          <c:order val="0"/>
          <c:tx>
            <c:strRef>
              <c:f>Sheet1!$B$1</c:f>
              <c:strCache>
                <c:ptCount val="1"/>
                <c:pt idx="0">
                  <c:v>Jan–Jun 2025</c:v>
                </c:pt>
              </c:strCache>
            </c:strRef>
          </c:tx>
          <c:spPr>
            <a:solidFill>
              <a:srgbClr val="F5B700"/>
            </a:solidFill>
            <a:effectLst/>
          </c:spPr>
          <c:invertIfNegative val="0"/>
          <c:dLbls>
            <c:numFmt formatCode="+0.0" sourceLinked="0"/>
            <c:txPr>
              <a:bodyPr/>
              <a:lstStyle/>
              <a:p>
                <a:pPr>
                  <a:defRPr b="0" i="0" strike="noStrike" sz="1100" u="none">
                    <a:solidFill>
                      <a:srgbClr val="2B2D31"/>
                    </a:solidFill>
                    <a:latin typeface="+mn-lt"/>
                  </a:defRPr>
                </a:pPr>
              </a:p>
            </c:txPr>
            <c:showLegendKey val="0"/>
            <c:showVal val="1"/>
            <c:showCatName val="0"/>
            <c:showSerName val="0"/>
            <c:showPercent val="0"/>
            <c:showBubbleSize val="0"/>
            <c:showLeaderLines val="0"/>
          </c:dLbls>
          <c:cat>
            <c:multiLvlStrRef>
              <c:f>Sheet1!$A$2:$A$3</c:f>
              <c:multiLvlStrCache>
                <c:ptCount val="2"/>
                <c:lvl>
                  <c:pt idx="0">
                    <c:v>2024 baseline</c:v>
                  </c:pt>
                  <c:pt idx="1">
                    <c:v>2023–24 baseline</c:v>
                  </c:pt>
                </c:lvl>
              </c:multiLvlStrCache>
            </c:multiLvlStrRef>
          </c:cat>
          <c:val>
            <c:numRef>
              <c:f>Sheet1!$B$2:$B$3</c:f>
              <c:numCache>
                <c:formatCode>General</c:formatCode>
                <c:ptCount val="2"/>
                <c:pt idx="0">
                  <c:v>4.7</c:v>
                </c:pt>
                <c:pt idx="1">
                  <c:v>1.9</c:v>
                </c:pt>
              </c:numCache>
            </c:numRef>
          </c:val>
        </c:ser>
        <c:ser>
          <c:idx val="1"/>
          <c:order val="1"/>
          <c:tx>
            <c:strRef>
              <c:f>Sheet1!$C$1</c:f>
              <c:strCache>
                <c:ptCount val="1"/>
                <c:pt idx="0">
                  <c:v>Jul–Dec 2025</c:v>
                </c:pt>
              </c:strCache>
            </c:strRef>
          </c:tx>
          <c:spPr>
            <a:solidFill>
              <a:srgbClr val="8A8F98"/>
            </a:solidFill>
            <a:effectLst/>
          </c:spPr>
          <c:invertIfNegative val="0"/>
          <c:dLbls>
            <c:numFmt formatCode="+0.0" sourceLinked="0"/>
            <c:txPr>
              <a:bodyPr/>
              <a:lstStyle/>
              <a:p>
                <a:pPr>
                  <a:defRPr b="0" i="0" strike="noStrike" sz="1100" u="none">
                    <a:solidFill>
                      <a:srgbClr val="2B2D31"/>
                    </a:solidFill>
                    <a:latin typeface="+mn-lt"/>
                  </a:defRPr>
                </a:pPr>
              </a:p>
            </c:txPr>
            <c:showLegendKey val="0"/>
            <c:showVal val="1"/>
            <c:showCatName val="0"/>
            <c:showSerName val="0"/>
            <c:showPercent val="0"/>
            <c:showBubbleSize val="0"/>
            <c:showLeaderLines val="0"/>
          </c:dLbls>
          <c:cat>
            <c:multiLvlStrRef>
              <c:f>Sheet1!$A$2:$A$3</c:f>
              <c:multiLvlStrCache>
                <c:ptCount val="2"/>
                <c:lvl>
                  <c:pt idx="0">
                    <c:v>2024 baseline</c:v>
                  </c:pt>
                  <c:pt idx="1">
                    <c:v>2023–24 baseline</c:v>
                  </c:pt>
                </c:lvl>
              </c:multiLvlStrCache>
            </c:multiLvlStrRef>
          </c:cat>
          <c:val>
            <c:numRef>
              <c:f>Sheet1!$C$2:$C$3</c:f>
              <c:numCache>
                <c:formatCode>General</c:formatCode>
                <c:ptCount val="2"/>
                <c:pt idx="0">
                  <c:v>0.3</c:v>
                </c:pt>
                <c:pt idx="1">
                  <c:v>0.3</c:v>
                </c:pt>
              </c:numCache>
            </c:numRef>
          </c:val>
        </c:ser>
        <c:dLbls>
          <c:numFmt formatCode="+0.0" sourceLinked="0"/>
          <c:txPr>
            <a:bodyPr/>
            <a:lstStyle/>
            <a:p>
              <a:pPr>
                <a:defRPr b="0" i="0" strike="noStrike" sz="1100" u="none">
                  <a:solidFill>
                    <a:srgbClr val="2B2D31"/>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1100" b="0" i="0" u="none" strike="noStrike">
                <a:solidFill>
                  <a:srgbClr val="595959"/>
                </a:solidFill>
                <a:latin typeface="+mn-lt"/>
              </a:defRPr>
            </a:pPr>
            <a:endParaRPr lang="en-US"/>
          </a:p>
        </c:txPr>
        <c:crossAx val="2094734552"/>
        <c:crosses val="autoZero"/>
        <c:auto val="1"/>
        <c:lblAlgn val="ctr"/>
        <c:noMultiLvlLbl val="1"/>
      </c:catAx>
      <c:valAx>
        <c:axId val="2094734552"/>
        <c:scaling>
          <c:orientation val="minMax"/>
          <c:max val="6"/>
          <c:min val="0"/>
        </c:scaling>
        <c:delete val="0"/>
        <c:axPos val="l"/>
        <c:majorGridlines>
          <c:spPr>
            <a:ln w="9525" cap="flat">
              <a:solidFill>
                <a:srgbClr val="E6E6E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95959"/>
                </a:solidFill>
                <a:latin typeface="+mn-lt"/>
              </a:defRPr>
            </a:pPr>
            <a:endParaRPr lang="en-US"/>
          </a:p>
        </c:txPr>
        <c:crossAx val="2094734554"/>
        <c:crosses val="autoZero"/>
        <c:crossBetween val="between"/>
        <c:majorUnit val="1"/>
      </c:valAx>
      <c:spPr>
        <a:noFill/>
        <a:ln>
          <a:noFill/>
        </a:ln>
        <a:effectLst/>
      </c:spPr>
    </c:plotArea>
    <c:legend>
      <c:legendPos val="t"/>
      <c:overlay val="0"/>
      <c:txPr>
        <a:bodyPr/>
        <a:lstStyle/>
        <a:p>
          <a:pPr>
            <a:defRPr sz="1100">
              <a:solidFill>
                <a:srgbClr val="2B2D3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D31"/>
                </a:solidFill>
                <a:latin typeface="+mn-lt"/>
              </a:defRPr>
            </a:pPr>
            <a:r>
              <a:rPr sz="1300" b="0" i="0" u="none" strike="noStrike">
                <a:solidFill>
                  <a:srgbClr val="2B2D31"/>
                </a:solidFill>
                <a:latin typeface="+mn-lt"/>
              </a:rPr>
              <a:t>Effect on pickups (%), relative to north Manhattan</a:t>
            </a:r>
          </a:p>
        </c:rich>
      </c:tx>
      <c:layout/>
      <c:overlay val="0"/>
    </c:title>
    <c:autoTitleDeleted val="0"/>
    <c:plotArea>
      <c:layout/>
      <c:barChart>
        <c:barDir val="col"/>
        <c:grouping val="clustered"/>
        <c:varyColors val="0"/>
        <c:ser>
          <c:idx val="0"/>
          <c:order val="0"/>
          <c:tx>
            <c:strRef>
              <c:f>Sheet1!$B$1</c:f>
              <c:strCache>
                <c:ptCount val="1"/>
                <c:pt idx="0">
                  <c:v>2024 baseline</c:v>
                </c:pt>
              </c:strCache>
            </c:strRef>
          </c:tx>
          <c:spPr>
            <a:solidFill>
              <a:srgbClr val="F5B700"/>
            </a:solidFill>
            <a:effectLst/>
          </c:spPr>
          <c:invertIfNegative val="0"/>
          <c:dLbls>
            <c:numFmt formatCode="0.0" sourceLinked="0"/>
            <c:txPr>
              <a:bodyPr/>
              <a:lstStyle/>
              <a:p>
                <a:pPr>
                  <a:defRPr b="0" i="0" strike="noStrike" sz="1100" u="none">
                    <a:solidFill>
                      <a:srgbClr val="2B2D31"/>
                    </a:solidFill>
                    <a:latin typeface="+mn-lt"/>
                  </a:defRPr>
                </a:pPr>
              </a:p>
            </c:txPr>
            <c:showLegendKey val="0"/>
            <c:showVal val="1"/>
            <c:showCatName val="0"/>
            <c:showSerName val="0"/>
            <c:showPercent val="0"/>
            <c:showBubbleSize val="0"/>
            <c:showLeaderLines val="0"/>
          </c:dLbls>
          <c:cat>
            <c:multiLvlStrRef>
              <c:f>Sheet1!$A$2:$A$3</c:f>
              <c:multiLvlStrCache>
                <c:ptCount val="2"/>
                <c:lvl>
                  <c:pt idx="0">
                    <c:v>Charging zone</c:v>
                  </c:pt>
                  <c:pt idx="1">
                    <c:v>Buffer (59th–60th St)</c:v>
                  </c:pt>
                </c:lvl>
              </c:multiLvlStrCache>
            </c:multiLvlStrRef>
          </c:cat>
          <c:val>
            <c:numRef>
              <c:f>Sheet1!$B$2:$B$3</c:f>
              <c:numCache>
                <c:formatCode>General</c:formatCode>
                <c:ptCount val="2"/>
                <c:pt idx="0">
                  <c:v>-2.3</c:v>
                </c:pt>
                <c:pt idx="1">
                  <c:v>-6.2</c:v>
                </c:pt>
              </c:numCache>
            </c:numRef>
          </c:val>
        </c:ser>
        <c:ser>
          <c:idx val="1"/>
          <c:order val="1"/>
          <c:tx>
            <c:strRef>
              <c:f>Sheet1!$C$1</c:f>
              <c:strCache>
                <c:ptCount val="1"/>
                <c:pt idx="0">
                  <c:v>2023–24 baseline</c:v>
                </c:pt>
              </c:strCache>
            </c:strRef>
          </c:tx>
          <c:spPr>
            <a:solidFill>
              <a:srgbClr val="B88600"/>
            </a:solidFill>
            <a:effectLst/>
          </c:spPr>
          <c:invertIfNegative val="0"/>
          <c:dLbls>
            <c:numFmt formatCode="0.0" sourceLinked="0"/>
            <c:txPr>
              <a:bodyPr/>
              <a:lstStyle/>
              <a:p>
                <a:pPr>
                  <a:defRPr b="0" i="0" strike="noStrike" sz="1100" u="none">
                    <a:solidFill>
                      <a:srgbClr val="2B2D31"/>
                    </a:solidFill>
                    <a:latin typeface="+mn-lt"/>
                  </a:defRPr>
                </a:pPr>
              </a:p>
            </c:txPr>
            <c:showLegendKey val="0"/>
            <c:showVal val="1"/>
            <c:showCatName val="0"/>
            <c:showSerName val="0"/>
            <c:showPercent val="0"/>
            <c:showBubbleSize val="0"/>
            <c:showLeaderLines val="0"/>
          </c:dLbls>
          <c:cat>
            <c:multiLvlStrRef>
              <c:f>Sheet1!$A$2:$A$3</c:f>
              <c:multiLvlStrCache>
                <c:ptCount val="2"/>
                <c:lvl>
                  <c:pt idx="0">
                    <c:v>Charging zone</c:v>
                  </c:pt>
                  <c:pt idx="1">
                    <c:v>Buffer (59th–60th St)</c:v>
                  </c:pt>
                </c:lvl>
              </c:multiLvlStrCache>
            </c:multiLvlStrRef>
          </c:cat>
          <c:val>
            <c:numRef>
              <c:f>Sheet1!$C$2:$C$3</c:f>
              <c:numCache>
                <c:formatCode>General</c:formatCode>
                <c:ptCount val="2"/>
                <c:pt idx="0">
                  <c:v>-3.7</c:v>
                </c:pt>
                <c:pt idx="1">
                  <c:v>-8.3</c:v>
                </c:pt>
              </c:numCache>
            </c:numRef>
          </c:val>
        </c:ser>
        <c:ser>
          <c:idx val="2"/>
          <c:order val="2"/>
          <c:tx>
            <c:strRef>
              <c:f>Sheet1!$D$1</c:f>
              <c:strCache>
                <c:ptCount val="1"/>
                <c:pt idx="0">
                  <c:v>ML forecast, placebo-adjusted</c:v>
                </c:pt>
              </c:strCache>
            </c:strRef>
          </c:tx>
          <c:spPr>
            <a:solidFill>
              <a:srgbClr val="8A8F98"/>
            </a:solidFill>
            <a:effectLst/>
          </c:spPr>
          <c:invertIfNegative val="0"/>
          <c:dLbls>
            <c:numFmt formatCode="0.0" sourceLinked="0"/>
            <c:txPr>
              <a:bodyPr/>
              <a:lstStyle/>
              <a:p>
                <a:pPr>
                  <a:defRPr b="0" i="0" strike="noStrike" sz="1100" u="none">
                    <a:solidFill>
                      <a:srgbClr val="2B2D31"/>
                    </a:solidFill>
                    <a:latin typeface="+mn-lt"/>
                  </a:defRPr>
                </a:pPr>
              </a:p>
            </c:txPr>
            <c:showLegendKey val="0"/>
            <c:showVal val="1"/>
            <c:showCatName val="0"/>
            <c:showSerName val="0"/>
            <c:showPercent val="0"/>
            <c:showBubbleSize val="0"/>
            <c:showLeaderLines val="0"/>
          </c:dLbls>
          <c:cat>
            <c:multiLvlStrRef>
              <c:f>Sheet1!$A$2:$A$3</c:f>
              <c:multiLvlStrCache>
                <c:ptCount val="2"/>
                <c:lvl>
                  <c:pt idx="0">
                    <c:v>Charging zone</c:v>
                  </c:pt>
                  <c:pt idx="1">
                    <c:v>Buffer (59th–60th St)</c:v>
                  </c:pt>
                </c:lvl>
              </c:multiLvlStrCache>
            </c:multiLvlStrRef>
          </c:cat>
          <c:val>
            <c:numRef>
              <c:f>Sheet1!$D$2:$D$3</c:f>
              <c:numCache>
                <c:formatCode>General</c:formatCode>
                <c:ptCount val="2"/>
                <c:pt idx="0">
                  <c:v>-4.8</c:v>
                </c:pt>
                <c:pt idx="1">
                  <c:v/>
                </c:pt>
              </c:numCache>
            </c:numRef>
          </c:val>
        </c:ser>
        <c:dLbls>
          <c:numFmt formatCode="0.0" sourceLinked="0"/>
          <c:txPr>
            <a:bodyPr/>
            <a:lstStyle/>
            <a:p>
              <a:pPr>
                <a:defRPr b="0" i="0" strike="noStrike" sz="1100" u="none">
                  <a:solidFill>
                    <a:srgbClr val="2B2D31"/>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1100" b="0" i="0" u="none" strike="noStrike">
                <a:solidFill>
                  <a:srgbClr val="595959"/>
                </a:solidFill>
                <a:latin typeface="+mn-lt"/>
              </a:defRPr>
            </a:pPr>
            <a:endParaRPr lang="en-US"/>
          </a:p>
        </c:txPr>
        <c:crossAx val="2094734552"/>
        <c:crosses val="autoZero"/>
        <c:auto val="1"/>
        <c:lblAlgn val="ctr"/>
        <c:noMultiLvlLbl val="1"/>
      </c:catAx>
      <c:valAx>
        <c:axId val="2094734552"/>
        <c:scaling>
          <c:orientation val="minMax"/>
          <c:max val="0"/>
          <c:min val="-10"/>
        </c:scaling>
        <c:delete val="0"/>
        <c:axPos val="l"/>
        <c:majorGridlines>
          <c:spPr>
            <a:ln w="9525" cap="flat">
              <a:solidFill>
                <a:srgbClr val="E6E6E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95959"/>
                </a:solidFill>
                <a:latin typeface="+mn-lt"/>
              </a:defRPr>
            </a:pPr>
            <a:endParaRPr lang="en-US"/>
          </a:p>
        </c:txPr>
        <c:crossAx val="2094734554"/>
        <c:crosses val="autoZero"/>
        <c:crossBetween val="between"/>
        <c:majorUnit val="2"/>
      </c:valAx>
      <c:spPr>
        <a:noFill/>
        <a:ln>
          <a:noFill/>
        </a:ln>
        <a:effectLst/>
      </c:spPr>
    </c:plotArea>
    <c:legend>
      <c:legendPos val="t"/>
      <c:overlay val="0"/>
      <c:txPr>
        <a:bodyPr/>
        <a:lstStyle/>
        <a:p>
          <a:pPr>
            <a:defRPr sz="1100">
              <a:solidFill>
                <a:srgbClr val="2B2D3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D31"/>
                </a:solidFill>
                <a:latin typeface="+mn-lt"/>
              </a:defRPr>
            </a:pPr>
            <a:r>
              <a:rPr sz="1300" b="0" i="0" u="none" strike="noStrike">
                <a:solidFill>
                  <a:srgbClr val="2B2D31"/>
                </a:solidFill>
                <a:latin typeface="+mn-lt"/>
              </a:rPr>
              <a:t>Speed effect by toll period, separate pre-trends (%)</a:t>
            </a:r>
          </a:p>
        </c:rich>
      </c:tx>
      <c:layout/>
      <c:overlay val="0"/>
    </c:title>
    <c:autoTitleDeleted val="0"/>
    <c:plotArea>
      <c:layout/>
      <c:barChart>
        <c:barDir val="col"/>
        <c:grouping val="clustered"/>
        <c:varyColors val="0"/>
        <c:ser>
          <c:idx val="0"/>
          <c:order val="0"/>
          <c:tx>
            <c:strRef>
              <c:f>Sheet1!$B$1</c:f>
              <c:strCache>
                <c:ptCount val="1"/>
                <c:pt idx="0">
                  <c:v>Overnight ($2.25)</c:v>
                </c:pt>
              </c:strCache>
            </c:strRef>
          </c:tx>
          <c:spPr>
            <a:solidFill>
              <a:srgbClr val="8A8F98"/>
            </a:solidFill>
            <a:effectLst/>
          </c:spPr>
          <c:invertIfNegative val="0"/>
          <c:dLbls>
            <c:numFmt formatCode="+0.0" sourceLinked="0"/>
            <c:txPr>
              <a:bodyPr/>
              <a:lstStyle/>
              <a:p>
                <a:pPr>
                  <a:defRPr b="0" i="0" strike="noStrike" sz="1100" u="none">
                    <a:solidFill>
                      <a:srgbClr val="2B2D31"/>
                    </a:solidFill>
                    <a:latin typeface="+mn-lt"/>
                  </a:defRPr>
                </a:pPr>
              </a:p>
            </c:txPr>
            <c:showLegendKey val="0"/>
            <c:showVal val="1"/>
            <c:showCatName val="0"/>
            <c:showSerName val="0"/>
            <c:showPercent val="0"/>
            <c:showBubbleSize val="0"/>
            <c:showLeaderLines val="0"/>
          </c:dLbls>
          <c:cat>
            <c:multiLvlStrRef>
              <c:f>Sheet1!$A$2:$A$3</c:f>
              <c:multiLvlStrCache>
                <c:ptCount val="2"/>
                <c:lvl>
                  <c:pt idx="0">
                    <c:v>2022–24 baseline</c:v>
                  </c:pt>
                  <c:pt idx="1">
                    <c:v>2023–24 baseline</c:v>
                  </c:pt>
                </c:lvl>
              </c:multiLvlStrCache>
            </c:multiLvlStrRef>
          </c:cat>
          <c:val>
            <c:numRef>
              <c:f>Sheet1!$B$2:$B$3</c:f>
              <c:numCache>
                <c:formatCode>General</c:formatCode>
                <c:ptCount val="2"/>
                <c:pt idx="0">
                  <c:v>3.5</c:v>
                </c:pt>
                <c:pt idx="1">
                  <c:v>2.1</c:v>
                </c:pt>
              </c:numCache>
            </c:numRef>
          </c:val>
        </c:ser>
        <c:ser>
          <c:idx val="1"/>
          <c:order val="1"/>
          <c:tx>
            <c:strRef>
              <c:f>Sheet1!$C$1</c:f>
              <c:strCache>
                <c:ptCount val="1"/>
                <c:pt idx="0">
                  <c:v>Peak ($9)</c:v>
                </c:pt>
              </c:strCache>
            </c:strRef>
          </c:tx>
          <c:spPr>
            <a:solidFill>
              <a:srgbClr val="F5B700"/>
            </a:solidFill>
            <a:effectLst/>
          </c:spPr>
          <c:invertIfNegative val="0"/>
          <c:dLbls>
            <c:numFmt formatCode="+0.0" sourceLinked="0"/>
            <c:txPr>
              <a:bodyPr/>
              <a:lstStyle/>
              <a:p>
                <a:pPr>
                  <a:defRPr b="0" i="0" strike="noStrike" sz="1100" u="none">
                    <a:solidFill>
                      <a:srgbClr val="2B2D31"/>
                    </a:solidFill>
                    <a:latin typeface="+mn-lt"/>
                  </a:defRPr>
                </a:pPr>
              </a:p>
            </c:txPr>
            <c:showLegendKey val="0"/>
            <c:showVal val="1"/>
            <c:showCatName val="0"/>
            <c:showSerName val="0"/>
            <c:showPercent val="0"/>
            <c:showBubbleSize val="0"/>
            <c:showLeaderLines val="0"/>
          </c:dLbls>
          <c:cat>
            <c:multiLvlStrRef>
              <c:f>Sheet1!$A$2:$A$3</c:f>
              <c:multiLvlStrCache>
                <c:ptCount val="2"/>
                <c:lvl>
                  <c:pt idx="0">
                    <c:v>2022–24 baseline</c:v>
                  </c:pt>
                  <c:pt idx="1">
                    <c:v>2023–24 baseline</c:v>
                  </c:pt>
                </c:lvl>
              </c:multiLvlStrCache>
            </c:multiLvlStrRef>
          </c:cat>
          <c:val>
            <c:numRef>
              <c:f>Sheet1!$C$2:$C$3</c:f>
              <c:numCache>
                <c:formatCode>General</c:formatCode>
                <c:ptCount val="2"/>
                <c:pt idx="0">
                  <c:v>7.6</c:v>
                </c:pt>
                <c:pt idx="1">
                  <c:v>6.7</c:v>
                </c:pt>
              </c:numCache>
            </c:numRef>
          </c:val>
        </c:ser>
        <c:dLbls>
          <c:numFmt formatCode="+0.0" sourceLinked="0"/>
          <c:txPr>
            <a:bodyPr/>
            <a:lstStyle/>
            <a:p>
              <a:pPr>
                <a:defRPr b="0" i="0" strike="noStrike" sz="1100" u="none">
                  <a:solidFill>
                    <a:srgbClr val="2B2D31"/>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1100" b="0" i="0" u="none" strike="noStrike">
                <a:solidFill>
                  <a:srgbClr val="595959"/>
                </a:solidFill>
                <a:latin typeface="+mn-lt"/>
              </a:defRPr>
            </a:pPr>
            <a:endParaRPr lang="en-US"/>
          </a:p>
        </c:txPr>
        <c:crossAx val="2094734552"/>
        <c:crosses val="autoZero"/>
        <c:auto val="1"/>
        <c:lblAlgn val="ctr"/>
        <c:noMultiLvlLbl val="1"/>
      </c:catAx>
      <c:valAx>
        <c:axId val="2094734552"/>
        <c:scaling>
          <c:orientation val="minMax"/>
          <c:max val="9"/>
          <c:min val="0"/>
        </c:scaling>
        <c:delete val="0"/>
        <c:axPos val="l"/>
        <c:majorGridlines>
          <c:spPr>
            <a:ln w="9525" cap="flat">
              <a:solidFill>
                <a:srgbClr val="E6E6E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95959"/>
                </a:solidFill>
                <a:latin typeface="+mn-lt"/>
              </a:defRPr>
            </a:pPr>
            <a:endParaRPr lang="en-US"/>
          </a:p>
        </c:txPr>
        <c:crossAx val="2094734554"/>
        <c:crosses val="autoZero"/>
        <c:crossBetween val="between"/>
        <c:majorUnit val="1"/>
      </c:valAx>
      <c:spPr>
        <a:noFill/>
        <a:ln>
          <a:noFill/>
        </a:ln>
        <a:effectLst/>
      </c:spPr>
    </c:plotArea>
    <c:legend>
      <c:legendPos val="t"/>
      <c:overlay val="0"/>
      <c:txPr>
        <a:bodyPr/>
        <a:lstStyle/>
        <a:p>
          <a:pPr>
            <a:defRPr sz="1100">
              <a:solidFill>
                <a:srgbClr val="2B2D3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D31"/>
                </a:solidFill>
                <a:latin typeface="+mn-lt"/>
              </a:defRPr>
            </a:pPr>
            <a:r>
              <a:rPr sz="1300" b="0" i="0" u="none" strike="noStrike">
                <a:solidFill>
                  <a:srgbClr val="2B2D31"/>
                </a:solidFill>
                <a:latin typeface="+mn-lt"/>
              </a:rPr>
              <a:t>Raw change, Oct–Dec 2022 → Jan–Mar 2023 (%)</a:t>
            </a:r>
          </a:p>
        </c:rich>
      </c:tx>
      <c:layout/>
      <c:overlay val="0"/>
    </c:title>
    <c:autoTitleDeleted val="0"/>
    <c:plotArea>
      <c:layout/>
      <c:barChart>
        <c:barDir val="col"/>
        <c:grouping val="clustered"/>
        <c:varyColors val="0"/>
        <c:ser>
          <c:idx val="0"/>
          <c:order val="0"/>
          <c:tx>
            <c:strRef>
              <c:f>Sheet1!$B$1</c:f>
              <c:strCache>
                <c:ptCount val="1"/>
                <c:pt idx="0">
                  <c:v>Mean fare</c:v>
                </c:pt>
              </c:strCache>
            </c:strRef>
          </c:tx>
          <c:spPr>
            <a:solidFill>
              <a:srgbClr val="F5B700"/>
            </a:solidFill>
            <a:effectLst/>
          </c:spPr>
          <c:invertIfNegative val="0"/>
          <c:dLbls>
            <c:numFmt formatCode="+0.0;-0.0" sourceLinked="0"/>
            <c:txPr>
              <a:bodyPr/>
              <a:lstStyle/>
              <a:p>
                <a:pPr>
                  <a:defRPr b="0" i="0" strike="noStrike" sz="1100" u="none">
                    <a:solidFill>
                      <a:srgbClr val="2B2D31"/>
                    </a:solidFill>
                    <a:latin typeface="+mn-lt"/>
                  </a:defRPr>
                </a:pPr>
              </a:p>
            </c:txPr>
            <c:showLegendKey val="0"/>
            <c:showVal val="1"/>
            <c:showCatName val="0"/>
            <c:showSerName val="0"/>
            <c:showPercent val="0"/>
            <c:showBubbleSize val="0"/>
            <c:showLeaderLines val="0"/>
          </c:dLbls>
          <c:cat>
            <c:multiLvlStrRef>
              <c:f>Sheet1!$A$2:$A$5</c:f>
              <c:multiLvlStrCache>
                <c:ptCount val="4"/>
                <c:lvl>
                  <c:pt idx="0">
                    <c:v>JFK flat</c:v>
                  </c:pt>
                  <c:pt idx="1">
                    <c:v>Daytime</c:v>
                  </c:pt>
                  <c:pt idx="2">
                    <c:v>Overnight</c:v>
                  </c:pt>
                  <c:pt idx="3">
                    <c:v>Weekday rush</c:v>
                  </c:pt>
                </c:lvl>
              </c:multiLvlStrCache>
            </c:multiLvlStrRef>
          </c:cat>
          <c:val>
            <c:numRef>
              <c:f>Sheet1!$B$2:$B$5</c:f>
              <c:numCache>
                <c:formatCode>General</c:formatCode>
                <c:ptCount val="4"/>
                <c:pt idx="0">
                  <c:v>34.6</c:v>
                </c:pt>
                <c:pt idx="1">
                  <c:v>23.6</c:v>
                </c:pt>
                <c:pt idx="2">
                  <c:v>28.8</c:v>
                </c:pt>
                <c:pt idx="3">
                  <c:v>23.3</c:v>
                </c:pt>
              </c:numCache>
            </c:numRef>
          </c:val>
        </c:ser>
        <c:ser>
          <c:idx val="1"/>
          <c:order val="1"/>
          <c:tx>
            <c:strRef>
              <c:f>Sheet1!$C$1</c:f>
              <c:strCache>
                <c:ptCount val="1"/>
                <c:pt idx="0">
                  <c:v>Trips per day</c:v>
                </c:pt>
              </c:strCache>
            </c:strRef>
          </c:tx>
          <c:spPr>
            <a:solidFill>
              <a:srgbClr val="2B2D31"/>
            </a:solidFill>
            <a:effectLst/>
          </c:spPr>
          <c:invertIfNegative val="0"/>
          <c:dLbls>
            <c:numFmt formatCode="+0.0;-0.0" sourceLinked="0"/>
            <c:txPr>
              <a:bodyPr/>
              <a:lstStyle/>
              <a:p>
                <a:pPr>
                  <a:defRPr b="0" i="0" strike="noStrike" sz="1100" u="none">
                    <a:solidFill>
                      <a:srgbClr val="2B2D31"/>
                    </a:solidFill>
                    <a:latin typeface="+mn-lt"/>
                  </a:defRPr>
                </a:pPr>
              </a:p>
            </c:txPr>
            <c:showLegendKey val="0"/>
            <c:showVal val="1"/>
            <c:showCatName val="0"/>
            <c:showSerName val="0"/>
            <c:showPercent val="0"/>
            <c:showBubbleSize val="0"/>
            <c:showLeaderLines val="0"/>
          </c:dLbls>
          <c:cat>
            <c:multiLvlStrRef>
              <c:f>Sheet1!$A$2:$A$5</c:f>
              <c:multiLvlStrCache>
                <c:ptCount val="4"/>
                <c:lvl>
                  <c:pt idx="0">
                    <c:v>JFK flat</c:v>
                  </c:pt>
                  <c:pt idx="1">
                    <c:v>Daytime</c:v>
                  </c:pt>
                  <c:pt idx="2">
                    <c:v>Overnight</c:v>
                  </c:pt>
                  <c:pt idx="3">
                    <c:v>Weekday rush</c:v>
                  </c:pt>
                </c:lvl>
              </c:multiLvlStrCache>
            </c:multiLvlStrRef>
          </c:cat>
          <c:val>
            <c:numRef>
              <c:f>Sheet1!$C$2:$C$5</c:f>
              <c:numCache>
                <c:formatCode>General</c:formatCode>
                <c:ptCount val="4"/>
                <c:pt idx="0">
                  <c:v>-23.4</c:v>
                </c:pt>
                <c:pt idx="1">
                  <c:v>-8</c:v>
                </c:pt>
                <c:pt idx="2">
                  <c:v>-10.6</c:v>
                </c:pt>
                <c:pt idx="3">
                  <c:v>0.3</c:v>
                </c:pt>
              </c:numCache>
            </c:numRef>
          </c:val>
        </c:ser>
        <c:dLbls>
          <c:numFmt formatCode="+0.0;-0.0" sourceLinked="0"/>
          <c:txPr>
            <a:bodyPr/>
            <a:lstStyle/>
            <a:p>
              <a:pPr>
                <a:defRPr b="0" i="0" strike="noStrike" sz="1100" u="none">
                  <a:solidFill>
                    <a:srgbClr val="2B2D31"/>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1100" b="0" i="0" u="none" strike="noStrike">
                <a:solidFill>
                  <a:srgbClr val="595959"/>
                </a:solidFill>
                <a:latin typeface="+mn-lt"/>
              </a:defRPr>
            </a:pPr>
            <a:endParaRPr lang="en-US"/>
          </a:p>
        </c:txPr>
        <c:crossAx val="2094734552"/>
        <c:crosses val="autoZero"/>
        <c:auto val="1"/>
        <c:lblAlgn val="ctr"/>
        <c:noMultiLvlLbl val="1"/>
      </c:catAx>
      <c:valAx>
        <c:axId val="2094734552"/>
        <c:scaling>
          <c:orientation val="minMax"/>
          <c:max val="40"/>
          <c:min val="-30"/>
        </c:scaling>
        <c:delete val="0"/>
        <c:axPos val="l"/>
        <c:majorGridlines>
          <c:spPr>
            <a:ln w="9525" cap="flat">
              <a:solidFill>
                <a:srgbClr val="E6E6E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95959"/>
                </a:solidFill>
                <a:latin typeface="+mn-lt"/>
              </a:defRPr>
            </a:pPr>
            <a:endParaRPr lang="en-US"/>
          </a:p>
        </c:txPr>
        <c:crossAx val="2094734554"/>
        <c:crosses val="autoZero"/>
        <c:crossBetween val="between"/>
        <c:majorUnit val="10"/>
      </c:valAx>
      <c:spPr>
        <a:noFill/>
        <a:ln>
          <a:noFill/>
        </a:ln>
        <a:effectLst/>
      </c:spPr>
    </c:plotArea>
    <c:legend>
      <c:legendPos val="t"/>
      <c:overlay val="0"/>
      <c:txPr>
        <a:bodyPr/>
        <a:lstStyle/>
        <a:p>
          <a:pPr>
            <a:defRPr sz="1100">
              <a:solidFill>
                <a:srgbClr val="2B2D3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D31"/>
                </a:solidFill>
                <a:latin typeface="+mn-lt"/>
              </a:defRPr>
            </a:pPr>
            <a:r>
              <a:rPr sz="1300" b="0" i="0" u="none" strike="noStrike">
                <a:solidFill>
                  <a:srgbClr val="2B2D31"/>
                </a:solidFill>
                <a:latin typeface="+mn-lt"/>
              </a:rPr>
              <a:t>Same KPI query over 154.7M trips (seconds)</a:t>
            </a:r>
          </a:p>
        </c:rich>
      </c:tx>
      <c:layout/>
      <c:overlay val="0"/>
    </c:title>
    <c:autoTitleDeleted val="0"/>
    <c:plotArea>
      <c:layout/>
      <c:barChart>
        <c:barDir val="col"/>
        <c:grouping val="clustered"/>
        <c:varyColors val="0"/>
        <c:ser>
          <c:idx val="0"/>
          <c:order val="0"/>
          <c:tx>
            <c:strRef>
              <c:f>Sheet1!$B$1</c:f>
              <c:strCache>
                <c:ptCount val="1"/>
                <c:pt idx="0">
                  <c:v>Seconds</c:v>
                </c:pt>
              </c:strCache>
            </c:strRef>
          </c:tx>
          <c:spPr>
            <a:solidFill>
              <a:srgbClr val="8A8F98"/>
            </a:solidFill>
            <a:effectLst/>
          </c:spPr>
          <c:invertIfNegative val="0"/>
          <c:dLbls>
            <c:numFmt formatCode="0" sourceLinked="0"/>
            <c:txPr>
              <a:bodyPr/>
              <a:lstStyle/>
              <a:p>
                <a:pPr>
                  <a:defRPr b="0" i="0" strike="noStrike" sz="1100" u="none">
                    <a:solidFill>
                      <a:srgbClr val="2B2D31"/>
                    </a:solidFill>
                    <a:latin typeface="+mn-lt"/>
                  </a:defRPr>
                </a:pPr>
              </a:p>
            </c:txPr>
            <c:showLegendKey val="0"/>
            <c:showVal val="1"/>
            <c:showCatName val="0"/>
            <c:showSerName val="0"/>
            <c:showPercent val="0"/>
            <c:showBubbleSize val="0"/>
            <c:showLeaderLines val="0"/>
          </c:dLbls>
          <c:dPt>
            <c:idx val="0"/>
            <c:invertIfNegative val="0"/>
            <c:bubble3D val="0"/>
            <c:spPr>
              <a:solidFill>
                <a:srgbClr val="8A8F98"/>
              </a:solidFill>
              <a:effectLst/>
            </c:spPr>
          </c:dPt>
          <c:dPt>
            <c:idx val="1"/>
            <c:invertIfNegative val="0"/>
            <c:bubble3D val="0"/>
            <c:spPr>
              <a:solidFill>
                <a:srgbClr val="F5B700"/>
              </a:solidFill>
              <a:effectLst/>
            </c:spPr>
          </c:dPt>
          <c:dPt>
            <c:idx val="2"/>
            <c:invertIfNegative val="0"/>
            <c:bubble3D val="0"/>
            <c:spPr>
              <a:solidFill>
                <a:srgbClr val="2B2D31"/>
              </a:solidFill>
              <a:effectLst/>
            </c:spPr>
          </c:dPt>
          <c:cat>
            <c:multiLvlStrRef>
              <c:f>Sheet1!$A$2:$A$4</c:f>
              <c:multiLvlStrCache>
                <c:ptCount val="3"/>
                <c:lvl>
                  <c:pt idx="0">
                    <c:v>DuckDB, cold</c:v>
                  </c:pt>
                  <c:pt idx="1">
                    <c:v>Spark, warm</c:v>
                  </c:pt>
                  <c:pt idx="2">
                    <c:v>DuckDB, warm</c:v>
                  </c:pt>
                </c:lvl>
              </c:multiLvlStrCache>
            </c:multiLvlStrRef>
          </c:cat>
          <c:val>
            <c:numRef>
              <c:f>Sheet1!$B$2:$B$4</c:f>
              <c:numCache>
                <c:formatCode>General</c:formatCode>
                <c:ptCount val="3"/>
                <c:pt idx="0">
                  <c:v>87.2</c:v>
                </c:pt>
                <c:pt idx="1">
                  <c:v>72.1</c:v>
                </c:pt>
                <c:pt idx="2">
                  <c:v>22</c:v>
                </c:pt>
              </c:numCache>
            </c:numRef>
          </c:val>
        </c:ser>
        <c:dLbls>
          <c:numFmt formatCode="0" sourceLinked="0"/>
          <c:txPr>
            <a:bodyPr/>
            <a:lstStyle/>
            <a:p>
              <a:pPr>
                <a:defRPr b="0" i="0" strike="noStrike" sz="1100" u="none">
                  <a:solidFill>
                    <a:srgbClr val="2B2D31"/>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1100" b="0" i="0" u="none" strike="noStrike">
                <a:solidFill>
                  <a:srgbClr val="595959"/>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6E6E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95959"/>
                </a:solidFill>
                <a:latin typeface="+mn-lt"/>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The background is an original illustration of a New York yellow taxi; to use a real photograph instead, right-click it and choose Change Picture (the dark overlay stays on top). Introduce the project: New York’s yellow-taxi records from 2022 to 2025 let us study two price changes, the December 2022 fare increase and the January 2025 congestion charge.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Introduction. Congestion wastes time, fuel and clean air, and roads are usually free at the point of use, so each driver ignores the delay they impose on others. Economists have long argued for charging for road use when it is busiest. Few cities have done it: Singapore in 1975, London in 2003, Stockholm in 2006, and New York in January 2025, the first in the United States. New York also publishes every taxi trip, so 157.9 million yellow-taxi trips can act as a citywide network of speed sensors. This project uses them to study the congestion charge and the earlier 2022 fare increase, and asks what Indian cities can learn.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events. On 19 December 2022 the TLC raised yellow-taxi fares for the first time in a decade: the flag drop from $2.50 to $3.00, the distance rate from $2.50 to $3.50 a mile, higher rush-hour and night surcharges, and the JFK flat fare from $52 to $70. On 5 January 2025 New York introduced congestion pricing in Manhattan at and below 60th Street: $9 for cars at peak, $2.25 overnight, and $0.75 per taxi trip. Both change what a taxi trip costs relative to its alternatives, so they are natural experiments for taxi demand, trip patterns and street speeds. Check fare figures against the TLC notice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central question is how the taxi market adjusted when relative prices changed. A taxi trip’s generalised cost is its fare plus the value of the time it takes. The 2022 increase raised the money price; the 2025 toll barely changed the taxi price but raised the cost of driving by much more, and was meant to cut travel time for everyone. So we ask whether riders cut or changed trips, and whether streets got faster. The illustration on the left can be swapped for a photo: right-click, Change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objectives move from description to identification. RQ1 and RQ2 describe volumes, trip characteristics, fares and revenue. RQ3 compares pre and post periods against a comparison area. RQ4 asks where and when changes were largest. RQ5 separates what we can observe from what we can attribute to the policies, using pre-trend tests, placebo dates, machine-learning counterfactuals and a Spark replication. The project closes with conditional lessons for Indian cities.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NYC Taxi &amp; Limousine Commission yellow-taxi trip records, one monthly Parquet file per month from January 2022 to December 2025. The unit of observation is one trip. Each record carries pickup and drop-off timestamps, pickup and drop-off taxi zones (263 zones, not GPS), distance, the fare and each surcharge, tip, tolls, payment type and passenger count. We add NOAA daily weather from Central Park and the TLC zone shapefile. Raw files are cleaned into a partitioned trip-level dataset, which DuckDB aggregates into small analytical panels.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PySpark pipeline harmonises the schema across years (column names, types, missing fee columns), applies 13 validation rules in order, writes a cleaning log of how many rows each rule removed per month, and saves partitioned Parquet by year and month. A trip is removed by the first rule it fails. Zero fares and blank passenger counts are kept and flagged. Removal rates were 4.0–4.5% a year in 2022–24 and 9.9% in 2025. The December 2023 source file was incomplete in the first build; it was re-cleaned from the original TLC file and now matches the log row for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data checks. Left: the two main meter vendors record very similar distances, fares and tips, so the data are consistent across meter systems; vendor 2 records about four in five trips. Right: weather differed across years, with 2025 the snowiest and driest, which is why weather is controlled in every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taxi zone is assigned from the shapefile. The charging zone has 38 zones at and below 60th Street. The buffer has 6 zones straddling the line, kept separate because they are partly tolled. The control is 20 zones in north Manhattan with no toll. We rejected the outer boroughs as a control because their taxi demand followed a very different, airport-driven path. The control is not untouched: 31.5% of its trips paid the fee in 2025 because they travelled into the zone, so our estimates are lower bounds.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Difference-in-differences compares the before-after change in the charging zone with the change in north Manhattan, so citywide shocks cancel. The triple difference adds peak versus overnight hours: if the toll works by deterring cars, gains should be larger when the toll is $9. For the fare increase, different trip types got different percentage rises; we compare their demand changes against the same calendar windows a year later. Machine-learning models trained on 2022–24 forecast a no-toll 2025, adjusted by the same exercise on a fake 2024 toll. Weather, holidays, weekday and month are controlled throughout, with Newey–West or week-bootstrap standard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Average daily yellow-taxi trips by month. Demand dipped every January and summer, fell slightly after the fare increase in early 2023, and rose to a record level for this period in 2025, the year the toll began. This rise is a raw pattern: it includes changes in cleaning rates and seasonality, and is not by itself an effect of the toll. The table summarises each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share of trips by pickup hour in 2024. Weekday demand peaks in the evening rush; weekend demand peaks late at night. Right: average trips by weekday for each year. These patterns line up with the toll schedule and motivate the peak-versus-overnight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views of demand. Pickups by area show why the outer boroughs are not a fair comparison. The calendar heatmap shows weekly and seasonal rhythms and the excluded gap days. Short trips dominate, which matters for a flat per-trip fee. Two in five trips are entirely inside the zone, so taxis mostly measure traffic within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mean meter fare per trip by month. The December 2022 increase shows as a single step from about $15 to about $19–20, after which fares were flat in nominal terms. Right: total passenger spending per day, in millions of dollars, including surcharges, tolls and tips. Revenue rose 29% from 2022 to 2023 even though trips fell about 3%, which is what inelastic demand implies. In 2025, the toll fee and higher demand pushed daily spending to about $3.5 million.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Average speed of trips that start and end inside each area, by month. The dashed line marks the toll. The visible jump in the charging zone in January 2025 and its gradual erosion are the raw signal behind the difference-in-differences estimates.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Geography, raw changes, speed by hour and the long-run trend. Each suggests a toll effect at first sight, but each also shows why a careful comparison is needed: the control changed too, hours had different trends, and demand was already rising.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OLS of log daily trips on weather and calendar, with day-of-week, month and year effects, over 1,450 days. Each centimetre of new snow cuts trips by about 2.6% and each centimetre of lying snow by about 0.9%. Public holidays have about 19% fewer trips. Rain does not change daily trips but slows traffic by about 0.9% per centimetre, and holidays are about 16.5% faster. Diagnostics show strong autocorrelation and heteroskedasticity, so we use Newey–West standard errors; there is no sign of functional-form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Checks behind the regression: correlations guide which controls to include, weather bands show non-linear rain effects on speed, the coefficients are stable across seven specifications, and the residual diagnostics justify Newey–West standard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Estimates of the effect of the toll on the speed of trips inside the charging zone, relative to north Manhattan, from six specifications. Before the toll, the zone had been slowing relative to the control by about 3.8% a year as offices refilled, so no specification fully passes the parallel-trends test. Using all of 2022–24 as the baseline pulls the estimate below zero; correcting for the trend pushes it to 5.4–6.9%. The credible range, supported by the ML and Spark checks, is about 1 to 3%. Because 31.5% of control trips also paid the fee, this is a lower bound.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Monthly gaps between the charging zone and north Manhattan relative to the 2023–24 baseline (shaded). The early speed gain that fades, and the later fall in pickups, are both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views of timing. The monthly chart shows the zone catching up with the control after the toll, and pickups falling later in the year. The half-year split quantifies the fade: most of the speed gain came in the first six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Effect of the toll on taxi pickups relative to north Manhattan. In the charging zone pickups fell about 2–5%, depending on the baseline and method. In the buffer strip around 59th–60th Street they fell 6–8%, and this estimate is the most robust: the buffer and control had parallel pre-trends. Buffer trips are often short hops into the zone, for which a $0.75 fee is a large share of the fare. 54% of buffer trips paid the fee in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triple difference compares peak hours, when cars pay $9, with overnight hours, when they pay $2.25. Allowing peak and overnight traffic their own pre-toll trends, peak-hour speeds in the zone rose 3.9 percentage points more than overnight speeds with the 2022–24 baseline (p = 0.004), and 4.5 points more with 2023–24 (p = 0.014). The same test on a fake toll date in January 2024 finds nothing (p = 0.45 and 0.34). This is the strongest evidence that the toll itself caused the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Weekday speed effect by pickup hour; the shaded band is the weekday toll peak. Without trends the pattern is misleading because peak hours were already on a different path. Allowing each hour its own pre-trend, gains concentrate in the hours when the $9 toll applies.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Unsupervised clustering of zones gives four interpretable types. The Manhattan core holds 28 of the 38 charging-zone zones and peaks in exactly the hours the toll targets. The clusters were used to pick look-alike control zones for a matched-control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raw change in mean fare and trips per day around the December 2022 increase, by trip type; much of the winter fall in trips is seasonal. Right: the formal design, with 19 trip segments’ net fare rise against net change in trips, both relative to the same windows a year later. Segments with larger rises did not lose more riders. The relative elasticity is +0.39 net of the placebo year and −0.70 without it, so we report it as inconclusive, consistent with inelastic demand (Schaller 1999, −0.22) and with revenue rising 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models trained on 2022–24 predict a no-toll 2025 for each zone and day; the gap from what happened, minus the same exercise on a fake 2024 toll, is the effect. All three give speed gains of about 1% and pickup falls of about 5%. On the test year they beat simple seasonal baselines. Spark MLlib gradient boosting on 1.7 million sampled trips gives a 2.4% trip-level speed gain. On engines, Spark and DuckDB return identical results over 154.7 million trips; DuckDB is fastest once files are cached. Timings are from the run before December 2023 was restored.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checks on the machine-learning work: accuracy against simple baselines, agreement across algorithms, feature importance in the daily models, and the Spark trip-level model of travel time. Location and time of day, not weather, drive the predictions.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Spark MLlib linear regression on samples from 0.2 to 3.9 million trips, extending the Rhouas and El Hami (2025) solver comparison. Spark outputs are from the run before December 2023 was restored.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column: raw changes that anyone can read off the data; they mix the policies with trends, seasonality and data changes. Right column: estimates that net out a comparison group and pass, or are bounded by, placebo and pre-trend tests. The dots show our confidence. The direction of the speed effect, the peak-hour mechanism and the buffer pickup fall are robust; the exact size of the speed effect and the fare elasticity are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Cook and co-authors (NBER 2025), using Google Maps road speeds, found speeds in the zone rose about 15% in the first weeks, with larger peak gains. We match the direction and the peak-hour pattern. Our estimate is smaller because our control area partly benefited, taxi speeds are door to door, and we average over a full year. London’s gains faded within a few years and Stockholm’s persisted. Schaller’s elasticity of −0.22 fits our finding that the fare increase did not reduce demand measurably.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limitations. Pre-trends are not parallel, so the speed effect is a range. The control is partly treated, so estimates are lower bounds. 2025 data changed: the cleaning removal rate doubled and passenger counts are often missing, which mainly affects volume measures. Locations are zones, not streets, so the toll-free riverside highways cannot be separated. Only yellow taxis are observed, not Uber or Lyft. Only one post-toll year is available, and the fare design measures relative, not total, demand responses.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Lessons for Indian cities are conditional because traffic mix, enforcement and fare-setting differ. Peak pricing targets congestion where it matters, and FASTag and number-plate cameras make time-of-day charging enforceable. Gains can fade, so pair charges with public transport and protect freed road space. The burden should fall on private vehicles, including two-wheelers. India’s app-based fares differ: the 2025 aggregator guidelines allow surge up to twice the base fare. And evaluation needs anonymised trip-level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conclusions. One: congestion pricing modestly sped up taxi travel in the zone, about 1–3% relative to north Manhattan, a lower bound, mostly in early 2025. Two: gains were about 4 points larger at peak, when the toll is highest, which supports a causal reading. Three: pickups fell slightly in the zone and more just outside it. Four: the 2022 fare increase brought no measurable relative fall in demand while revenue rose, consistent with inelastic taxi demand. The illustration on the right can be swapped for a photo.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Likely questions: why north Manhattan as the control (outer boroughs diverged; the control is partly treated, so estimates are lower bounds); why the effect is smaller than Cook et al. (within-city control, door-to-door speeds, full year); why no fare elasticity is reported (the sign changes across specifications). The background illustration shows Central Park at dusk.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_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3"/>
                </a:solidFill>
              </a:rPr>
              <a:t>Pricing the Streets  ·  NYC Yellow Taxi, 2022–2025</a:t>
            </a:r>
            <a:endParaRPr lang="en-US" sz="1000" dirty="0"/>
          </a:p>
        </p:txBody>
      </p:sp>
      <p:sp>
        <p:nvSpPr>
          <p:cNvPr id="3" name="Text 1"/>
          <p:cNvSpPr/>
          <p:nvPr>
            <p:ph idx="101" type="title" hasCustomPrompt="1"/>
          </p:nvPr>
        </p:nvSpPr>
        <p:spPr>
          <a:xfrm>
            <a:off x="548640" y="868680"/>
            <a:ext cx="11094415" cy="777240"/>
          </a:xfrm>
          <a:prstGeom prst="rect">
            <a:avLst/>
          </a:prstGeom>
          <a:noFill/>
          <a:ln/>
        </p:spPr>
        <p:txBody>
          <a:bodyPr wrap="square" rtlCol="0"/>
          <a:lstStyle>
            <a:lvl1pPr algn="l" indent="0" marL="0">
              <a:buNone/>
              <a:defRPr lang="en-US" sz="3000" b="1" dirty="0">
                <a:solidFill>
                  <a:schemeClr val="tx1"/>
                </a:solidFill>
                <a:latin typeface="Arial" pitchFamily="34" charset="0"/>
                <a:ea typeface="Arial" pitchFamily="34" charset="-122"/>
                <a:cs typeface="Arial"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3"/>
                </a:solidFill>
              </a:rPr>
              <a:t>Pricing the Streets  ·  NYC Yellow Taxi, 2022–2025</a:t>
            </a:r>
            <a:endParaRPr lang="en-US" sz="1000" dirty="0"/>
          </a:p>
        </p:txBody>
      </p:sp>
      <p:sp>
        <p:nvSpPr>
          <p:cNvPr id="3" name="Text 1"/>
          <p:cNvSpPr/>
          <p:nvPr>
            <p:ph idx="101" type="title" hasCustomPrompt="1"/>
          </p:nvPr>
        </p:nvSpPr>
        <p:spPr>
          <a:xfrm>
            <a:off x="548640" y="868680"/>
            <a:ext cx="11094415" cy="777240"/>
          </a:xfrm>
          <a:prstGeom prst="rect">
            <a:avLst/>
          </a:prstGeom>
          <a:noFill/>
          <a:ln/>
        </p:spPr>
        <p:txBody>
          <a:bodyPr wrap="square" rtlCol="0"/>
          <a:lstStyle>
            <a:lvl1pPr algn="l" indent="0" marL="0">
              <a:buNone/>
              <a:defRPr lang="en-US" sz="3000" b="1" dirty="0">
                <a:solidFill>
                  <a:schemeClr val="bg1"/>
                </a:solidFill>
                <a:latin typeface="Arial" pitchFamily="34" charset="0"/>
                <a:ea typeface="Arial" pitchFamily="34" charset="-122"/>
                <a:cs typeface="Arial"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ANK_DARK">
    <p:bg>
      <p:bgPr>
        <a:solidFill>
          <a:srgbClr val="11111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chart" Target="/ppt/charts/chart5.xml"/><Relationship Id="rId1" Type="http://schemas.openxmlformats.org/officeDocument/2006/relationships/image" Target="../media/image-16-1.png"/><Relationship Id="rId3" Type="http://schemas.openxmlformats.org/officeDocument/2006/relationships/image" Target="../media/image-16-2.png"/><Relationship Id="rId4" Type="http://schemas.openxmlformats.org/officeDocument/2006/relationships/image" Target="../media/image-16-3.png"/><Relationship Id="rId5" Type="http://schemas.openxmlformats.org/officeDocument/2006/relationships/slideLayout" Target="../slideLayouts/slideLayout2.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2.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2" Type="http://schemas.openxmlformats.org/officeDocument/2006/relationships/chart" Target="/ppt/charts/chart8.xml"/><Relationship Id="rId1" Type="http://schemas.openxmlformats.org/officeDocument/2006/relationships/image" Target="../media/image-21-1.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2.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image" Target="../media/image-26-1.png"/><Relationship Id="rId3" Type="http://schemas.openxmlformats.org/officeDocument/2006/relationships/slideLayout" Target="../slideLayouts/slideLayout2.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2.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3.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4.xml"/><Relationship Id="rId3"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photo_1" descr="Illustration: a yellow New York taxi on a Manhattan street at night, skyscrapers behind">    </p:cNvPr>
          <p:cNvPicPr>
            <a:picLocks noChangeAspect="1"/>
          </p:cNvPicPr>
          <p:nvPr/>
        </p:nvPicPr>
        <p:blipFill>
          <a:blip r:embed="rId1"/>
          <a:stretch>
            <a:fillRect/>
          </a:stretch>
        </p:blipFill>
        <p:spPr>
          <a:xfrm>
            <a:off x="0" y="0"/>
            <a:ext cx="12191695" cy="6858000"/>
          </a:xfrm>
          <a:prstGeom prst="rect">
            <a:avLst/>
          </a:prstGeom>
        </p:spPr>
      </p:pic>
      <p:sp>
        <p:nvSpPr>
          <p:cNvPr id="3" name="overlay_full"/>
          <p:cNvSpPr/>
          <p:nvPr/>
        </p:nvSpPr>
        <p:spPr>
          <a:xfrm>
            <a:off x="0" y="0"/>
            <a:ext cx="12191695" cy="6858000"/>
          </a:xfrm>
          <a:prstGeom prst="rect">
            <a:avLst/>
          </a:prstGeom>
          <a:solidFill>
            <a:srgbClr val="111111">
              <a:alpha val="18000"/>
            </a:srgbClr>
          </a:solidFill>
          <a:ln/>
        </p:spPr>
      </p:sp>
      <p:sp>
        <p:nvSpPr>
          <p:cNvPr id="4" name="kicker_2"/>
          <p:cNvSpPr/>
          <p:nvPr/>
        </p:nvSpPr>
        <p:spPr>
          <a:xfrm>
            <a:off x="548640" y="384048"/>
            <a:ext cx="4396435" cy="292608"/>
          </a:xfrm>
          <a:prstGeom prst="roundRect">
            <a:avLst>
              <a:gd name="adj" fmla="val 40625"/>
            </a:avLst>
          </a:prstGeom>
          <a:solidFill>
            <a:schemeClr val="accent1"/>
          </a:solidFill>
          <a:ln/>
        </p:spPr>
        <p:txBody>
          <a:bodyPr wrap="square" lIns="0" tIns="0" rIns="0" bIns="0" rtlCol="0" anchor="ctr"/>
          <a:lstStyle/>
          <a:p>
            <a:pPr algn="ctr" indent="0" marL="0">
              <a:buNone/>
            </a:pPr>
            <a:r>
              <a:rPr lang="en-US" sz="1050" b="1" spc="150" kern="0" dirty="0">
                <a:solidFill>
                  <a:schemeClr val="tx1"/>
                </a:solidFill>
              </a:rPr>
              <a:t>MSC ECONOMICS (DATA ANALYTICS) · BIG DATA ANALYTICS</a:t>
            </a:r>
            <a:endParaRPr lang="en-US" sz="1050" dirty="0"/>
          </a:p>
        </p:txBody>
      </p:sp>
      <p:sp>
        <p:nvSpPr>
          <p:cNvPr id="5" name="text_3"/>
          <p:cNvSpPr txBox="1"/>
          <p:nvPr/>
        </p:nvSpPr>
        <p:spPr>
          <a:xfrm>
            <a:off x="548640" y="2011680"/>
            <a:ext cx="7315200" cy="1097280"/>
          </a:xfrm>
          <a:prstGeom prst="rect">
            <a:avLst/>
          </a:prstGeom>
          <a:noFill/>
          <a:ln/>
        </p:spPr>
        <p:txBody>
          <a:bodyPr wrap="square" lIns="0" tIns="0" rIns="0" bIns="0" rtlCol="0" anchor="b"/>
          <a:lstStyle/>
          <a:p>
            <a:pPr indent="0" marL="0">
              <a:buNone/>
            </a:pPr>
            <a:r>
              <a:rPr lang="en-US" sz="6000" b="1" dirty="0">
                <a:solidFill>
                  <a:schemeClr val="bg1"/>
                </a:solidFill>
                <a:latin typeface="Arial" pitchFamily="34" charset="0"/>
                <a:ea typeface="Arial" pitchFamily="34" charset="-122"/>
                <a:cs typeface="Arial" pitchFamily="34" charset="-120"/>
              </a:rPr>
              <a:t>Pricing the Streets</a:t>
            </a:r>
            <a:endParaRPr lang="en-US" sz="6000" dirty="0"/>
          </a:p>
        </p:txBody>
      </p:sp>
      <p:sp>
        <p:nvSpPr>
          <p:cNvPr id="6" name="text_4"/>
          <p:cNvSpPr txBox="1"/>
          <p:nvPr/>
        </p:nvSpPr>
        <p:spPr>
          <a:xfrm>
            <a:off x="548640" y="3200400"/>
            <a:ext cx="6949440" cy="914400"/>
          </a:xfrm>
          <a:prstGeom prst="rect">
            <a:avLst/>
          </a:prstGeom>
          <a:noFill/>
          <a:ln/>
        </p:spPr>
        <p:txBody>
          <a:bodyPr wrap="square" lIns="0" tIns="0" rIns="0" bIns="0" rtlCol="0" anchor="t"/>
          <a:lstStyle/>
          <a:p>
            <a:pPr indent="0" marL="0">
              <a:buNone/>
            </a:pPr>
            <a:r>
              <a:rPr lang="en-US" sz="2600" dirty="0">
                <a:solidFill>
                  <a:schemeClr val="accent1"/>
                </a:solidFill>
                <a:latin typeface="Arial" pitchFamily="34" charset="0"/>
                <a:ea typeface="Arial" pitchFamily="34" charset="-122"/>
                <a:cs typeface="Arial" pitchFamily="34" charset="-120"/>
              </a:rPr>
              <a:t>Congestion Pricing, Relative Prices and the Taxi Market</a:t>
            </a:r>
            <a:endParaRPr lang="en-US" sz="2600" dirty="0"/>
          </a:p>
        </p:txBody>
      </p:sp>
      <p:sp>
        <p:nvSpPr>
          <p:cNvPr id="7" name="text_5"/>
          <p:cNvSpPr txBox="1"/>
          <p:nvPr/>
        </p:nvSpPr>
        <p:spPr>
          <a:xfrm>
            <a:off x="548640" y="4206240"/>
            <a:ext cx="6949440" cy="411480"/>
          </a:xfrm>
          <a:prstGeom prst="rect">
            <a:avLst/>
          </a:prstGeom>
          <a:noFill/>
          <a:ln/>
        </p:spPr>
        <p:txBody>
          <a:bodyPr wrap="square" lIns="0" tIns="0" rIns="0" bIns="0" rtlCol="0" anchor="t"/>
          <a:lstStyle/>
          <a:p>
            <a:pPr indent="0" marL="0">
              <a:buNone/>
            </a:pPr>
            <a:r>
              <a:rPr lang="en-US" sz="1800" dirty="0">
                <a:solidFill>
                  <a:schemeClr val="bg1"/>
                </a:solidFill>
              </a:rPr>
              <a:t>An empirical analysis of NYC Yellow Taxi data, 2022–2025</a:t>
            </a:r>
            <a:endParaRPr lang="en-US" sz="1800" dirty="0"/>
          </a:p>
        </p:txBody>
      </p:sp>
      <p:sp>
        <p:nvSpPr>
          <p:cNvPr id="8" name="text_6"/>
          <p:cNvSpPr txBox="1"/>
          <p:nvPr/>
        </p:nvSpPr>
        <p:spPr>
          <a:xfrm>
            <a:off x="548640" y="5257800"/>
            <a:ext cx="6949440" cy="640080"/>
          </a:xfrm>
          <a:prstGeom prst="rect">
            <a:avLst/>
          </a:prstGeom>
          <a:noFill/>
          <a:ln/>
        </p:spPr>
        <p:txBody>
          <a:bodyPr wrap="square" lIns="0" tIns="0" rIns="0" bIns="0" rtlCol="0" anchor="t"/>
          <a:lstStyle/>
          <a:p>
            <a:pPr indent="0" marL="0">
              <a:buNone/>
            </a:pPr>
            <a:r>
              <a:rPr lang="en-US" sz="1400" b="1" dirty="0">
                <a:solidFill>
                  <a:schemeClr val="bg1"/>
                </a:solidFill>
              </a:rPr>
              <a:t>[Student name]</a:t>
            </a:r>
            <a:endParaRPr lang="en-US" sz="1400" dirty="0"/>
          </a:p>
          <a:p>
            <a:pPr indent="0" marL="0">
              <a:buNone/>
            </a:pPr>
            <a:r>
              <a:rPr lang="en-US" sz="1400" dirty="0">
                <a:solidFill>
                  <a:schemeClr val="accent6"/>
                </a:solidFill>
              </a:rPr>
              <a:t>[Programme]  ·  [Institution]  ·  [Presentation date]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_7"/>
          <p:cNvSpPr/>
          <p:nvPr/>
        </p:nvSpPr>
        <p:spPr>
          <a:xfrm>
            <a:off x="548640" y="384048"/>
            <a:ext cx="1580083" cy="292608"/>
          </a:xfrm>
          <a:prstGeom prst="roundRect">
            <a:avLst>
              <a:gd name="adj" fmla="val 40625"/>
            </a:avLst>
          </a:prstGeom>
          <a:solidFill>
            <a:schemeClr val="accent1"/>
          </a:solidFill>
          <a:ln/>
        </p:spPr>
        <p:txBody>
          <a:bodyPr wrap="square" lIns="0" tIns="0" rIns="0" bIns="0" rtlCol="0" anchor="ctr"/>
          <a:lstStyle/>
          <a:p>
            <a:pPr algn="ctr" indent="0" marL="0">
              <a:buNone/>
            </a:pPr>
            <a:r>
              <a:rPr lang="en-US" sz="1050" b="1" spc="150" kern="0" dirty="0">
                <a:solidFill>
                  <a:schemeClr val="tx1"/>
                </a:solidFill>
              </a:rPr>
              <a:t>A · INTRODUCTION</a:t>
            </a:r>
            <a:endParaRPr lang="en-US" sz="1050" dirty="0"/>
          </a:p>
        </p:txBody>
      </p:sp>
      <p:sp>
        <p:nvSpPr>
          <p:cNvPr id="3" name="Text 1"/>
          <p:cNvSpPr/>
          <p:nvPr>
            <p:ph idx="101" type="title" hasCustomPrompt="1"/>
          </p:nvPr>
        </p:nvSpPr>
        <p:spPr>
          <a:xfrm>
            <a:off x="548640" y="868680"/>
            <a:ext cx="11094415" cy="77724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Why price the streets?</a:t>
            </a:r>
            <a:endParaRPr lang="en-US" sz="3000" dirty="0"/>
          </a:p>
        </p:txBody>
      </p:sp>
      <p:sp>
        <p:nvSpPr>
          <p:cNvPr id="5" name="text_8"/>
          <p:cNvSpPr txBox="1"/>
          <p:nvPr/>
        </p:nvSpPr>
        <p:spPr>
          <a:xfrm>
            <a:off x="548640" y="1828800"/>
            <a:ext cx="5120640" cy="2743200"/>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Congestion is a classic externality: </a:t>
            </a:r>
            <a:pPr indent="0" marL="0">
              <a:spcAft>
                <a:spcPts val="400"/>
              </a:spcAft>
              <a:buNone/>
            </a:pPr>
            <a:r>
              <a:rPr lang="en-US" sz="1500" dirty="0">
                <a:solidFill>
                  <a:schemeClr val="tx2"/>
                </a:solidFill>
              </a:rPr>
              <a:t>each extra car slows everyone else, but roads are free at the point of use.</a:t>
            </a:r>
            <a:endParaRPr lang="en-US" sz="1500" dirty="0"/>
          </a:p>
          <a:p>
            <a:pPr indent="0" marL="0">
              <a:spcAft>
                <a:spcPts val="400"/>
              </a:spcAft>
              <a:buNone/>
            </a:pPr>
            <a:r>
              <a:rPr lang="en-US" sz="800" dirty="0">
                <a:solidFill>
                  <a:schemeClr val="tx2"/>
                </a:solidFill>
              </a:rPr>
              <a:t> </a:t>
            </a:r>
            <a:endParaRPr lang="en-US" sz="1500" dirty="0"/>
          </a:p>
          <a:p>
            <a:pPr indent="0" marL="0">
              <a:spcAft>
                <a:spcPts val="400"/>
              </a:spcAft>
              <a:buNone/>
            </a:pPr>
            <a:r>
              <a:rPr lang="en-US" sz="1500" b="1" dirty="0">
                <a:solidFill>
                  <a:schemeClr val="tx1"/>
                </a:solidFill>
              </a:rPr>
              <a:t>Road pricing </a:t>
            </a:r>
            <a:pPr indent="0" marL="0">
              <a:spcAft>
                <a:spcPts val="400"/>
              </a:spcAft>
              <a:buNone/>
            </a:pPr>
            <a:r>
              <a:rPr lang="en-US" sz="1500" dirty="0">
                <a:solidFill>
                  <a:schemeClr val="tx2"/>
                </a:solidFill>
              </a:rPr>
              <a:t>charges drivers when and where roads are busiest, so the trips that remain move faster.</a:t>
            </a:r>
            <a:endParaRPr lang="en-US" sz="1500" dirty="0"/>
          </a:p>
          <a:p>
            <a:pPr indent="0" marL="0">
              <a:spcAft>
                <a:spcPts val="400"/>
              </a:spcAft>
              <a:buNone/>
            </a:pPr>
            <a:r>
              <a:rPr lang="en-US" sz="800" dirty="0">
                <a:solidFill>
                  <a:schemeClr val="tx2"/>
                </a:solidFill>
              </a:rPr>
              <a:t> </a:t>
            </a:r>
            <a:endParaRPr lang="en-US" sz="1500" dirty="0"/>
          </a:p>
          <a:p>
            <a:pPr indent="0" marL="0">
              <a:spcAft>
                <a:spcPts val="400"/>
              </a:spcAft>
              <a:buNone/>
            </a:pPr>
            <a:r>
              <a:rPr lang="en-US" sz="1500" b="1" dirty="0">
                <a:solidFill>
                  <a:schemeClr val="tx1"/>
                </a:solidFill>
              </a:rPr>
              <a:t>Taxis as sensors: </a:t>
            </a:r>
            <a:pPr indent="0" marL="0">
              <a:spcAft>
                <a:spcPts val="400"/>
              </a:spcAft>
              <a:buNone/>
            </a:pPr>
            <a:r>
              <a:rPr lang="en-US" sz="1500" dirty="0">
                <a:solidFill>
                  <a:schemeClr val="tx2"/>
                </a:solidFill>
              </a:rPr>
              <a:t>every yellow-taxi trip records its time and distance, so millions of trips reveal how fast the city moves and how much people ride.</a:t>
            </a:r>
            <a:endParaRPr lang="en-US" sz="1500" dirty="0"/>
          </a:p>
        </p:txBody>
      </p:sp>
      <p:sp>
        <p:nvSpPr>
          <p:cNvPr id="6" name="card_9"/>
          <p:cNvSpPr/>
          <p:nvPr/>
        </p:nvSpPr>
        <p:spPr>
          <a:xfrm>
            <a:off x="548640" y="4754880"/>
            <a:ext cx="5120640" cy="1188720"/>
          </a:xfrm>
          <a:prstGeom prst="roundRect">
            <a:avLst>
              <a:gd name="adj" fmla="val 9231"/>
            </a:avLst>
          </a:prstGeom>
          <a:solidFill>
            <a:schemeClr val="tx1"/>
          </a:solidFill>
          <a:ln/>
        </p:spPr>
      </p:sp>
      <p:sp>
        <p:nvSpPr>
          <p:cNvPr id="7" name="text_10"/>
          <p:cNvSpPr txBox="1"/>
          <p:nvPr/>
        </p:nvSpPr>
        <p:spPr>
          <a:xfrm>
            <a:off x="822960" y="4846320"/>
            <a:ext cx="2194560" cy="640080"/>
          </a:xfrm>
          <a:prstGeom prst="rect">
            <a:avLst/>
          </a:prstGeom>
          <a:noFill/>
          <a:ln/>
        </p:spPr>
        <p:txBody>
          <a:bodyPr wrap="square" lIns="0" tIns="0" rIns="0" bIns="0" rtlCol="0" anchor="b"/>
          <a:lstStyle/>
          <a:p>
            <a:pPr indent="0" marL="0">
              <a:buNone/>
            </a:pPr>
            <a:r>
              <a:rPr lang="en-US" sz="3000" b="1" dirty="0">
                <a:solidFill>
                  <a:schemeClr val="accent1"/>
                </a:solidFill>
                <a:latin typeface="Arial" pitchFamily="34" charset="0"/>
                <a:ea typeface="Arial" pitchFamily="34" charset="-122"/>
                <a:cs typeface="Arial" pitchFamily="34" charset="-120"/>
              </a:rPr>
              <a:t>157.9M</a:t>
            </a:r>
            <a:endParaRPr lang="en-US" sz="3000" dirty="0"/>
          </a:p>
        </p:txBody>
      </p:sp>
      <p:sp>
        <p:nvSpPr>
          <p:cNvPr id="8" name="text_11"/>
          <p:cNvSpPr txBox="1"/>
          <p:nvPr/>
        </p:nvSpPr>
        <p:spPr>
          <a:xfrm>
            <a:off x="822960" y="5532120"/>
            <a:ext cx="2194560" cy="365760"/>
          </a:xfrm>
          <a:prstGeom prst="rect">
            <a:avLst/>
          </a:prstGeom>
          <a:noFill/>
          <a:ln/>
        </p:spPr>
        <p:txBody>
          <a:bodyPr wrap="square" lIns="0" tIns="0" rIns="0" bIns="0" rtlCol="0" anchor="t"/>
          <a:lstStyle/>
          <a:p>
            <a:pPr indent="0" marL="0">
              <a:buNone/>
            </a:pPr>
            <a:r>
              <a:rPr lang="en-US" sz="1250" dirty="0">
                <a:solidFill>
                  <a:schemeClr val="bg1"/>
                </a:solidFill>
              </a:rPr>
              <a:t>taxi trips, 2022–2025</a:t>
            </a:r>
            <a:endParaRPr lang="en-US" sz="1250" dirty="0"/>
          </a:p>
        </p:txBody>
      </p:sp>
      <p:sp>
        <p:nvSpPr>
          <p:cNvPr id="9" name="text_12"/>
          <p:cNvSpPr txBox="1"/>
          <p:nvPr/>
        </p:nvSpPr>
        <p:spPr>
          <a:xfrm>
            <a:off x="3246120" y="4846320"/>
            <a:ext cx="2194560" cy="640080"/>
          </a:xfrm>
          <a:prstGeom prst="rect">
            <a:avLst/>
          </a:prstGeom>
          <a:noFill/>
          <a:ln/>
        </p:spPr>
        <p:txBody>
          <a:bodyPr wrap="square" lIns="0" tIns="0" rIns="0" bIns="0" rtlCol="0" anchor="b"/>
          <a:lstStyle/>
          <a:p>
            <a:pPr indent="0" marL="0">
              <a:buNone/>
            </a:pPr>
            <a:r>
              <a:rPr lang="en-US" sz="3000" b="1" dirty="0">
                <a:solidFill>
                  <a:schemeClr val="accent1"/>
                </a:solidFill>
                <a:latin typeface="Arial" pitchFamily="34" charset="0"/>
                <a:ea typeface="Arial" pitchFamily="34" charset="-122"/>
                <a:cs typeface="Arial" pitchFamily="34" charset="-120"/>
              </a:rPr>
              <a:t>2</a:t>
            </a:r>
            <a:endParaRPr lang="en-US" sz="3000" dirty="0"/>
          </a:p>
        </p:txBody>
      </p:sp>
      <p:sp>
        <p:nvSpPr>
          <p:cNvPr id="10" name="text_13"/>
          <p:cNvSpPr txBox="1"/>
          <p:nvPr/>
        </p:nvSpPr>
        <p:spPr>
          <a:xfrm>
            <a:off x="3246120" y="5532120"/>
            <a:ext cx="2194560" cy="365760"/>
          </a:xfrm>
          <a:prstGeom prst="rect">
            <a:avLst/>
          </a:prstGeom>
          <a:noFill/>
          <a:ln/>
        </p:spPr>
        <p:txBody>
          <a:bodyPr wrap="square" lIns="0" tIns="0" rIns="0" bIns="0" rtlCol="0" anchor="t"/>
          <a:lstStyle/>
          <a:p>
            <a:pPr indent="0" marL="0">
              <a:buNone/>
            </a:pPr>
            <a:r>
              <a:rPr lang="en-US" sz="1250" dirty="0">
                <a:solidFill>
                  <a:schemeClr val="bg1"/>
                </a:solidFill>
              </a:rPr>
              <a:t>price changes studied</a:t>
            </a:r>
            <a:endParaRPr lang="en-US" sz="1250" dirty="0"/>
          </a:p>
        </p:txBody>
      </p:sp>
      <p:sp>
        <p:nvSpPr>
          <p:cNvPr id="11" name="text_14"/>
          <p:cNvSpPr txBox="1"/>
          <p:nvPr/>
        </p:nvSpPr>
        <p:spPr>
          <a:xfrm>
            <a:off x="6263640" y="1828800"/>
            <a:ext cx="5379415" cy="320040"/>
          </a:xfrm>
          <a:prstGeom prst="rect">
            <a:avLst/>
          </a:prstGeom>
          <a:noFill/>
          <a:ln/>
        </p:spPr>
        <p:txBody>
          <a:bodyPr wrap="square" lIns="0" tIns="0" rIns="0" bIns="0" rtlCol="0" anchor="t"/>
          <a:lstStyle/>
          <a:p>
            <a:pPr indent="0" marL="0">
              <a:buNone/>
            </a:pPr>
            <a:r>
              <a:rPr lang="en-US" sz="1500" b="1" dirty="0">
                <a:solidFill>
                  <a:schemeClr val="tx1"/>
                </a:solidFill>
              </a:rPr>
              <a:t>Cities that priced their roads</a:t>
            </a:r>
            <a:endParaRPr lang="en-US" sz="1500" dirty="0"/>
          </a:p>
        </p:txBody>
      </p:sp>
      <p:sp>
        <p:nvSpPr>
          <p:cNvPr id="12" name="city_line"/>
          <p:cNvSpPr/>
          <p:nvPr/>
        </p:nvSpPr>
        <p:spPr>
          <a:xfrm>
            <a:off x="6455664" y="2523744"/>
            <a:ext cx="0" cy="2688336"/>
          </a:xfrm>
          <a:prstGeom prst="line">
            <a:avLst/>
          </a:prstGeom>
          <a:noFill/>
          <a:ln w="25400">
            <a:solidFill>
              <a:srgbClr val="D9D9D9"/>
            </a:solidFill>
            <a:prstDash val="solid"/>
          </a:ln>
        </p:spPr>
      </p:sp>
      <p:sp>
        <p:nvSpPr>
          <p:cNvPr id="13" name="city_dot_15"/>
          <p:cNvSpPr/>
          <p:nvPr/>
        </p:nvSpPr>
        <p:spPr>
          <a:xfrm>
            <a:off x="6263640" y="2331720"/>
            <a:ext cx="384048" cy="384048"/>
          </a:xfrm>
          <a:prstGeom prst="ellipse">
            <a:avLst/>
          </a:prstGeom>
          <a:solidFill>
            <a:schemeClr val="bg2"/>
          </a:solidFill>
          <a:ln w="19050">
            <a:solidFill>
              <a:srgbClr val="D9D9D9"/>
            </a:solidFill>
            <a:prstDash val="solid"/>
          </a:ln>
        </p:spPr>
      </p:sp>
      <p:sp>
        <p:nvSpPr>
          <p:cNvPr id="14" name="text_16"/>
          <p:cNvSpPr txBox="1"/>
          <p:nvPr/>
        </p:nvSpPr>
        <p:spPr>
          <a:xfrm>
            <a:off x="6858000" y="2313432"/>
            <a:ext cx="731520" cy="420624"/>
          </a:xfrm>
          <a:prstGeom prst="rect">
            <a:avLst/>
          </a:prstGeom>
          <a:noFill/>
          <a:ln/>
        </p:spPr>
        <p:txBody>
          <a:bodyPr wrap="square" lIns="0" tIns="0" rIns="0" bIns="0" rtlCol="0" anchor="ctr"/>
          <a:lstStyle/>
          <a:p>
            <a:pPr indent="0" marL="0">
              <a:buNone/>
            </a:pPr>
            <a:r>
              <a:rPr lang="en-US" sz="1800" b="1" dirty="0">
                <a:solidFill>
                  <a:schemeClr val="accent3"/>
                </a:solidFill>
                <a:latin typeface="Arial" pitchFamily="34" charset="0"/>
                <a:ea typeface="Arial" pitchFamily="34" charset="-122"/>
                <a:cs typeface="Arial" pitchFamily="34" charset="-120"/>
              </a:rPr>
              <a:t>1975</a:t>
            </a:r>
            <a:endParaRPr lang="en-US" sz="1800" dirty="0"/>
          </a:p>
        </p:txBody>
      </p:sp>
      <p:sp>
        <p:nvSpPr>
          <p:cNvPr id="15" name="text_17"/>
          <p:cNvSpPr txBox="1"/>
          <p:nvPr/>
        </p:nvSpPr>
        <p:spPr>
          <a:xfrm>
            <a:off x="7680960" y="2258568"/>
            <a:ext cx="3916375" cy="685800"/>
          </a:xfrm>
          <a:prstGeom prst="rect">
            <a:avLst/>
          </a:prstGeom>
          <a:noFill/>
          <a:ln/>
        </p:spPr>
        <p:txBody>
          <a:bodyPr wrap="square" lIns="0" tIns="0" rIns="0" bIns="0" rtlCol="0" anchor="t"/>
          <a:lstStyle/>
          <a:p>
            <a:pPr indent="0" marL="0">
              <a:buNone/>
            </a:pPr>
            <a:r>
              <a:rPr lang="en-US" sz="1500" b="1" dirty="0">
                <a:solidFill>
                  <a:schemeClr val="tx1"/>
                </a:solidFill>
              </a:rPr>
              <a:t>Singapore</a:t>
            </a:r>
            <a:endParaRPr lang="en-US" sz="1500" dirty="0"/>
          </a:p>
          <a:p>
            <a:pPr indent="0" marL="0">
              <a:buNone/>
            </a:pPr>
            <a:r>
              <a:rPr lang="en-US" sz="1250" dirty="0">
                <a:solidFill>
                  <a:schemeClr val="tx2"/>
                </a:solidFill>
              </a:rPr>
              <a:t>First area licence scheme</a:t>
            </a:r>
            <a:endParaRPr lang="en-US" sz="1500" dirty="0"/>
          </a:p>
        </p:txBody>
      </p:sp>
      <p:sp>
        <p:nvSpPr>
          <p:cNvPr id="16" name="city_dot_18"/>
          <p:cNvSpPr/>
          <p:nvPr/>
        </p:nvSpPr>
        <p:spPr>
          <a:xfrm>
            <a:off x="6263640" y="3227832"/>
            <a:ext cx="384048" cy="384048"/>
          </a:xfrm>
          <a:prstGeom prst="ellipse">
            <a:avLst/>
          </a:prstGeom>
          <a:solidFill>
            <a:schemeClr val="bg2"/>
          </a:solidFill>
          <a:ln w="19050">
            <a:solidFill>
              <a:srgbClr val="D9D9D9"/>
            </a:solidFill>
            <a:prstDash val="solid"/>
          </a:ln>
        </p:spPr>
      </p:sp>
      <p:sp>
        <p:nvSpPr>
          <p:cNvPr id="17" name="text_19"/>
          <p:cNvSpPr txBox="1"/>
          <p:nvPr/>
        </p:nvSpPr>
        <p:spPr>
          <a:xfrm>
            <a:off x="6858000" y="3209544"/>
            <a:ext cx="731520" cy="420624"/>
          </a:xfrm>
          <a:prstGeom prst="rect">
            <a:avLst/>
          </a:prstGeom>
          <a:noFill/>
          <a:ln/>
        </p:spPr>
        <p:txBody>
          <a:bodyPr wrap="square" lIns="0" tIns="0" rIns="0" bIns="0" rtlCol="0" anchor="ctr"/>
          <a:lstStyle/>
          <a:p>
            <a:pPr indent="0" marL="0">
              <a:buNone/>
            </a:pPr>
            <a:r>
              <a:rPr lang="en-US" sz="1800" b="1" dirty="0">
                <a:solidFill>
                  <a:schemeClr val="accent3"/>
                </a:solidFill>
                <a:latin typeface="Arial" pitchFamily="34" charset="0"/>
                <a:ea typeface="Arial" pitchFamily="34" charset="-122"/>
                <a:cs typeface="Arial" pitchFamily="34" charset="-120"/>
              </a:rPr>
              <a:t>2003</a:t>
            </a:r>
            <a:endParaRPr lang="en-US" sz="1800" dirty="0"/>
          </a:p>
        </p:txBody>
      </p:sp>
      <p:sp>
        <p:nvSpPr>
          <p:cNvPr id="18" name="text_20"/>
          <p:cNvSpPr txBox="1"/>
          <p:nvPr/>
        </p:nvSpPr>
        <p:spPr>
          <a:xfrm>
            <a:off x="7680960" y="3154680"/>
            <a:ext cx="3916375" cy="685800"/>
          </a:xfrm>
          <a:prstGeom prst="rect">
            <a:avLst/>
          </a:prstGeom>
          <a:noFill/>
          <a:ln/>
        </p:spPr>
        <p:txBody>
          <a:bodyPr wrap="square" lIns="0" tIns="0" rIns="0" bIns="0" rtlCol="0" anchor="t"/>
          <a:lstStyle/>
          <a:p>
            <a:pPr indent="0" marL="0">
              <a:buNone/>
            </a:pPr>
            <a:r>
              <a:rPr lang="en-US" sz="1500" b="1" dirty="0">
                <a:solidFill>
                  <a:schemeClr val="tx1"/>
                </a:solidFill>
              </a:rPr>
              <a:t>London</a:t>
            </a:r>
            <a:endParaRPr lang="en-US" sz="1500" dirty="0"/>
          </a:p>
          <a:p>
            <a:pPr indent="0" marL="0">
              <a:buNone/>
            </a:pPr>
            <a:r>
              <a:rPr lang="en-US" sz="1250" dirty="0">
                <a:solidFill>
                  <a:schemeClr val="tx2"/>
                </a:solidFill>
              </a:rPr>
              <a:t>£5 daily central-zone charge</a:t>
            </a:r>
            <a:endParaRPr lang="en-US" sz="1500" dirty="0"/>
          </a:p>
        </p:txBody>
      </p:sp>
      <p:sp>
        <p:nvSpPr>
          <p:cNvPr id="19" name="city_dot_21"/>
          <p:cNvSpPr/>
          <p:nvPr/>
        </p:nvSpPr>
        <p:spPr>
          <a:xfrm>
            <a:off x="6263640" y="4123944"/>
            <a:ext cx="384048" cy="384048"/>
          </a:xfrm>
          <a:prstGeom prst="ellipse">
            <a:avLst/>
          </a:prstGeom>
          <a:solidFill>
            <a:schemeClr val="bg2"/>
          </a:solidFill>
          <a:ln w="19050">
            <a:solidFill>
              <a:srgbClr val="D9D9D9"/>
            </a:solidFill>
            <a:prstDash val="solid"/>
          </a:ln>
        </p:spPr>
      </p:sp>
      <p:sp>
        <p:nvSpPr>
          <p:cNvPr id="20" name="text_22"/>
          <p:cNvSpPr txBox="1"/>
          <p:nvPr/>
        </p:nvSpPr>
        <p:spPr>
          <a:xfrm>
            <a:off x="6858000" y="4105656"/>
            <a:ext cx="731520" cy="420624"/>
          </a:xfrm>
          <a:prstGeom prst="rect">
            <a:avLst/>
          </a:prstGeom>
          <a:noFill/>
          <a:ln/>
        </p:spPr>
        <p:txBody>
          <a:bodyPr wrap="square" lIns="0" tIns="0" rIns="0" bIns="0" rtlCol="0" anchor="ctr"/>
          <a:lstStyle/>
          <a:p>
            <a:pPr indent="0" marL="0">
              <a:buNone/>
            </a:pPr>
            <a:r>
              <a:rPr lang="en-US" sz="1800" b="1" dirty="0">
                <a:solidFill>
                  <a:schemeClr val="accent3"/>
                </a:solidFill>
                <a:latin typeface="Arial" pitchFamily="34" charset="0"/>
                <a:ea typeface="Arial" pitchFamily="34" charset="-122"/>
                <a:cs typeface="Arial" pitchFamily="34" charset="-120"/>
              </a:rPr>
              <a:t>2006</a:t>
            </a:r>
            <a:endParaRPr lang="en-US" sz="1800" dirty="0"/>
          </a:p>
        </p:txBody>
      </p:sp>
      <p:sp>
        <p:nvSpPr>
          <p:cNvPr id="21" name="text_23"/>
          <p:cNvSpPr txBox="1"/>
          <p:nvPr/>
        </p:nvSpPr>
        <p:spPr>
          <a:xfrm>
            <a:off x="7680960" y="4050792"/>
            <a:ext cx="3916375" cy="685800"/>
          </a:xfrm>
          <a:prstGeom prst="rect">
            <a:avLst/>
          </a:prstGeom>
          <a:noFill/>
          <a:ln/>
        </p:spPr>
        <p:txBody>
          <a:bodyPr wrap="square" lIns="0" tIns="0" rIns="0" bIns="0" rtlCol="0" anchor="t"/>
          <a:lstStyle/>
          <a:p>
            <a:pPr indent="0" marL="0">
              <a:buNone/>
            </a:pPr>
            <a:r>
              <a:rPr lang="en-US" sz="1500" b="1" dirty="0">
                <a:solidFill>
                  <a:schemeClr val="tx1"/>
                </a:solidFill>
              </a:rPr>
              <a:t>Stockholm</a:t>
            </a:r>
            <a:endParaRPr lang="en-US" sz="1500" dirty="0"/>
          </a:p>
          <a:p>
            <a:pPr indent="0" marL="0">
              <a:buNone/>
            </a:pPr>
            <a:r>
              <a:rPr lang="en-US" sz="1250" dirty="0">
                <a:solidFill>
                  <a:schemeClr val="tx2"/>
                </a:solidFill>
              </a:rPr>
              <a:t>Time-varying cordon toll</a:t>
            </a:r>
            <a:endParaRPr lang="en-US" sz="1500" dirty="0"/>
          </a:p>
        </p:txBody>
      </p:sp>
      <p:sp>
        <p:nvSpPr>
          <p:cNvPr id="22" name="city_dot_24"/>
          <p:cNvSpPr/>
          <p:nvPr/>
        </p:nvSpPr>
        <p:spPr>
          <a:xfrm>
            <a:off x="6263640" y="5020056"/>
            <a:ext cx="384048" cy="384048"/>
          </a:xfrm>
          <a:prstGeom prst="ellipse">
            <a:avLst/>
          </a:prstGeom>
          <a:solidFill>
            <a:schemeClr val="accent1"/>
          </a:solidFill>
          <a:ln w="19050">
            <a:solidFill>
              <a:srgbClr val="111111"/>
            </a:solidFill>
            <a:prstDash val="solid"/>
          </a:ln>
        </p:spPr>
      </p:sp>
      <p:sp>
        <p:nvSpPr>
          <p:cNvPr id="23" name="text_25"/>
          <p:cNvSpPr txBox="1"/>
          <p:nvPr/>
        </p:nvSpPr>
        <p:spPr>
          <a:xfrm>
            <a:off x="6858000" y="5001768"/>
            <a:ext cx="731520" cy="420624"/>
          </a:xfrm>
          <a:prstGeom prst="rect">
            <a:avLst/>
          </a:prstGeom>
          <a:noFill/>
          <a:ln/>
        </p:spPr>
        <p:txBody>
          <a:bodyPr wrap="square" lIns="0" tIns="0" rIns="0" bIns="0" rtlCol="0" anchor="ctr"/>
          <a:lstStyle/>
          <a:p>
            <a:pPr indent="0" marL="0">
              <a:buNone/>
            </a:pPr>
            <a:r>
              <a:rPr lang="en-US" sz="1800" b="1" dirty="0">
                <a:solidFill>
                  <a:schemeClr val="accent4"/>
                </a:solidFill>
                <a:latin typeface="Arial" pitchFamily="34" charset="0"/>
                <a:ea typeface="Arial" pitchFamily="34" charset="-122"/>
                <a:cs typeface="Arial" pitchFamily="34" charset="-120"/>
              </a:rPr>
              <a:t>2025</a:t>
            </a:r>
            <a:endParaRPr lang="en-US" sz="1800" dirty="0"/>
          </a:p>
        </p:txBody>
      </p:sp>
      <p:sp>
        <p:nvSpPr>
          <p:cNvPr id="24" name="text_26"/>
          <p:cNvSpPr txBox="1"/>
          <p:nvPr/>
        </p:nvSpPr>
        <p:spPr>
          <a:xfrm>
            <a:off x="7680960" y="4946904"/>
            <a:ext cx="3916375" cy="685800"/>
          </a:xfrm>
          <a:prstGeom prst="rect">
            <a:avLst/>
          </a:prstGeom>
          <a:noFill/>
          <a:ln/>
        </p:spPr>
        <p:txBody>
          <a:bodyPr wrap="square" lIns="0" tIns="0" rIns="0" bIns="0" rtlCol="0" anchor="t"/>
          <a:lstStyle/>
          <a:p>
            <a:pPr indent="0" marL="0">
              <a:buNone/>
            </a:pPr>
            <a:r>
              <a:rPr lang="en-US" sz="1500" b="1" dirty="0">
                <a:solidFill>
                  <a:schemeClr val="tx1"/>
                </a:solidFill>
              </a:rPr>
              <a:t>New York</a:t>
            </a:r>
            <a:endParaRPr lang="en-US" sz="1500" dirty="0"/>
          </a:p>
          <a:p>
            <a:pPr indent="0" marL="0">
              <a:buNone/>
            </a:pPr>
            <a:r>
              <a:rPr lang="en-US" sz="1250" dirty="0">
                <a:solidFill>
                  <a:schemeClr val="tx2"/>
                </a:solidFill>
              </a:rPr>
              <a:t>First in the United States: this study</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_27"/>
          <p:cNvSpPr/>
          <p:nvPr/>
        </p:nvSpPr>
        <p:spPr>
          <a:xfrm>
            <a:off x="548640" y="384048"/>
            <a:ext cx="1741018" cy="292608"/>
          </a:xfrm>
          <a:prstGeom prst="roundRect">
            <a:avLst>
              <a:gd name="adj" fmla="val 40625"/>
            </a:avLst>
          </a:prstGeom>
          <a:solidFill>
            <a:schemeClr val="accent1"/>
          </a:solidFill>
          <a:ln/>
        </p:spPr>
        <p:txBody>
          <a:bodyPr wrap="square" lIns="0" tIns="0" rIns="0" bIns="0" rtlCol="0" anchor="ctr"/>
          <a:lstStyle/>
          <a:p>
            <a:pPr algn="ctr" indent="0" marL="0">
              <a:buNone/>
            </a:pPr>
            <a:r>
              <a:rPr lang="en-US" sz="1050" b="1" spc="150" kern="0" dirty="0">
                <a:solidFill>
                  <a:schemeClr val="tx1"/>
                </a:solidFill>
              </a:rPr>
              <a:t>A · POLICY CONTEXT</a:t>
            </a:r>
            <a:endParaRPr lang="en-US" sz="1050" dirty="0"/>
          </a:p>
        </p:txBody>
      </p:sp>
      <p:sp>
        <p:nvSpPr>
          <p:cNvPr id="3" name="Text 1"/>
          <p:cNvSpPr/>
          <p:nvPr>
            <p:ph idx="101" type="title" hasCustomPrompt="1"/>
          </p:nvPr>
        </p:nvSpPr>
        <p:spPr>
          <a:xfrm>
            <a:off x="548640" y="868680"/>
            <a:ext cx="11094415" cy="77724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Two price shocks hit New York’s taxi market in three years</a:t>
            </a:r>
            <a:endParaRPr lang="en-US" sz="3000" dirty="0"/>
          </a:p>
        </p:txBody>
      </p:sp>
      <p:sp>
        <p:nvSpPr>
          <p:cNvPr id="5" name="timeline"/>
          <p:cNvSpPr/>
          <p:nvPr/>
        </p:nvSpPr>
        <p:spPr>
          <a:xfrm>
            <a:off x="731520" y="2240280"/>
            <a:ext cx="10728655" cy="0"/>
          </a:xfrm>
          <a:prstGeom prst="line">
            <a:avLst/>
          </a:prstGeom>
          <a:noFill/>
          <a:ln w="25400">
            <a:solidFill>
              <a:srgbClr val="2B2D31"/>
            </a:solidFill>
            <a:prstDash val="solid"/>
          </a:ln>
        </p:spPr>
      </p:sp>
      <p:sp>
        <p:nvSpPr>
          <p:cNvPr id="6" name="tick_28"/>
          <p:cNvSpPr/>
          <p:nvPr/>
        </p:nvSpPr>
        <p:spPr>
          <a:xfrm>
            <a:off x="731520" y="2167128"/>
            <a:ext cx="0" cy="146304"/>
          </a:xfrm>
          <a:prstGeom prst="line">
            <a:avLst/>
          </a:prstGeom>
          <a:noFill/>
          <a:ln w="19050">
            <a:solidFill>
              <a:srgbClr val="2B2D31"/>
            </a:solidFill>
            <a:prstDash val="solid"/>
          </a:ln>
        </p:spPr>
      </p:sp>
      <p:sp>
        <p:nvSpPr>
          <p:cNvPr id="7" name="text_29"/>
          <p:cNvSpPr txBox="1"/>
          <p:nvPr/>
        </p:nvSpPr>
        <p:spPr>
          <a:xfrm>
            <a:off x="365760" y="2350008"/>
            <a:ext cx="731520" cy="274320"/>
          </a:xfrm>
          <a:prstGeom prst="rect">
            <a:avLst/>
          </a:prstGeom>
          <a:noFill/>
          <a:ln/>
        </p:spPr>
        <p:txBody>
          <a:bodyPr wrap="square" lIns="0" tIns="0" rIns="0" bIns="0" rtlCol="0" anchor="t"/>
          <a:lstStyle/>
          <a:p>
            <a:pPr algn="ctr" indent="0" marL="0">
              <a:buNone/>
            </a:pPr>
            <a:r>
              <a:rPr lang="en-US" sz="1200" dirty="0">
                <a:solidFill>
                  <a:schemeClr val="accent3"/>
                </a:solidFill>
              </a:rPr>
              <a:t>2022</a:t>
            </a:r>
            <a:endParaRPr lang="en-US" sz="1200" dirty="0"/>
          </a:p>
        </p:txBody>
      </p:sp>
      <p:sp>
        <p:nvSpPr>
          <p:cNvPr id="8" name="tick_30"/>
          <p:cNvSpPr/>
          <p:nvPr/>
        </p:nvSpPr>
        <p:spPr>
          <a:xfrm>
            <a:off x="3413684" y="2167128"/>
            <a:ext cx="0" cy="146304"/>
          </a:xfrm>
          <a:prstGeom prst="line">
            <a:avLst/>
          </a:prstGeom>
          <a:noFill/>
          <a:ln w="19050">
            <a:solidFill>
              <a:srgbClr val="2B2D31"/>
            </a:solidFill>
            <a:prstDash val="solid"/>
          </a:ln>
        </p:spPr>
      </p:sp>
      <p:sp>
        <p:nvSpPr>
          <p:cNvPr id="9" name="text_31"/>
          <p:cNvSpPr txBox="1"/>
          <p:nvPr/>
        </p:nvSpPr>
        <p:spPr>
          <a:xfrm>
            <a:off x="3047924" y="2350008"/>
            <a:ext cx="731520" cy="274320"/>
          </a:xfrm>
          <a:prstGeom prst="rect">
            <a:avLst/>
          </a:prstGeom>
          <a:noFill/>
          <a:ln/>
        </p:spPr>
        <p:txBody>
          <a:bodyPr wrap="square" lIns="0" tIns="0" rIns="0" bIns="0" rtlCol="0" anchor="t"/>
          <a:lstStyle/>
          <a:p>
            <a:pPr algn="ctr" indent="0" marL="0">
              <a:buNone/>
            </a:pPr>
            <a:r>
              <a:rPr lang="en-US" sz="1200" dirty="0">
                <a:solidFill>
                  <a:schemeClr val="accent3"/>
                </a:solidFill>
              </a:rPr>
              <a:t>2023</a:t>
            </a:r>
            <a:endParaRPr lang="en-US" sz="1200" dirty="0"/>
          </a:p>
        </p:txBody>
      </p:sp>
      <p:sp>
        <p:nvSpPr>
          <p:cNvPr id="10" name="tick_32"/>
          <p:cNvSpPr/>
          <p:nvPr/>
        </p:nvSpPr>
        <p:spPr>
          <a:xfrm>
            <a:off x="6095848" y="2167128"/>
            <a:ext cx="0" cy="146304"/>
          </a:xfrm>
          <a:prstGeom prst="line">
            <a:avLst/>
          </a:prstGeom>
          <a:noFill/>
          <a:ln w="19050">
            <a:solidFill>
              <a:srgbClr val="2B2D31"/>
            </a:solidFill>
            <a:prstDash val="solid"/>
          </a:ln>
        </p:spPr>
      </p:sp>
      <p:sp>
        <p:nvSpPr>
          <p:cNvPr id="11" name="text_33"/>
          <p:cNvSpPr txBox="1"/>
          <p:nvPr/>
        </p:nvSpPr>
        <p:spPr>
          <a:xfrm>
            <a:off x="5730088" y="2350008"/>
            <a:ext cx="731520" cy="274320"/>
          </a:xfrm>
          <a:prstGeom prst="rect">
            <a:avLst/>
          </a:prstGeom>
          <a:noFill/>
          <a:ln/>
        </p:spPr>
        <p:txBody>
          <a:bodyPr wrap="square" lIns="0" tIns="0" rIns="0" bIns="0" rtlCol="0" anchor="t"/>
          <a:lstStyle/>
          <a:p>
            <a:pPr algn="ctr" indent="0" marL="0">
              <a:buNone/>
            </a:pPr>
            <a:r>
              <a:rPr lang="en-US" sz="1200" dirty="0">
                <a:solidFill>
                  <a:schemeClr val="accent3"/>
                </a:solidFill>
              </a:rPr>
              <a:t>2024</a:t>
            </a:r>
            <a:endParaRPr lang="en-US" sz="1200" dirty="0"/>
          </a:p>
        </p:txBody>
      </p:sp>
      <p:sp>
        <p:nvSpPr>
          <p:cNvPr id="12" name="tick_34"/>
          <p:cNvSpPr/>
          <p:nvPr/>
        </p:nvSpPr>
        <p:spPr>
          <a:xfrm>
            <a:off x="8778011" y="2167128"/>
            <a:ext cx="0" cy="146304"/>
          </a:xfrm>
          <a:prstGeom prst="line">
            <a:avLst/>
          </a:prstGeom>
          <a:noFill/>
          <a:ln w="19050">
            <a:solidFill>
              <a:srgbClr val="2B2D31"/>
            </a:solidFill>
            <a:prstDash val="solid"/>
          </a:ln>
        </p:spPr>
      </p:sp>
      <p:sp>
        <p:nvSpPr>
          <p:cNvPr id="13" name="text_35"/>
          <p:cNvSpPr txBox="1"/>
          <p:nvPr/>
        </p:nvSpPr>
        <p:spPr>
          <a:xfrm>
            <a:off x="8412251" y="2350008"/>
            <a:ext cx="731520" cy="274320"/>
          </a:xfrm>
          <a:prstGeom prst="rect">
            <a:avLst/>
          </a:prstGeom>
          <a:noFill/>
          <a:ln/>
        </p:spPr>
        <p:txBody>
          <a:bodyPr wrap="square" lIns="0" tIns="0" rIns="0" bIns="0" rtlCol="0" anchor="t"/>
          <a:lstStyle/>
          <a:p>
            <a:pPr algn="ctr" indent="0" marL="0">
              <a:buNone/>
            </a:pPr>
            <a:r>
              <a:rPr lang="en-US" sz="1200" dirty="0">
                <a:solidFill>
                  <a:schemeClr val="accent3"/>
                </a:solidFill>
              </a:rPr>
              <a:t>2025</a:t>
            </a:r>
            <a:endParaRPr lang="en-US" sz="1200" dirty="0"/>
          </a:p>
        </p:txBody>
      </p:sp>
      <p:sp>
        <p:nvSpPr>
          <p:cNvPr id="14" name="tick_36"/>
          <p:cNvSpPr/>
          <p:nvPr/>
        </p:nvSpPr>
        <p:spPr>
          <a:xfrm>
            <a:off x="11460175" y="2167128"/>
            <a:ext cx="0" cy="146304"/>
          </a:xfrm>
          <a:prstGeom prst="line">
            <a:avLst/>
          </a:prstGeom>
          <a:noFill/>
          <a:ln w="19050">
            <a:solidFill>
              <a:srgbClr val="2B2D31"/>
            </a:solidFill>
            <a:prstDash val="solid"/>
          </a:ln>
        </p:spPr>
      </p:sp>
      <p:sp>
        <p:nvSpPr>
          <p:cNvPr id="15" name="text_37"/>
          <p:cNvSpPr txBox="1"/>
          <p:nvPr/>
        </p:nvSpPr>
        <p:spPr>
          <a:xfrm>
            <a:off x="11094415" y="2350008"/>
            <a:ext cx="731520" cy="274320"/>
          </a:xfrm>
          <a:prstGeom prst="rect">
            <a:avLst/>
          </a:prstGeom>
          <a:noFill/>
          <a:ln/>
        </p:spPr>
        <p:txBody>
          <a:bodyPr wrap="square" lIns="0" tIns="0" rIns="0" bIns="0" rtlCol="0" anchor="t"/>
          <a:lstStyle/>
          <a:p>
            <a:pPr algn="ctr" indent="0" marL="0">
              <a:buNone/>
            </a:pPr>
            <a:endParaRPr lang="en-US" sz="1200" dirty="0"/>
          </a:p>
        </p:txBody>
      </p:sp>
      <p:sp>
        <p:nvSpPr>
          <p:cNvPr id="16" name="text_38"/>
          <p:cNvSpPr txBox="1"/>
          <p:nvPr/>
        </p:nvSpPr>
        <p:spPr>
          <a:xfrm>
            <a:off x="8168335" y="1828800"/>
            <a:ext cx="3291840" cy="274320"/>
          </a:xfrm>
          <a:prstGeom prst="rect">
            <a:avLst/>
          </a:prstGeom>
          <a:noFill/>
          <a:ln/>
        </p:spPr>
        <p:txBody>
          <a:bodyPr wrap="square" lIns="0" tIns="0" rIns="0" bIns="0" rtlCol="0" anchor="t"/>
          <a:lstStyle/>
          <a:p>
            <a:pPr algn="r" indent="0" marL="0">
              <a:buNone/>
            </a:pPr>
            <a:r>
              <a:rPr lang="en-US" sz="1100" dirty="0">
                <a:solidFill>
                  <a:schemeClr val="accent3"/>
                </a:solidFill>
              </a:rPr>
              <a:t>Study window: Jan 2022 – Dec 2025</a:t>
            </a:r>
            <a:endParaRPr lang="en-US" sz="1100" dirty="0"/>
          </a:p>
        </p:txBody>
      </p:sp>
      <p:sp>
        <p:nvSpPr>
          <p:cNvPr id="17" name="event_39"/>
          <p:cNvSpPr/>
          <p:nvPr/>
        </p:nvSpPr>
        <p:spPr>
          <a:xfrm>
            <a:off x="3206631" y="2121408"/>
            <a:ext cx="237744" cy="237744"/>
          </a:xfrm>
          <a:prstGeom prst="ellipse">
            <a:avLst/>
          </a:prstGeom>
          <a:solidFill>
            <a:schemeClr val="accent1"/>
          </a:solidFill>
          <a:ln w="19050">
            <a:solidFill>
              <a:srgbClr val="111111"/>
            </a:solidFill>
            <a:prstDash val="solid"/>
          </a:ln>
        </p:spPr>
      </p:sp>
      <p:sp>
        <p:nvSpPr>
          <p:cNvPr id="18" name="conn_40"/>
          <p:cNvSpPr/>
          <p:nvPr/>
        </p:nvSpPr>
        <p:spPr>
          <a:xfrm>
            <a:off x="3325503" y="2359152"/>
            <a:ext cx="0" cy="384048"/>
          </a:xfrm>
          <a:prstGeom prst="line">
            <a:avLst/>
          </a:prstGeom>
          <a:noFill/>
          <a:ln w="12700">
            <a:solidFill>
              <a:srgbClr val="8A8F98"/>
            </a:solidFill>
            <a:prstDash val="dash"/>
          </a:ln>
        </p:spPr>
      </p:sp>
      <p:sp>
        <p:nvSpPr>
          <p:cNvPr id="19" name="card_41"/>
          <p:cNvSpPr/>
          <p:nvPr/>
        </p:nvSpPr>
        <p:spPr>
          <a:xfrm>
            <a:off x="548640" y="2743200"/>
            <a:ext cx="5285232" cy="3154680"/>
          </a:xfrm>
          <a:prstGeom prst="roundRect">
            <a:avLst>
              <a:gd name="adj" fmla="val 3478"/>
            </a:avLst>
          </a:prstGeom>
          <a:solidFill>
            <a:schemeClr val="bg2"/>
          </a:solidFill>
          <a:ln/>
        </p:spPr>
      </p:sp>
      <p:sp>
        <p:nvSpPr>
          <p:cNvPr id="20" name="text_42"/>
          <p:cNvSpPr txBox="1"/>
          <p:nvPr/>
        </p:nvSpPr>
        <p:spPr>
          <a:xfrm>
            <a:off x="868680" y="2971800"/>
            <a:ext cx="2743200" cy="274320"/>
          </a:xfrm>
          <a:prstGeom prst="rect">
            <a:avLst/>
          </a:prstGeom>
          <a:noFill/>
          <a:ln/>
        </p:spPr>
        <p:txBody>
          <a:bodyPr wrap="square" lIns="0" tIns="0" rIns="0" bIns="0" rtlCol="0" anchor="t"/>
          <a:lstStyle/>
          <a:p>
            <a:pPr indent="0" marL="0">
              <a:buNone/>
            </a:pPr>
            <a:r>
              <a:rPr lang="en-US" sz="1100" b="1" spc="100" kern="0" dirty="0">
                <a:solidFill>
                  <a:schemeClr val="accent4"/>
                </a:solidFill>
              </a:rPr>
              <a:t>19 DEC 2022</a:t>
            </a:r>
            <a:endParaRPr lang="en-US" sz="1100" dirty="0"/>
          </a:p>
        </p:txBody>
      </p:sp>
      <p:sp>
        <p:nvSpPr>
          <p:cNvPr id="21" name="text_43"/>
          <p:cNvSpPr txBox="1"/>
          <p:nvPr/>
        </p:nvSpPr>
        <p:spPr>
          <a:xfrm>
            <a:off x="868680" y="3246120"/>
            <a:ext cx="4645152" cy="41148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Taxi fare increase</a:t>
            </a:r>
            <a:endParaRPr lang="en-US" sz="2000" dirty="0"/>
          </a:p>
        </p:txBody>
      </p:sp>
      <p:sp>
        <p:nvSpPr>
          <p:cNvPr id="22" name="text_44"/>
          <p:cNvSpPr txBox="1"/>
          <p:nvPr/>
        </p:nvSpPr>
        <p:spPr>
          <a:xfrm>
            <a:off x="868680" y="3794760"/>
            <a:ext cx="2286000" cy="685800"/>
          </a:xfrm>
          <a:prstGeom prst="rect">
            <a:avLst/>
          </a:prstGeom>
          <a:noFill/>
          <a:ln/>
        </p:spPr>
        <p:txBody>
          <a:bodyPr wrap="square" lIns="0" tIns="0" rIns="0" bIns="0" rtlCol="0" anchor="ctr"/>
          <a:lstStyle/>
          <a:p>
            <a:pPr indent="0" marL="0">
              <a:buNone/>
            </a:pPr>
            <a:r>
              <a:rPr lang="en-US" sz="3200" b="1" dirty="0">
                <a:solidFill>
                  <a:schemeClr val="tx1"/>
                </a:solidFill>
                <a:latin typeface="Arial" pitchFamily="34" charset="0"/>
                <a:ea typeface="Arial" pitchFamily="34" charset="-122"/>
                <a:cs typeface="Arial" pitchFamily="34" charset="-120"/>
              </a:rPr>
              <a:t>+23–35%</a:t>
            </a:r>
            <a:endParaRPr lang="en-US" sz="3200" dirty="0"/>
          </a:p>
        </p:txBody>
      </p:sp>
      <p:sp>
        <p:nvSpPr>
          <p:cNvPr id="23" name="text_45"/>
          <p:cNvSpPr txBox="1"/>
          <p:nvPr/>
        </p:nvSpPr>
        <p:spPr>
          <a:xfrm>
            <a:off x="868680" y="4526280"/>
            <a:ext cx="2011680" cy="822960"/>
          </a:xfrm>
          <a:prstGeom prst="rect">
            <a:avLst/>
          </a:prstGeom>
          <a:noFill/>
          <a:ln/>
        </p:spPr>
        <p:txBody>
          <a:bodyPr wrap="square" lIns="0" tIns="0" rIns="0" bIns="0" rtlCol="0" anchor="t"/>
          <a:lstStyle/>
          <a:p>
            <a:pPr indent="0" marL="0">
              <a:buNone/>
            </a:pPr>
            <a:r>
              <a:rPr lang="en-US" sz="1200" dirty="0">
                <a:solidFill>
                  <a:schemeClr val="tx2"/>
                </a:solidFill>
              </a:rPr>
              <a:t>rise in mean meter fare by trip type</a:t>
            </a:r>
            <a:endParaRPr lang="en-US" sz="1200" dirty="0"/>
          </a:p>
        </p:txBody>
      </p:sp>
      <p:sp>
        <p:nvSpPr>
          <p:cNvPr id="24" name="text_46"/>
          <p:cNvSpPr txBox="1"/>
          <p:nvPr/>
        </p:nvSpPr>
        <p:spPr>
          <a:xfrm>
            <a:off x="3063240" y="3840480"/>
            <a:ext cx="2542032" cy="173736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Flag drop  $2.50 → $3.00</a:t>
            </a:r>
            <a:endParaRPr lang="en-US" sz="1350" dirty="0"/>
          </a:p>
          <a:p>
            <a:pPr marL="342900" indent="-342900">
              <a:spcAft>
                <a:spcPts val="600"/>
              </a:spcAft>
              <a:buSzPct val="100000"/>
              <a:buChar char="•"/>
            </a:pPr>
            <a:r>
              <a:rPr lang="en-US" sz="1350" dirty="0">
                <a:solidFill>
                  <a:schemeClr val="tx2"/>
                </a:solidFill>
              </a:rPr>
              <a:t>Per mile  $2.50 → $3.50</a:t>
            </a:r>
            <a:endParaRPr lang="en-US" sz="1350" dirty="0"/>
          </a:p>
          <a:p>
            <a:pPr marL="342900" indent="-342900">
              <a:spcAft>
                <a:spcPts val="600"/>
              </a:spcAft>
              <a:buSzPct val="100000"/>
              <a:buChar char="•"/>
            </a:pPr>
            <a:r>
              <a:rPr lang="en-US" sz="1350" dirty="0">
                <a:solidFill>
                  <a:schemeClr val="tx2"/>
                </a:solidFill>
              </a:rPr>
              <a:t>JFK flat fare  $52 → $70</a:t>
            </a:r>
            <a:endParaRPr lang="en-US" sz="1350" dirty="0"/>
          </a:p>
          <a:p>
            <a:pPr marL="342900" indent="-342900">
              <a:spcAft>
                <a:spcPts val="600"/>
              </a:spcAft>
              <a:buSzPct val="100000"/>
              <a:buChar char="•"/>
            </a:pPr>
            <a:r>
              <a:rPr lang="en-US" sz="1350" dirty="0">
                <a:solidFill>
                  <a:schemeClr val="tx2"/>
                </a:solidFill>
              </a:rPr>
              <a:t>Higher rush-hour and night surcharges</a:t>
            </a:r>
            <a:endParaRPr lang="en-US" sz="1350" dirty="0"/>
          </a:p>
        </p:txBody>
      </p:sp>
      <p:sp>
        <p:nvSpPr>
          <p:cNvPr id="25" name="event_47"/>
          <p:cNvSpPr/>
          <p:nvPr/>
        </p:nvSpPr>
        <p:spPr>
          <a:xfrm>
            <a:off x="8688533" y="2121408"/>
            <a:ext cx="237744" cy="237744"/>
          </a:xfrm>
          <a:prstGeom prst="ellipse">
            <a:avLst/>
          </a:prstGeom>
          <a:solidFill>
            <a:schemeClr val="accent1"/>
          </a:solidFill>
          <a:ln w="19050">
            <a:solidFill>
              <a:srgbClr val="111111"/>
            </a:solidFill>
            <a:prstDash val="solid"/>
          </a:ln>
        </p:spPr>
      </p:sp>
      <p:sp>
        <p:nvSpPr>
          <p:cNvPr id="26" name="conn_48"/>
          <p:cNvSpPr/>
          <p:nvPr/>
        </p:nvSpPr>
        <p:spPr>
          <a:xfrm>
            <a:off x="8807405" y="2359152"/>
            <a:ext cx="0" cy="384048"/>
          </a:xfrm>
          <a:prstGeom prst="line">
            <a:avLst/>
          </a:prstGeom>
          <a:noFill/>
          <a:ln w="12700">
            <a:solidFill>
              <a:srgbClr val="8A8F98"/>
            </a:solidFill>
            <a:prstDash val="dash"/>
          </a:ln>
        </p:spPr>
      </p:sp>
      <p:sp>
        <p:nvSpPr>
          <p:cNvPr id="27" name="card_49"/>
          <p:cNvSpPr/>
          <p:nvPr/>
        </p:nvSpPr>
        <p:spPr>
          <a:xfrm>
            <a:off x="6355080" y="2743200"/>
            <a:ext cx="5285232" cy="3154680"/>
          </a:xfrm>
          <a:prstGeom prst="roundRect">
            <a:avLst>
              <a:gd name="adj" fmla="val 3478"/>
            </a:avLst>
          </a:prstGeom>
          <a:solidFill>
            <a:schemeClr val="bg2"/>
          </a:solidFill>
          <a:ln/>
        </p:spPr>
      </p:sp>
      <p:sp>
        <p:nvSpPr>
          <p:cNvPr id="28" name="text_50"/>
          <p:cNvSpPr txBox="1"/>
          <p:nvPr/>
        </p:nvSpPr>
        <p:spPr>
          <a:xfrm>
            <a:off x="6675120" y="2971800"/>
            <a:ext cx="2743200" cy="274320"/>
          </a:xfrm>
          <a:prstGeom prst="rect">
            <a:avLst/>
          </a:prstGeom>
          <a:noFill/>
          <a:ln/>
        </p:spPr>
        <p:txBody>
          <a:bodyPr wrap="square" lIns="0" tIns="0" rIns="0" bIns="0" rtlCol="0" anchor="t"/>
          <a:lstStyle/>
          <a:p>
            <a:pPr indent="0" marL="0">
              <a:buNone/>
            </a:pPr>
            <a:r>
              <a:rPr lang="en-US" sz="1100" b="1" spc="100" kern="0" dirty="0">
                <a:solidFill>
                  <a:schemeClr val="accent4"/>
                </a:solidFill>
              </a:rPr>
              <a:t>5 JAN 2025</a:t>
            </a:r>
            <a:endParaRPr lang="en-US" sz="1100" dirty="0"/>
          </a:p>
        </p:txBody>
      </p:sp>
      <p:sp>
        <p:nvSpPr>
          <p:cNvPr id="29" name="text_51"/>
          <p:cNvSpPr txBox="1"/>
          <p:nvPr/>
        </p:nvSpPr>
        <p:spPr>
          <a:xfrm>
            <a:off x="6675120" y="3246120"/>
            <a:ext cx="4645152" cy="41148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Congestion pricing</a:t>
            </a:r>
            <a:endParaRPr lang="en-US" sz="2000" dirty="0"/>
          </a:p>
        </p:txBody>
      </p:sp>
      <p:sp>
        <p:nvSpPr>
          <p:cNvPr id="30" name="text_52"/>
          <p:cNvSpPr txBox="1"/>
          <p:nvPr/>
        </p:nvSpPr>
        <p:spPr>
          <a:xfrm>
            <a:off x="6675120" y="3794760"/>
            <a:ext cx="2286000" cy="685800"/>
          </a:xfrm>
          <a:prstGeom prst="rect">
            <a:avLst/>
          </a:prstGeom>
          <a:noFill/>
          <a:ln/>
        </p:spPr>
        <p:txBody>
          <a:bodyPr wrap="square" lIns="0" tIns="0" rIns="0" bIns="0" rtlCol="0" anchor="ctr"/>
          <a:lstStyle/>
          <a:p>
            <a:pPr indent="0" marL="0">
              <a:buNone/>
            </a:pPr>
            <a:r>
              <a:rPr lang="en-US" sz="3200" b="1" dirty="0">
                <a:solidFill>
                  <a:schemeClr val="tx1"/>
                </a:solidFill>
                <a:latin typeface="Arial" pitchFamily="34" charset="0"/>
                <a:ea typeface="Arial" pitchFamily="34" charset="-122"/>
                <a:cs typeface="Arial" pitchFamily="34" charset="-120"/>
              </a:rPr>
              <a:t>$9</a:t>
            </a:r>
            <a:endParaRPr lang="en-US" sz="3200" dirty="0"/>
          </a:p>
        </p:txBody>
      </p:sp>
      <p:sp>
        <p:nvSpPr>
          <p:cNvPr id="31" name="text_53"/>
          <p:cNvSpPr txBox="1"/>
          <p:nvPr/>
        </p:nvSpPr>
        <p:spPr>
          <a:xfrm>
            <a:off x="6675120" y="4526280"/>
            <a:ext cx="2011680" cy="822960"/>
          </a:xfrm>
          <a:prstGeom prst="rect">
            <a:avLst/>
          </a:prstGeom>
          <a:noFill/>
          <a:ln/>
        </p:spPr>
        <p:txBody>
          <a:bodyPr wrap="square" lIns="0" tIns="0" rIns="0" bIns="0" rtlCol="0" anchor="t"/>
          <a:lstStyle/>
          <a:p>
            <a:pPr indent="0" marL="0">
              <a:buNone/>
            </a:pPr>
            <a:r>
              <a:rPr lang="en-US" sz="1200" dirty="0">
                <a:solidFill>
                  <a:schemeClr val="tx2"/>
                </a:solidFill>
              </a:rPr>
              <a:t>peak toll per car per day ($2.25 overnight)</a:t>
            </a:r>
            <a:endParaRPr lang="en-US" sz="1200" dirty="0"/>
          </a:p>
        </p:txBody>
      </p:sp>
      <p:sp>
        <p:nvSpPr>
          <p:cNvPr id="32" name="text_54"/>
          <p:cNvSpPr txBox="1"/>
          <p:nvPr/>
        </p:nvSpPr>
        <p:spPr>
          <a:xfrm>
            <a:off x="8869680" y="3840480"/>
            <a:ext cx="2542032" cy="173736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Zone: Manhattan at and below 60th St</a:t>
            </a:r>
            <a:endParaRPr lang="en-US" sz="1350" dirty="0"/>
          </a:p>
          <a:p>
            <a:pPr marL="342900" indent="-342900">
              <a:spcAft>
                <a:spcPts val="600"/>
              </a:spcAft>
              <a:buSzPct val="100000"/>
              <a:buChar char="•"/>
            </a:pPr>
            <a:r>
              <a:rPr lang="en-US" sz="1350" dirty="0">
                <a:solidFill>
                  <a:schemeClr val="tx2"/>
                </a:solidFill>
              </a:rPr>
              <a:t>Taxi passengers pay $0.75 per trip</a:t>
            </a:r>
            <a:endParaRPr lang="en-US" sz="1350" dirty="0"/>
          </a:p>
          <a:p>
            <a:pPr marL="342900" indent="-342900">
              <a:spcAft>
                <a:spcPts val="600"/>
              </a:spcAft>
              <a:buSzPct val="100000"/>
              <a:buChar char="•"/>
            </a:pPr>
            <a:r>
              <a:rPr lang="en-US" sz="1350" dirty="0">
                <a:solidFill>
                  <a:schemeClr val="tx2"/>
                </a:solidFill>
              </a:rPr>
              <a:t>Uber and Lyft passengers pay $1.50</a:t>
            </a:r>
            <a:endParaRPr lang="en-US" sz="1350" dirty="0"/>
          </a:p>
          <a:p>
            <a:pPr marL="342900" indent="-342900">
              <a:spcAft>
                <a:spcPts val="600"/>
              </a:spcAft>
              <a:buSzPct val="100000"/>
              <a:buChar char="•"/>
            </a:pPr>
            <a:r>
              <a:rPr lang="en-US" sz="1350" dirty="0">
                <a:solidFill>
                  <a:schemeClr val="tx2"/>
                </a:solidFill>
              </a:rPr>
              <a:t>FDR Drive and West Side Highway exempt</a:t>
            </a:r>
            <a:endParaRPr lang="en-US" sz="13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photo_problem" descr="Illustration: Midtown traffic jam of yellow cabs and cars at dusk">    </p:cNvPr>
          <p:cNvPicPr>
            <a:picLocks noChangeAspect="1"/>
          </p:cNvPicPr>
          <p:nvPr/>
        </p:nvPicPr>
        <p:blipFill>
          <a:blip r:embed="rId1"/>
          <a:srcRect l="0" r="0" t="0" b="0"/>
          <a:stretch/>
        </p:blipFill>
        <p:spPr>
          <a:xfrm>
            <a:off x="0" y="0"/>
            <a:ext cx="4206240" cy="6858000"/>
          </a:xfrm>
          <a:prstGeom prst="rect">
            <a:avLst/>
          </a:prstGeom>
        </p:spPr>
      </p:pic>
      <p:sp>
        <p:nvSpPr>
          <p:cNvPr id="4" name="kicker_rp"/>
          <p:cNvSpPr/>
          <p:nvPr/>
        </p:nvSpPr>
        <p:spPr>
          <a:xfrm>
            <a:off x="4709160" y="384048"/>
            <a:ext cx="2011680" cy="292608"/>
          </a:xfrm>
          <a:prstGeom prst="roundRect">
            <a:avLst>
              <a:gd name="adj" fmla="val 40625"/>
            </a:avLst>
          </a:prstGeom>
          <a:solidFill>
            <a:schemeClr val="accent1"/>
          </a:solidFill>
          <a:ln/>
        </p:spPr>
        <p:txBody>
          <a:bodyPr wrap="square" lIns="0" tIns="0" rIns="0" bIns="0" rtlCol="0" anchor="ctr"/>
          <a:lstStyle/>
          <a:p>
            <a:pPr algn="ctr" indent="0" marL="0">
              <a:buNone/>
            </a:pPr>
            <a:r>
              <a:rPr lang="en-US" sz="1050" b="1" spc="150" kern="0" dirty="0">
                <a:solidFill>
                  <a:schemeClr val="tx1"/>
                </a:solidFill>
              </a:rPr>
              <a:t>A · RESEARCH PROBLEM</a:t>
            </a:r>
            <a:endParaRPr lang="en-US" sz="1050" dirty="0"/>
          </a:p>
        </p:txBody>
      </p:sp>
      <p:sp>
        <p:nvSpPr>
          <p:cNvPr id="5" name="text_55"/>
          <p:cNvSpPr txBox="1"/>
          <p:nvPr/>
        </p:nvSpPr>
        <p:spPr>
          <a:xfrm>
            <a:off x="4709160" y="868680"/>
            <a:ext cx="6933895" cy="1097280"/>
          </a:xfrm>
          <a:prstGeom prst="rect">
            <a:avLst/>
          </a:prstGeom>
          <a:noFill/>
          <a:ln/>
        </p:spPr>
        <p:txBody>
          <a:bodyPr wrap="square" lIns="0" tIns="0" rIns="0" bIns="0" rtlCol="0" anchor="t"/>
          <a:lstStyle/>
          <a:p>
            <a:pPr indent="0" marL="0">
              <a:buNone/>
            </a:pPr>
            <a:r>
              <a:rPr lang="en-US" sz="3000" b="1" dirty="0">
                <a:solidFill>
                  <a:schemeClr val="tx1"/>
                </a:solidFill>
                <a:latin typeface="Arial" pitchFamily="34" charset="0"/>
                <a:ea typeface="Arial" pitchFamily="34" charset="-122"/>
                <a:cs typeface="Arial" pitchFamily="34" charset="-120"/>
              </a:rPr>
              <a:t>How did the taxi market adjust when relative prices changed?</a:t>
            </a:r>
            <a:endParaRPr lang="en-US" sz="3000" dirty="0"/>
          </a:p>
        </p:txBody>
      </p:sp>
      <p:sp>
        <p:nvSpPr>
          <p:cNvPr id="6" name="card_56"/>
          <p:cNvSpPr/>
          <p:nvPr/>
        </p:nvSpPr>
        <p:spPr>
          <a:xfrm>
            <a:off x="4709160" y="2240280"/>
            <a:ext cx="3329788" cy="1645920"/>
          </a:xfrm>
          <a:prstGeom prst="roundRect">
            <a:avLst>
              <a:gd name="adj" fmla="val 6667"/>
            </a:avLst>
          </a:prstGeom>
          <a:solidFill>
            <a:schemeClr val="bg2"/>
          </a:solidFill>
          <a:ln/>
        </p:spPr>
      </p:sp>
      <p:sp>
        <p:nvSpPr>
          <p:cNvPr id="7" name="num_57"/>
          <p:cNvSpPr/>
          <p:nvPr/>
        </p:nvSpPr>
        <p:spPr>
          <a:xfrm>
            <a:off x="4983480" y="2514600"/>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8" name="text_58"/>
          <p:cNvSpPr txBox="1"/>
          <p:nvPr/>
        </p:nvSpPr>
        <p:spPr>
          <a:xfrm>
            <a:off x="5532120" y="2514600"/>
            <a:ext cx="2323948" cy="384048"/>
          </a:xfrm>
          <a:prstGeom prst="rect">
            <a:avLst/>
          </a:prstGeom>
          <a:noFill/>
          <a:ln/>
        </p:spPr>
        <p:txBody>
          <a:bodyPr wrap="square" lIns="0" tIns="0" rIns="0" bIns="0" rtlCol="0" anchor="ctr"/>
          <a:lstStyle/>
          <a:p>
            <a:pPr indent="0" marL="0">
              <a:buNone/>
            </a:pPr>
            <a:r>
              <a:rPr lang="en-US" sz="1700" b="1" dirty="0">
                <a:solidFill>
                  <a:schemeClr val="tx1"/>
                </a:solidFill>
              </a:rPr>
              <a:t>Transport costs</a:t>
            </a:r>
            <a:endParaRPr lang="en-US" sz="1700" dirty="0"/>
          </a:p>
        </p:txBody>
      </p:sp>
      <p:sp>
        <p:nvSpPr>
          <p:cNvPr id="9" name="text_59"/>
          <p:cNvSpPr txBox="1"/>
          <p:nvPr/>
        </p:nvSpPr>
        <p:spPr>
          <a:xfrm>
            <a:off x="4983480" y="3017520"/>
            <a:ext cx="2826868" cy="777240"/>
          </a:xfrm>
          <a:prstGeom prst="rect">
            <a:avLst/>
          </a:prstGeom>
          <a:noFill/>
          <a:ln/>
        </p:spPr>
        <p:txBody>
          <a:bodyPr wrap="square" lIns="0" tIns="0" rIns="0" bIns="0" rtlCol="0" anchor="t"/>
          <a:lstStyle/>
          <a:p>
            <a:pPr indent="0" marL="0">
              <a:buNone/>
            </a:pPr>
            <a:r>
              <a:rPr lang="en-US" sz="1300" dirty="0">
                <a:solidFill>
                  <a:schemeClr val="tx2"/>
                </a:solidFill>
              </a:rPr>
              <a:t>A trip’s cost is its fare plus the time it takes. Less congestion lowers the time cost for every road user.</a:t>
            </a:r>
            <a:endParaRPr lang="en-US" sz="1300" dirty="0"/>
          </a:p>
        </p:txBody>
      </p:sp>
      <p:sp>
        <p:nvSpPr>
          <p:cNvPr id="10" name="card_60"/>
          <p:cNvSpPr/>
          <p:nvPr/>
        </p:nvSpPr>
        <p:spPr>
          <a:xfrm>
            <a:off x="8313268" y="2240280"/>
            <a:ext cx="3329788" cy="1645920"/>
          </a:xfrm>
          <a:prstGeom prst="roundRect">
            <a:avLst>
              <a:gd name="adj" fmla="val 6667"/>
            </a:avLst>
          </a:prstGeom>
          <a:solidFill>
            <a:schemeClr val="bg2"/>
          </a:solidFill>
          <a:ln/>
        </p:spPr>
      </p:sp>
      <p:sp>
        <p:nvSpPr>
          <p:cNvPr id="11" name="num_61"/>
          <p:cNvSpPr/>
          <p:nvPr/>
        </p:nvSpPr>
        <p:spPr>
          <a:xfrm>
            <a:off x="8587588" y="2514600"/>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2" name="text_62"/>
          <p:cNvSpPr txBox="1"/>
          <p:nvPr/>
        </p:nvSpPr>
        <p:spPr>
          <a:xfrm>
            <a:off x="9136228" y="2514600"/>
            <a:ext cx="2323948" cy="384048"/>
          </a:xfrm>
          <a:prstGeom prst="rect">
            <a:avLst/>
          </a:prstGeom>
          <a:noFill/>
          <a:ln/>
        </p:spPr>
        <p:txBody>
          <a:bodyPr wrap="square" lIns="0" tIns="0" rIns="0" bIns="0" rtlCol="0" anchor="ctr"/>
          <a:lstStyle/>
          <a:p>
            <a:pPr indent="0" marL="0">
              <a:buNone/>
            </a:pPr>
            <a:r>
              <a:rPr lang="en-US" sz="1700" b="1" dirty="0">
                <a:solidFill>
                  <a:schemeClr val="tx1"/>
                </a:solidFill>
              </a:rPr>
              <a:t>Relative prices</a:t>
            </a:r>
            <a:endParaRPr lang="en-US" sz="1700" dirty="0"/>
          </a:p>
        </p:txBody>
      </p:sp>
      <p:sp>
        <p:nvSpPr>
          <p:cNvPr id="13" name="text_63"/>
          <p:cNvSpPr txBox="1"/>
          <p:nvPr/>
        </p:nvSpPr>
        <p:spPr>
          <a:xfrm>
            <a:off x="8587588" y="3017520"/>
            <a:ext cx="2826868" cy="777240"/>
          </a:xfrm>
          <a:prstGeom prst="rect">
            <a:avLst/>
          </a:prstGeom>
          <a:noFill/>
          <a:ln/>
        </p:spPr>
        <p:txBody>
          <a:bodyPr wrap="square" lIns="0" tIns="0" rIns="0" bIns="0" rtlCol="0" anchor="t"/>
          <a:lstStyle/>
          <a:p>
            <a:pPr indent="0" marL="0">
              <a:buNone/>
            </a:pPr>
            <a:r>
              <a:rPr lang="en-US" sz="1300" dirty="0">
                <a:solidFill>
                  <a:schemeClr val="tx2"/>
                </a:solidFill>
              </a:rPr>
              <a:t>The toll raises the cost of driving ($9) far more than a taxi trip ($0.75): taxis became relatively cheaper.</a:t>
            </a:r>
            <a:endParaRPr lang="en-US" sz="1300" dirty="0"/>
          </a:p>
        </p:txBody>
      </p:sp>
      <p:sp>
        <p:nvSpPr>
          <p:cNvPr id="14" name="card_64"/>
          <p:cNvSpPr/>
          <p:nvPr/>
        </p:nvSpPr>
        <p:spPr>
          <a:xfrm>
            <a:off x="4709160" y="4114800"/>
            <a:ext cx="3329788" cy="1645920"/>
          </a:xfrm>
          <a:prstGeom prst="roundRect">
            <a:avLst>
              <a:gd name="adj" fmla="val 6667"/>
            </a:avLst>
          </a:prstGeom>
          <a:solidFill>
            <a:schemeClr val="bg2"/>
          </a:solidFill>
          <a:ln/>
        </p:spPr>
      </p:sp>
      <p:sp>
        <p:nvSpPr>
          <p:cNvPr id="15" name="num_65"/>
          <p:cNvSpPr/>
          <p:nvPr/>
        </p:nvSpPr>
        <p:spPr>
          <a:xfrm>
            <a:off x="4983480" y="4389120"/>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6" name="text_66"/>
          <p:cNvSpPr txBox="1"/>
          <p:nvPr/>
        </p:nvSpPr>
        <p:spPr>
          <a:xfrm>
            <a:off x="5532120" y="4389120"/>
            <a:ext cx="2323948" cy="384048"/>
          </a:xfrm>
          <a:prstGeom prst="rect">
            <a:avLst/>
          </a:prstGeom>
          <a:noFill/>
          <a:ln/>
        </p:spPr>
        <p:txBody>
          <a:bodyPr wrap="square" lIns="0" tIns="0" rIns="0" bIns="0" rtlCol="0" anchor="ctr"/>
          <a:lstStyle/>
          <a:p>
            <a:pPr indent="0" marL="0">
              <a:buNone/>
            </a:pPr>
            <a:r>
              <a:rPr lang="en-US" sz="1700" b="1" dirty="0">
                <a:solidFill>
                  <a:schemeClr val="tx1"/>
                </a:solidFill>
              </a:rPr>
              <a:t>Consumer behaviour</a:t>
            </a:r>
            <a:endParaRPr lang="en-US" sz="1700" dirty="0"/>
          </a:p>
        </p:txBody>
      </p:sp>
      <p:sp>
        <p:nvSpPr>
          <p:cNvPr id="17" name="text_67"/>
          <p:cNvSpPr txBox="1"/>
          <p:nvPr/>
        </p:nvSpPr>
        <p:spPr>
          <a:xfrm>
            <a:off x="4983480" y="4892040"/>
            <a:ext cx="2826868" cy="777240"/>
          </a:xfrm>
          <a:prstGeom prst="rect">
            <a:avLst/>
          </a:prstGeom>
          <a:noFill/>
          <a:ln/>
        </p:spPr>
        <p:txBody>
          <a:bodyPr wrap="square" lIns="0" tIns="0" rIns="0" bIns="0" rtlCol="0" anchor="t"/>
          <a:lstStyle/>
          <a:p>
            <a:pPr indent="0" marL="0">
              <a:buNone/>
            </a:pPr>
            <a:r>
              <a:rPr lang="en-US" sz="1300" dirty="0">
                <a:solidFill>
                  <a:schemeClr val="tx2"/>
                </a:solidFill>
              </a:rPr>
              <a:t>When fares rise, do riders cut trips, shorten them, or switch to transit and ride-hail?</a:t>
            </a:r>
            <a:endParaRPr lang="en-US" sz="1300" dirty="0"/>
          </a:p>
        </p:txBody>
      </p:sp>
      <p:sp>
        <p:nvSpPr>
          <p:cNvPr id="18" name="card_68"/>
          <p:cNvSpPr/>
          <p:nvPr/>
        </p:nvSpPr>
        <p:spPr>
          <a:xfrm>
            <a:off x="8313268" y="4114800"/>
            <a:ext cx="3329788" cy="1645920"/>
          </a:xfrm>
          <a:prstGeom prst="roundRect">
            <a:avLst>
              <a:gd name="adj" fmla="val 6667"/>
            </a:avLst>
          </a:prstGeom>
          <a:solidFill>
            <a:schemeClr val="bg2"/>
          </a:solidFill>
          <a:ln/>
        </p:spPr>
      </p:sp>
      <p:sp>
        <p:nvSpPr>
          <p:cNvPr id="19" name="num_69"/>
          <p:cNvSpPr/>
          <p:nvPr/>
        </p:nvSpPr>
        <p:spPr>
          <a:xfrm>
            <a:off x="8587588" y="4389120"/>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20" name="text_70"/>
          <p:cNvSpPr txBox="1"/>
          <p:nvPr/>
        </p:nvSpPr>
        <p:spPr>
          <a:xfrm>
            <a:off x="9136228" y="4389120"/>
            <a:ext cx="2323948" cy="384048"/>
          </a:xfrm>
          <a:prstGeom prst="rect">
            <a:avLst/>
          </a:prstGeom>
          <a:noFill/>
          <a:ln/>
        </p:spPr>
        <p:txBody>
          <a:bodyPr wrap="square" lIns="0" tIns="0" rIns="0" bIns="0" rtlCol="0" anchor="ctr"/>
          <a:lstStyle/>
          <a:p>
            <a:pPr indent="0" marL="0">
              <a:buNone/>
            </a:pPr>
            <a:r>
              <a:rPr lang="en-US" sz="1700" b="1" dirty="0">
                <a:solidFill>
                  <a:schemeClr val="tx1"/>
                </a:solidFill>
              </a:rPr>
              <a:t>Urban mobility</a:t>
            </a:r>
            <a:endParaRPr lang="en-US" sz="1700" dirty="0"/>
          </a:p>
        </p:txBody>
      </p:sp>
      <p:sp>
        <p:nvSpPr>
          <p:cNvPr id="21" name="text_71"/>
          <p:cNvSpPr txBox="1"/>
          <p:nvPr/>
        </p:nvSpPr>
        <p:spPr>
          <a:xfrm>
            <a:off x="8587588" y="4892040"/>
            <a:ext cx="2826868" cy="777240"/>
          </a:xfrm>
          <a:prstGeom prst="rect">
            <a:avLst/>
          </a:prstGeom>
          <a:noFill/>
          <a:ln/>
        </p:spPr>
        <p:txBody>
          <a:bodyPr wrap="square" lIns="0" tIns="0" rIns="0" bIns="0" rtlCol="0" anchor="t"/>
          <a:lstStyle/>
          <a:p>
            <a:pPr indent="0" marL="0">
              <a:buNone/>
            </a:pPr>
            <a:r>
              <a:rPr lang="en-US" sz="1300" dirty="0">
                <a:solidFill>
                  <a:schemeClr val="tx2"/>
                </a:solidFill>
              </a:rPr>
              <a:t>Faster streets help buses, deliveries and emergency vehicles, the stated aim of the policy.</a:t>
            </a:r>
            <a:endParaRPr lang="en-US" sz="1300" dirty="0"/>
          </a:p>
        </p:txBody>
      </p:sp>
      <p:sp>
        <p:nvSpPr>
          <p:cNvPr id="22" name="Text 1"/>
          <p:cNvSpPr/>
          <p:nvPr>
            <p:ph idx="101" type="title" hasCustomPrompt="1"/>
          </p:nvPr>
        </p:nvSpPr>
        <p:spPr>
          <a:xfrm>
            <a:off x="548640" y="868680"/>
            <a:ext cx="11094415" cy="777240"/>
          </a:xfrm>
          <a:prstGeom prst="rect">
            <a:avLst/>
          </a:prstGeom>
          <a:noFill/>
          <a:ln/>
        </p:spPr>
        <p:txBody>
          <a:bodyPr wrap="square" lIns="0" tIns="0" rIns="0" bIns="0" rtlCol="0" anchor="t"/>
          <a:lstStyle/>
          <a:p>
            <a:pPr algn="l" indent="0" marL="0">
              <a:buNone/>
            </a:pPr>
            <a:endParaRPr lang="en-US" sz="3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_72"/>
          <p:cNvSpPr/>
          <p:nvPr/>
        </p:nvSpPr>
        <p:spPr>
          <a:xfrm>
            <a:off x="548640" y="384048"/>
            <a:ext cx="2545690" cy="292608"/>
          </a:xfrm>
          <a:prstGeom prst="roundRect">
            <a:avLst>
              <a:gd name="adj" fmla="val 40625"/>
            </a:avLst>
          </a:prstGeom>
          <a:solidFill>
            <a:schemeClr val="accent1"/>
          </a:solidFill>
          <a:ln/>
        </p:spPr>
        <p:txBody>
          <a:bodyPr wrap="square" lIns="0" tIns="0" rIns="0" bIns="0" rtlCol="0" anchor="ctr"/>
          <a:lstStyle/>
          <a:p>
            <a:pPr algn="ctr" indent="0" marL="0">
              <a:buNone/>
            </a:pPr>
            <a:r>
              <a:rPr lang="en-US" sz="1050" b="1" spc="150" kern="0" dirty="0">
                <a:solidFill>
                  <a:schemeClr val="tx1"/>
                </a:solidFill>
              </a:rPr>
              <a:t>A · OBJECTIVES AND QUESTIONS</a:t>
            </a:r>
            <a:endParaRPr lang="en-US" sz="1050" dirty="0"/>
          </a:p>
        </p:txBody>
      </p:sp>
      <p:sp>
        <p:nvSpPr>
          <p:cNvPr id="3" name="Text 1"/>
          <p:cNvSpPr/>
          <p:nvPr>
            <p:ph idx="101" type="title" hasCustomPrompt="1"/>
          </p:nvPr>
        </p:nvSpPr>
        <p:spPr>
          <a:xfrm>
            <a:off x="548640" y="868680"/>
            <a:ext cx="11094415" cy="77724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Five questions, from observed patterns to causal effects</a:t>
            </a:r>
            <a:endParaRPr lang="en-US" sz="3000" dirty="0"/>
          </a:p>
        </p:txBody>
      </p:sp>
      <p:graphicFrame>
        <p:nvGraphicFramePr>
          <p:cNvPr id="6" name="objectives_table"/>
          <p:cNvGraphicFramePr>
            <a:graphicFrameLocks noGrp="1"/>
          </p:cNvGraphicFramePr>
          <p:nvPr>
            <p:extLst>
              <p:ext uri="{D42A27DB-BD31-4B8C-83A1-F6EECF244321}">
                <p14:modId xmlns:p14="http://schemas.microsoft.com/office/powerpoint/2010/main" val="1579011935"/>
              </p:ext>
            </p:extLst>
          </p:nvPr>
        </p:nvGraphicFramePr>
        <p:xfrm>
          <a:off x="548640" y="1828800"/>
          <a:ext cx="11094415" cy="914400"/>
        </p:xfrm>
        <a:graphic>
          <a:graphicData uri="http://schemas.openxmlformats.org/drawingml/2006/table">
            <a:tbl>
              <a:tblPr/>
              <a:tblGrid>
                <a:gridCol w="457200"/>
                <a:gridCol w="3017520"/>
                <a:gridCol w="3429000"/>
                <a:gridCol w="2514600"/>
                <a:gridCol w="1673352"/>
              </a:tblGrid>
              <a:tr h="384048">
                <a:tc>
                  <a:txBody>
                    <a:bodyPr/>
                    <a:lstStyle/>
                    <a:p>
                      <a:pPr indent="0" marL="0">
                        <a:buNone/>
                      </a:pPr>
                      <a:endParaRPr lang="en-US" sz="1250" dirty="0">
                        <a:latin typeface="Calibri" charset="0"/>
                        <a:ea typeface="Calibri" charset="0"/>
                        <a:cs typeface="Calibri" charset="0"/>
                      </a:endParaRPr>
                    </a:p>
                  </a:txBody>
                  <a:tcPr marL="101600" marR="101600" marT="50800" marB="50800" anchor="ctr">
                    <a:lnL w="9525" cap="flat" cmpd="sng" algn="ctr">
                      <a:solidFill>
                        <a:srgbClr val="E1E1E1"/>
                      </a:solidFill>
                      <a:prstDash val="solid"/>
                      <a:round/>
                      <a:headEnd type="none" w="med" len="med"/>
                      <a:tailEnd type="none" w="med" len="med"/>
                    </a:lnL>
                    <a:lnR w="9525" cap="flat" cmpd="sng" algn="ctr">
                      <a:solidFill>
                        <a:srgbClr val="E1E1E1"/>
                      </a:solidFill>
                      <a:prstDash val="solid"/>
                      <a:round/>
                      <a:headEnd type="none" w="med" len="med"/>
                      <a:tailEnd type="none" w="med" len="med"/>
                    </a:lnR>
                    <a:lnT w="9525" cap="flat" cmpd="sng" algn="ctr">
                      <a:solidFill>
                        <a:srgbClr val="E1E1E1"/>
                      </a:solidFill>
                      <a:prstDash val="solid"/>
                      <a:round/>
                      <a:headEnd type="none" w="med" len="med"/>
                      <a:tailEnd type="none" w="med" len="med"/>
                    </a:lnT>
                    <a:lnB w="9525" cap="flat" cmpd="sng" algn="ctr">
                      <a:solidFill>
                        <a:srgbClr val="E1E1E1"/>
                      </a:solidFill>
                      <a:prstDash val="solid"/>
                      <a:round/>
                      <a:headEnd type="none" w="med" len="med"/>
                      <a:tailEnd type="none" w="med" len="med"/>
                    </a:lnB>
                    <a:solidFill>
                      <a:srgbClr val="111111"/>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Research question</a:t>
                      </a:r>
                      <a:endParaRPr lang="en-US" sz="1250" dirty="0">
                        <a:latin typeface="Calibri" charset="0"/>
                        <a:ea typeface="Calibri" charset="0"/>
                        <a:cs typeface="Calibri" charset="0"/>
                      </a:endParaRPr>
                    </a:p>
                  </a:txBody>
                  <a:tcPr marL="101600" marR="101600" marT="50800" marB="50800" anchor="ctr">
                    <a:lnL w="9525" cap="flat" cmpd="sng" algn="ctr">
                      <a:solidFill>
                        <a:srgbClr val="E1E1E1"/>
                      </a:solidFill>
                      <a:prstDash val="solid"/>
                      <a:round/>
                      <a:headEnd type="none" w="med" len="med"/>
                      <a:tailEnd type="none" w="med" len="med"/>
                    </a:lnL>
                    <a:lnR w="9525" cap="flat" cmpd="sng" algn="ctr">
                      <a:solidFill>
                        <a:srgbClr val="E1E1E1"/>
                      </a:solidFill>
                      <a:prstDash val="solid"/>
                      <a:round/>
                      <a:headEnd type="none" w="med" len="med"/>
                      <a:tailEnd type="none" w="med" len="med"/>
                    </a:lnR>
                    <a:lnT w="9525" cap="flat" cmpd="sng" algn="ctr">
                      <a:solidFill>
                        <a:srgbClr val="E1E1E1"/>
                      </a:solidFill>
                      <a:prstDash val="solid"/>
                      <a:round/>
                      <a:headEnd type="none" w="med" len="med"/>
                      <a:tailEnd type="none" w="med" len="med"/>
                    </a:lnT>
                    <a:lnB w="9525" cap="flat" cmpd="sng" algn="ctr">
                      <a:solidFill>
                        <a:srgbClr val="E1E1E1"/>
                      </a:solidFill>
                      <a:prstDash val="solid"/>
                      <a:round/>
                      <a:headEnd type="none" w="med" len="med"/>
                      <a:tailEnd type="none" w="med" len="med"/>
                    </a:lnB>
                    <a:solidFill>
                      <a:srgbClr val="111111"/>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Objective</a:t>
                      </a:r>
                      <a:endParaRPr lang="en-US" sz="1250" dirty="0">
                        <a:latin typeface="Calibri" charset="0"/>
                        <a:ea typeface="Calibri" charset="0"/>
                        <a:cs typeface="Calibri" charset="0"/>
                      </a:endParaRPr>
                    </a:p>
                  </a:txBody>
                  <a:tcPr marL="101600" marR="101600" marT="50800" marB="50800" anchor="ctr">
                    <a:lnL w="9525" cap="flat" cmpd="sng" algn="ctr">
                      <a:solidFill>
                        <a:srgbClr val="E1E1E1"/>
                      </a:solidFill>
                      <a:prstDash val="solid"/>
                      <a:round/>
                      <a:headEnd type="none" w="med" len="med"/>
                      <a:tailEnd type="none" w="med" len="med"/>
                    </a:lnL>
                    <a:lnR w="9525" cap="flat" cmpd="sng" algn="ctr">
                      <a:solidFill>
                        <a:srgbClr val="E1E1E1"/>
                      </a:solidFill>
                      <a:prstDash val="solid"/>
                      <a:round/>
                      <a:headEnd type="none" w="med" len="med"/>
                      <a:tailEnd type="none" w="med" len="med"/>
                    </a:lnR>
                    <a:lnT w="9525" cap="flat" cmpd="sng" algn="ctr">
                      <a:solidFill>
                        <a:srgbClr val="E1E1E1"/>
                      </a:solidFill>
                      <a:prstDash val="solid"/>
                      <a:round/>
                      <a:headEnd type="none" w="med" len="med"/>
                      <a:tailEnd type="none" w="med" len="med"/>
                    </a:lnT>
                    <a:lnB w="9525" cap="flat" cmpd="sng" algn="ctr">
                      <a:solidFill>
                        <a:srgbClr val="E1E1E1"/>
                      </a:solidFill>
                      <a:prstDash val="solid"/>
                      <a:round/>
                      <a:headEnd type="none" w="med" len="med"/>
                      <a:tailEnd type="none" w="med" len="med"/>
                    </a:lnB>
                    <a:solidFill>
                      <a:srgbClr val="111111"/>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Evidence</a:t>
                      </a:r>
                      <a:endParaRPr lang="en-US" sz="1250" dirty="0">
                        <a:latin typeface="Calibri" charset="0"/>
                        <a:ea typeface="Calibri" charset="0"/>
                        <a:cs typeface="Calibri" charset="0"/>
                      </a:endParaRPr>
                    </a:p>
                  </a:txBody>
                  <a:tcPr marL="101600" marR="101600" marT="50800" marB="50800" anchor="ctr">
                    <a:lnL w="9525" cap="flat" cmpd="sng" algn="ctr">
                      <a:solidFill>
                        <a:srgbClr val="E1E1E1"/>
                      </a:solidFill>
                      <a:prstDash val="solid"/>
                      <a:round/>
                      <a:headEnd type="none" w="med" len="med"/>
                      <a:tailEnd type="none" w="med" len="med"/>
                    </a:lnL>
                    <a:lnR w="9525" cap="flat" cmpd="sng" algn="ctr">
                      <a:solidFill>
                        <a:srgbClr val="E1E1E1"/>
                      </a:solidFill>
                      <a:prstDash val="solid"/>
                      <a:round/>
                      <a:headEnd type="none" w="med" len="med"/>
                      <a:tailEnd type="none" w="med" len="med"/>
                    </a:lnR>
                    <a:lnT w="9525" cap="flat" cmpd="sng" algn="ctr">
                      <a:solidFill>
                        <a:srgbClr val="E1E1E1"/>
                      </a:solidFill>
                      <a:prstDash val="solid"/>
                      <a:round/>
                      <a:headEnd type="none" w="med" len="med"/>
                      <a:tailEnd type="none" w="med" len="med"/>
                    </a:lnT>
                    <a:lnB w="9525" cap="flat" cmpd="sng" algn="ctr">
                      <a:solidFill>
                        <a:srgbClr val="E1E1E1"/>
                      </a:solidFill>
                      <a:prstDash val="solid"/>
                      <a:round/>
                      <a:headEnd type="none" w="med" len="med"/>
                      <a:tailEnd type="none" w="med" len="med"/>
                    </a:lnB>
                    <a:solidFill>
                      <a:srgbClr val="111111"/>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Identification</a:t>
                      </a:r>
                      <a:endParaRPr lang="en-US" sz="1250" dirty="0">
                        <a:latin typeface="Calibri" charset="0"/>
                        <a:ea typeface="Calibri" charset="0"/>
                        <a:cs typeface="Calibri" charset="0"/>
                      </a:endParaRPr>
                    </a:p>
                  </a:txBody>
                  <a:tcPr marL="101600" marR="101600" marT="50800" marB="50800" anchor="ctr">
                    <a:lnL w="9525" cap="flat" cmpd="sng" algn="ctr">
                      <a:solidFill>
                        <a:srgbClr val="E1E1E1"/>
                      </a:solidFill>
                      <a:prstDash val="solid"/>
                      <a:round/>
                      <a:headEnd type="none" w="med" len="med"/>
                      <a:tailEnd type="none" w="med" len="med"/>
                    </a:lnL>
                    <a:lnR w="9525" cap="flat" cmpd="sng" algn="ctr">
                      <a:solidFill>
                        <a:srgbClr val="E1E1E1"/>
                      </a:solidFill>
                      <a:prstDash val="solid"/>
                      <a:round/>
                      <a:headEnd type="none" w="med" len="med"/>
                      <a:tailEnd type="none" w="med" len="med"/>
                    </a:lnR>
                    <a:lnT w="9525" cap="flat" cmpd="sng" algn="ctr">
                      <a:solidFill>
                        <a:srgbClr val="E1E1E1"/>
                      </a:solidFill>
                      <a:prstDash val="solid"/>
                      <a:round/>
                      <a:headEnd type="none" w="med" len="med"/>
                      <a:tailEnd type="none" w="med" len="med"/>
                    </a:lnT>
                    <a:lnB w="9525" cap="flat" cmpd="sng" algn="ctr">
                      <a:solidFill>
                        <a:srgbClr val="E1E1E1"/>
                      </a:solidFill>
                      <a:prstDash val="solid"/>
                      <a:round/>
                      <a:headEnd type="none" w="med" len="med"/>
                      <a:tailEnd type="none" w="med" len="med"/>
                    </a:lnB>
                    <a:solidFill>
                      <a:srgbClr val="111111"/>
                    </a:solidFill>
                  </a:tcPr>
                </a:tc>
              </a:tr>
              <a:tr h="713232">
                <a:tc>
                  <a:txBody>
                    <a:bodyPr/>
                    <a:lstStyle/>
                    <a:p>
                      <a:pPr algn="ctr" indent="0" marL="0">
                        <a:buNone/>
                      </a:pPr>
                      <a:r>
                        <a:rPr lang="en-US" sz="1600" b="1" dirty="0">
                          <a:solidFill>
                            <a:srgbClr val="B88600"/>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101600" marR="101600" marT="50800" marB="50800" anchor="ctr">
                    <a:lnL w="9525" cap="flat" cmpd="sng" algn="ctr">
                      <a:solidFill>
                        <a:srgbClr val="E1E1E1"/>
                      </a:solidFill>
                      <a:prstDash val="solid"/>
                      <a:round/>
                      <a:headEnd type="none" w="med" len="med"/>
                      <a:tailEnd type="none" w="med" len="med"/>
                    </a:lnL>
                    <a:lnR w="9525" cap="flat" cmpd="sng" algn="ctr">
                      <a:solidFill>
                        <a:srgbClr val="E1E1E1"/>
                      </a:solidFill>
                      <a:prstDash val="solid"/>
                      <a:round/>
                      <a:headEnd type="none" w="med" len="med"/>
                      <a:tailEnd type="none" w="med" len="med"/>
                    </a:lnR>
                    <a:lnT w="9525" cap="flat" cmpd="sng" algn="ctr">
                      <a:solidFill>
                        <a:srgbClr val="E1E1E1"/>
                      </a:solidFill>
                      <a:prstDash val="solid"/>
                      <a:round/>
                      <a:headEnd type="none" w="med" len="med"/>
                      <a:tailEnd type="none" w="med" len="med"/>
                    </a:lnT>
                    <a:lnB w="9525" cap="flat" cmpd="sng" algn="ctr">
                      <a:solidFill>
                        <a:srgbClr val="E1E1E1"/>
                      </a:solidFill>
                      <a:prstDash val="solid"/>
                      <a:round/>
                      <a:headEnd type="none" w="med" len="med"/>
                      <a:tailEnd type="none" w="med" len="med"/>
                    </a:lnB>
                  </a:tcPr>
                </a:tc>
                <a:tc>
                  <a:txBody>
                    <a:bodyPr/>
                    <a:lstStyle/>
                    <a:p>
                      <a:pPr indent="0" marL="0">
                        <a:buNone/>
                      </a:pPr>
                      <a:r>
                        <a:rPr lang="en-US" sz="1250" b="1" dirty="0">
                          <a:solidFill>
                            <a:srgbClr val="2B2D31"/>
                          </a:solidFill>
                          <a:latin typeface="Calibri" pitchFamily="34" charset="0"/>
                          <a:ea typeface="Calibri" pitchFamily="34" charset="-122"/>
                          <a:cs typeface="Calibri" pitchFamily="34" charset="-120"/>
                        </a:rPr>
                        <a:t>How did trip volumes and trip characteristics change?</a:t>
                      </a:r>
                      <a:endParaRPr lang="en-US" sz="1250" dirty="0">
                        <a:latin typeface="Calibri" charset="0"/>
                        <a:ea typeface="Calibri" charset="0"/>
                        <a:cs typeface="Calibri" charset="0"/>
                      </a:endParaRPr>
                    </a:p>
                  </a:txBody>
                  <a:tcPr marL="101600" marR="101600" marT="50800" marB="50800" anchor="ctr">
                    <a:lnL w="9525" cap="flat" cmpd="sng" algn="ctr">
                      <a:solidFill>
                        <a:srgbClr val="E1E1E1"/>
                      </a:solidFill>
                      <a:prstDash val="solid"/>
                      <a:round/>
                      <a:headEnd type="none" w="med" len="med"/>
                      <a:tailEnd type="none" w="med" len="med"/>
                    </a:lnL>
                    <a:lnR w="9525" cap="flat" cmpd="sng" algn="ctr">
                      <a:solidFill>
                        <a:srgbClr val="E1E1E1"/>
                      </a:solidFill>
                      <a:prstDash val="solid"/>
                      <a:round/>
                      <a:headEnd type="none" w="med" len="med"/>
                      <a:tailEnd type="none" w="med" len="med"/>
                    </a:lnR>
                    <a:lnT w="9525" cap="flat" cmpd="sng" algn="ctr">
                      <a:solidFill>
                        <a:srgbClr val="E1E1E1"/>
                      </a:solidFill>
                      <a:prstDash val="solid"/>
                      <a:round/>
                      <a:headEnd type="none" w="med" len="med"/>
                      <a:tailEnd type="none" w="med" len="med"/>
                    </a:lnT>
                    <a:lnB w="9525" cap="flat" cmpd="sng" algn="ctr">
                      <a:solidFill>
                        <a:srgbClr val="E1E1E1"/>
                      </a:solidFill>
                      <a:prstDash val="solid"/>
                      <a:round/>
                      <a:headEnd type="none" w="med" len="med"/>
                      <a:tailEnd type="none" w="med" len="med"/>
                    </a:lnB>
                  </a:tcPr>
                </a:tc>
                <a:tc>
                  <a:txBody>
                    <a:bodyPr/>
                    <a:lstStyle/>
                    <a:p>
                      <a:pPr indent="0" marL="0">
                        <a:buNone/>
                      </a:pPr>
                      <a:r>
                        <a:rPr lang="en-US" sz="1250" dirty="0">
                          <a:solidFill>
                            <a:srgbClr val="2B2D31"/>
                          </a:solidFill>
                          <a:latin typeface="Calibri" pitchFamily="34" charset="0"/>
                          <a:ea typeface="Calibri" pitchFamily="34" charset="-122"/>
                          <a:cs typeface="Calibri" pitchFamily="34" charset="-120"/>
                        </a:rPr>
                        <a:t>Examine trips, distance, duration and speed over time and by area</a:t>
                      </a:r>
                      <a:endParaRPr lang="en-US" sz="1250" dirty="0">
                        <a:latin typeface="Calibri" charset="0"/>
                        <a:ea typeface="Calibri" charset="0"/>
                        <a:cs typeface="Calibri" charset="0"/>
                      </a:endParaRPr>
                    </a:p>
                  </a:txBody>
                  <a:tcPr marL="101600" marR="101600" marT="50800" marB="50800" anchor="ctr">
                    <a:lnL w="9525" cap="flat" cmpd="sng" algn="ctr">
                      <a:solidFill>
                        <a:srgbClr val="E1E1E1"/>
                      </a:solidFill>
                      <a:prstDash val="solid"/>
                      <a:round/>
                      <a:headEnd type="none" w="med" len="med"/>
                      <a:tailEnd type="none" w="med" len="med"/>
                    </a:lnL>
                    <a:lnR w="9525" cap="flat" cmpd="sng" algn="ctr">
                      <a:solidFill>
                        <a:srgbClr val="E1E1E1"/>
                      </a:solidFill>
                      <a:prstDash val="solid"/>
                      <a:round/>
                      <a:headEnd type="none" w="med" len="med"/>
                      <a:tailEnd type="none" w="med" len="med"/>
                    </a:lnR>
                    <a:lnT w="9525" cap="flat" cmpd="sng" algn="ctr">
                      <a:solidFill>
                        <a:srgbClr val="E1E1E1"/>
                      </a:solidFill>
                      <a:prstDash val="solid"/>
                      <a:round/>
                      <a:headEnd type="none" w="med" len="med"/>
                      <a:tailEnd type="none" w="med" len="med"/>
                    </a:lnT>
                    <a:lnB w="9525" cap="flat" cmpd="sng" algn="ctr">
                      <a:solidFill>
                        <a:srgbClr val="E1E1E1"/>
                      </a:solidFill>
                      <a:prstDash val="solid"/>
                      <a:round/>
                      <a:headEnd type="none" w="med" len="med"/>
                      <a:tailEnd type="none" w="med" len="med"/>
                    </a:lnB>
                  </a:tcPr>
                </a:tc>
                <a:tc>
                  <a:txBody>
                    <a:bodyPr/>
                    <a:lstStyle/>
                    <a:p>
                      <a:pPr indent="0" marL="0">
                        <a:buNone/>
                      </a:pPr>
                      <a:r>
                        <a:rPr lang="en-US" sz="1250" dirty="0">
                          <a:solidFill>
                            <a:srgbClr val="2B2D31"/>
                          </a:solidFill>
                          <a:latin typeface="Calibri" pitchFamily="34" charset="0"/>
                          <a:ea typeface="Calibri" pitchFamily="34" charset="-122"/>
                          <a:cs typeface="Calibri" pitchFamily="34" charset="-120"/>
                        </a:rPr>
                        <a:t>Monthly series; 2024 vs 2025 by area</a:t>
                      </a:r>
                      <a:endParaRPr lang="en-US" sz="1250" dirty="0">
                        <a:latin typeface="Calibri" charset="0"/>
                        <a:ea typeface="Calibri" charset="0"/>
                        <a:cs typeface="Calibri" charset="0"/>
                      </a:endParaRPr>
                    </a:p>
                  </a:txBody>
                  <a:tcPr marL="101600" marR="101600" marT="50800" marB="50800" anchor="ctr">
                    <a:lnL w="9525" cap="flat" cmpd="sng" algn="ctr">
                      <a:solidFill>
                        <a:srgbClr val="E1E1E1"/>
                      </a:solidFill>
                      <a:prstDash val="solid"/>
                      <a:round/>
                      <a:headEnd type="none" w="med" len="med"/>
                      <a:tailEnd type="none" w="med" len="med"/>
                    </a:lnL>
                    <a:lnR w="9525" cap="flat" cmpd="sng" algn="ctr">
                      <a:solidFill>
                        <a:srgbClr val="E1E1E1"/>
                      </a:solidFill>
                      <a:prstDash val="solid"/>
                      <a:round/>
                      <a:headEnd type="none" w="med" len="med"/>
                      <a:tailEnd type="none" w="med" len="med"/>
                    </a:lnR>
                    <a:lnT w="9525" cap="flat" cmpd="sng" algn="ctr">
                      <a:solidFill>
                        <a:srgbClr val="E1E1E1"/>
                      </a:solidFill>
                      <a:prstDash val="solid"/>
                      <a:round/>
                      <a:headEnd type="none" w="med" len="med"/>
                      <a:tailEnd type="none" w="med" len="med"/>
                    </a:lnT>
                    <a:lnB w="9525" cap="flat" cmpd="sng" algn="ctr">
                      <a:solidFill>
                        <a:srgbClr val="E1E1E1"/>
                      </a:solidFill>
                      <a:prstDash val="solid"/>
                      <a:round/>
                      <a:headEnd type="none" w="med" len="med"/>
                      <a:tailEnd type="none" w="med" len="med"/>
                    </a:lnB>
                  </a:tcPr>
                </a:tc>
                <a:tc>
                  <a:txBody>
                    <a:bodyPr/>
                    <a:lstStyle/>
                    <a:p>
                      <a:pPr indent="0" marL="0">
                        <a:buNone/>
                      </a:pPr>
                      <a:r>
                        <a:rPr lang="en-US" sz="1250" b="1" dirty="0">
                          <a:solidFill>
                            <a:srgbClr val="2B2D31"/>
                          </a:solidFill>
                          <a:latin typeface="Calibri" pitchFamily="34" charset="0"/>
                          <a:ea typeface="Calibri" pitchFamily="34" charset="-122"/>
                          <a:cs typeface="Calibri" pitchFamily="34" charset="-120"/>
                        </a:rPr>
                        <a:t>Descriptive</a:t>
                      </a:r>
                      <a:endParaRPr lang="en-US" sz="1250" dirty="0">
                        <a:latin typeface="Calibri" charset="0"/>
                        <a:ea typeface="Calibri" charset="0"/>
                        <a:cs typeface="Calibri" charset="0"/>
                      </a:endParaRPr>
                    </a:p>
                  </a:txBody>
                  <a:tcPr marL="101600" marR="101600" marT="50800" marB="50800" anchor="ctr">
                    <a:lnL w="9525" cap="flat" cmpd="sng" algn="ctr">
                      <a:solidFill>
                        <a:srgbClr val="E1E1E1"/>
                      </a:solidFill>
                      <a:prstDash val="solid"/>
                      <a:round/>
                      <a:headEnd type="none" w="med" len="med"/>
                      <a:tailEnd type="none" w="med" len="med"/>
                    </a:lnL>
                    <a:lnR w="9525" cap="flat" cmpd="sng" algn="ctr">
                      <a:solidFill>
                        <a:srgbClr val="E1E1E1"/>
                      </a:solidFill>
                      <a:prstDash val="solid"/>
                      <a:round/>
                      <a:headEnd type="none" w="med" len="med"/>
                      <a:tailEnd type="none" w="med" len="med"/>
                    </a:lnR>
                    <a:lnT w="9525" cap="flat" cmpd="sng" algn="ctr">
                      <a:solidFill>
                        <a:srgbClr val="E1E1E1"/>
                      </a:solidFill>
                      <a:prstDash val="solid"/>
                      <a:round/>
                      <a:headEnd type="none" w="med" len="med"/>
                      <a:tailEnd type="none" w="med" len="med"/>
                    </a:lnT>
                    <a:lnB w="9525" cap="flat" cmpd="sng" algn="ctr">
                      <a:solidFill>
                        <a:srgbClr val="E1E1E1"/>
                      </a:solidFill>
                      <a:prstDash val="solid"/>
                      <a:round/>
                      <a:headEnd type="none" w="med" len="med"/>
                      <a:tailEnd type="none" w="med" len="med"/>
                    </a:lnB>
                    <a:solidFill>
                      <a:srgbClr val="F3F3F1"/>
                    </a:solidFill>
                  </a:tcPr>
                </a:tc>
              </a:tr>
              <a:tr h="713232">
                <a:tc>
                  <a:txBody>
                    <a:bodyPr/>
                    <a:lstStyle/>
                    <a:p>
                      <a:pPr algn="ctr" indent="0" marL="0">
                        <a:buNone/>
                      </a:pPr>
                      <a:r>
                        <a:rPr lang="en-US" sz="1600" b="1" dirty="0">
                          <a:solidFill>
                            <a:srgbClr val="B88600"/>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101600" marR="101600" marT="50800" marB="50800" anchor="ctr">
                    <a:lnL w="9525" cap="flat" cmpd="sng" algn="ctr">
                      <a:solidFill>
                        <a:srgbClr val="E1E1E1"/>
                      </a:solidFill>
                      <a:prstDash val="solid"/>
                      <a:round/>
                      <a:headEnd type="none" w="med" len="med"/>
                      <a:tailEnd type="none" w="med" len="med"/>
                    </a:lnL>
                    <a:lnR w="9525" cap="flat" cmpd="sng" algn="ctr">
                      <a:solidFill>
                        <a:srgbClr val="E1E1E1"/>
                      </a:solidFill>
                      <a:prstDash val="solid"/>
                      <a:round/>
                      <a:headEnd type="none" w="med" len="med"/>
                      <a:tailEnd type="none" w="med" len="med"/>
                    </a:lnR>
                    <a:lnT w="9525" cap="flat" cmpd="sng" algn="ctr">
                      <a:solidFill>
                        <a:srgbClr val="E1E1E1"/>
                      </a:solidFill>
                      <a:prstDash val="solid"/>
                      <a:round/>
                      <a:headEnd type="none" w="med" len="med"/>
                      <a:tailEnd type="none" w="med" len="med"/>
                    </a:lnT>
                    <a:lnB w="9525" cap="flat" cmpd="sng" algn="ctr">
                      <a:solidFill>
                        <a:srgbClr val="E1E1E1"/>
                      </a:solidFill>
                      <a:prstDash val="solid"/>
                      <a:round/>
                      <a:headEnd type="none" w="med" len="med"/>
                      <a:tailEnd type="none" w="med" len="med"/>
                    </a:lnB>
                  </a:tcPr>
                </a:tc>
                <a:tc>
                  <a:txBody>
                    <a:bodyPr/>
                    <a:lstStyle/>
                    <a:p>
                      <a:pPr indent="0" marL="0">
                        <a:buNone/>
                      </a:pPr>
                      <a:r>
                        <a:rPr lang="en-US" sz="1250" b="1" dirty="0">
                          <a:solidFill>
                            <a:srgbClr val="2B2D31"/>
                          </a:solidFill>
                          <a:latin typeface="Calibri" pitchFamily="34" charset="0"/>
                          <a:ea typeface="Calibri" pitchFamily="34" charset="-122"/>
                          <a:cs typeface="Calibri" pitchFamily="34" charset="-120"/>
                        </a:rPr>
                        <a:t>What happened to fares and revenue?</a:t>
                      </a:r>
                      <a:endParaRPr lang="en-US" sz="1250" dirty="0">
                        <a:latin typeface="Calibri" charset="0"/>
                        <a:ea typeface="Calibri" charset="0"/>
                        <a:cs typeface="Calibri" charset="0"/>
                      </a:endParaRPr>
                    </a:p>
                  </a:txBody>
                  <a:tcPr marL="101600" marR="101600" marT="50800" marB="50800" anchor="ctr">
                    <a:lnL w="9525" cap="flat" cmpd="sng" algn="ctr">
                      <a:solidFill>
                        <a:srgbClr val="E1E1E1"/>
                      </a:solidFill>
                      <a:prstDash val="solid"/>
                      <a:round/>
                      <a:headEnd type="none" w="med" len="med"/>
                      <a:tailEnd type="none" w="med" len="med"/>
                    </a:lnL>
                    <a:lnR w="9525" cap="flat" cmpd="sng" algn="ctr">
                      <a:solidFill>
                        <a:srgbClr val="E1E1E1"/>
                      </a:solidFill>
                      <a:prstDash val="solid"/>
                      <a:round/>
                      <a:headEnd type="none" w="med" len="med"/>
                      <a:tailEnd type="none" w="med" len="med"/>
                    </a:lnR>
                    <a:lnT w="9525" cap="flat" cmpd="sng" algn="ctr">
                      <a:solidFill>
                        <a:srgbClr val="E1E1E1"/>
                      </a:solidFill>
                      <a:prstDash val="solid"/>
                      <a:round/>
                      <a:headEnd type="none" w="med" len="med"/>
                      <a:tailEnd type="none" w="med" len="med"/>
                    </a:lnT>
                    <a:lnB w="9525" cap="flat" cmpd="sng" algn="ctr">
                      <a:solidFill>
                        <a:srgbClr val="E1E1E1"/>
                      </a:solidFill>
                      <a:prstDash val="solid"/>
                      <a:round/>
                      <a:headEnd type="none" w="med" len="med"/>
                      <a:tailEnd type="none" w="med" len="med"/>
                    </a:lnB>
                  </a:tcPr>
                </a:tc>
                <a:tc>
                  <a:txBody>
                    <a:bodyPr/>
                    <a:lstStyle/>
                    <a:p>
                      <a:pPr indent="0" marL="0">
                        <a:buNone/>
                      </a:pPr>
                      <a:r>
                        <a:rPr lang="en-US" sz="1250" dirty="0">
                          <a:solidFill>
                            <a:srgbClr val="2B2D31"/>
                          </a:solidFill>
                          <a:latin typeface="Calibri" pitchFamily="34" charset="0"/>
                          <a:ea typeface="Calibri" pitchFamily="34" charset="-122"/>
                          <a:cs typeface="Calibri" pitchFamily="34" charset="-120"/>
                        </a:rPr>
                        <a:t>Investigate fare and revenue patterns and the response to the Dec 2022 increase</a:t>
                      </a:r>
                      <a:endParaRPr lang="en-US" sz="1250" dirty="0">
                        <a:latin typeface="Calibri" charset="0"/>
                        <a:ea typeface="Calibri" charset="0"/>
                        <a:cs typeface="Calibri" charset="0"/>
                      </a:endParaRPr>
                    </a:p>
                  </a:txBody>
                  <a:tcPr marL="101600" marR="101600" marT="50800" marB="50800" anchor="ctr">
                    <a:lnL w="9525" cap="flat" cmpd="sng" algn="ctr">
                      <a:solidFill>
                        <a:srgbClr val="E1E1E1"/>
                      </a:solidFill>
                      <a:prstDash val="solid"/>
                      <a:round/>
                      <a:headEnd type="none" w="med" len="med"/>
                      <a:tailEnd type="none" w="med" len="med"/>
                    </a:lnL>
                    <a:lnR w="9525" cap="flat" cmpd="sng" algn="ctr">
                      <a:solidFill>
                        <a:srgbClr val="E1E1E1"/>
                      </a:solidFill>
                      <a:prstDash val="solid"/>
                      <a:round/>
                      <a:headEnd type="none" w="med" len="med"/>
                      <a:tailEnd type="none" w="med" len="med"/>
                    </a:lnR>
                    <a:lnT w="9525" cap="flat" cmpd="sng" algn="ctr">
                      <a:solidFill>
                        <a:srgbClr val="E1E1E1"/>
                      </a:solidFill>
                      <a:prstDash val="solid"/>
                      <a:round/>
                      <a:headEnd type="none" w="med" len="med"/>
                      <a:tailEnd type="none" w="med" len="med"/>
                    </a:lnT>
                    <a:lnB w="9525" cap="flat" cmpd="sng" algn="ctr">
                      <a:solidFill>
                        <a:srgbClr val="E1E1E1"/>
                      </a:solidFill>
                      <a:prstDash val="solid"/>
                      <a:round/>
                      <a:headEnd type="none" w="med" len="med"/>
                      <a:tailEnd type="none" w="med" len="med"/>
                    </a:lnB>
                  </a:tcPr>
                </a:tc>
                <a:tc>
                  <a:txBody>
                    <a:bodyPr/>
                    <a:lstStyle/>
                    <a:p>
                      <a:pPr indent="0" marL="0">
                        <a:buNone/>
                      </a:pPr>
                      <a:r>
                        <a:rPr lang="en-US" sz="1250" dirty="0">
                          <a:solidFill>
                            <a:srgbClr val="2B2D31"/>
                          </a:solidFill>
                          <a:latin typeface="Calibri" pitchFamily="34" charset="0"/>
                          <a:ea typeface="Calibri" pitchFamily="34" charset="-122"/>
                          <a:cs typeface="Calibri" pitchFamily="34" charset="-120"/>
                        </a:rPr>
                        <a:t>Fare segments, net of a placebo year</a:t>
                      </a:r>
                      <a:endParaRPr lang="en-US" sz="1250" dirty="0">
                        <a:latin typeface="Calibri" charset="0"/>
                        <a:ea typeface="Calibri" charset="0"/>
                        <a:cs typeface="Calibri" charset="0"/>
                      </a:endParaRPr>
                    </a:p>
                  </a:txBody>
                  <a:tcPr marL="101600" marR="101600" marT="50800" marB="50800" anchor="ctr">
                    <a:lnL w="9525" cap="flat" cmpd="sng" algn="ctr">
                      <a:solidFill>
                        <a:srgbClr val="E1E1E1"/>
                      </a:solidFill>
                      <a:prstDash val="solid"/>
                      <a:round/>
                      <a:headEnd type="none" w="med" len="med"/>
                      <a:tailEnd type="none" w="med" len="med"/>
                    </a:lnL>
                    <a:lnR w="9525" cap="flat" cmpd="sng" algn="ctr">
                      <a:solidFill>
                        <a:srgbClr val="E1E1E1"/>
                      </a:solidFill>
                      <a:prstDash val="solid"/>
                      <a:round/>
                      <a:headEnd type="none" w="med" len="med"/>
                      <a:tailEnd type="none" w="med" len="med"/>
                    </a:lnR>
                    <a:lnT w="9525" cap="flat" cmpd="sng" algn="ctr">
                      <a:solidFill>
                        <a:srgbClr val="E1E1E1"/>
                      </a:solidFill>
                      <a:prstDash val="solid"/>
                      <a:round/>
                      <a:headEnd type="none" w="med" len="med"/>
                      <a:tailEnd type="none" w="med" len="med"/>
                    </a:lnT>
                    <a:lnB w="9525" cap="flat" cmpd="sng" algn="ctr">
                      <a:solidFill>
                        <a:srgbClr val="E1E1E1"/>
                      </a:solidFill>
                      <a:prstDash val="solid"/>
                      <a:round/>
                      <a:headEnd type="none" w="med" len="med"/>
                      <a:tailEnd type="none" w="med" len="med"/>
                    </a:lnB>
                  </a:tcPr>
                </a:tc>
                <a:tc>
                  <a:txBody>
                    <a:bodyPr/>
                    <a:lstStyle/>
                    <a:p>
                      <a:pPr indent="0" marL="0">
                        <a:buNone/>
                      </a:pPr>
                      <a:r>
                        <a:rPr lang="en-US" sz="1250" b="1" dirty="0">
                          <a:solidFill>
                            <a:srgbClr val="2B2D31"/>
                          </a:solidFill>
                          <a:latin typeface="Calibri" pitchFamily="34" charset="0"/>
                          <a:ea typeface="Calibri" pitchFamily="34" charset="-122"/>
                          <a:cs typeface="Calibri" pitchFamily="34" charset="-120"/>
                        </a:rPr>
                        <a:t>Quasi-experimental</a:t>
                      </a:r>
                      <a:endParaRPr lang="en-US" sz="1250" dirty="0">
                        <a:latin typeface="Calibri" charset="0"/>
                        <a:ea typeface="Calibri" charset="0"/>
                        <a:cs typeface="Calibri" charset="0"/>
                      </a:endParaRPr>
                    </a:p>
                  </a:txBody>
                  <a:tcPr marL="101600" marR="101600" marT="50800" marB="50800" anchor="ctr">
                    <a:lnL w="9525" cap="flat" cmpd="sng" algn="ctr">
                      <a:solidFill>
                        <a:srgbClr val="E1E1E1"/>
                      </a:solidFill>
                      <a:prstDash val="solid"/>
                      <a:round/>
                      <a:headEnd type="none" w="med" len="med"/>
                      <a:tailEnd type="none" w="med" len="med"/>
                    </a:lnL>
                    <a:lnR w="9525" cap="flat" cmpd="sng" algn="ctr">
                      <a:solidFill>
                        <a:srgbClr val="E1E1E1"/>
                      </a:solidFill>
                      <a:prstDash val="solid"/>
                      <a:round/>
                      <a:headEnd type="none" w="med" len="med"/>
                      <a:tailEnd type="none" w="med" len="med"/>
                    </a:lnR>
                    <a:lnT w="9525" cap="flat" cmpd="sng" algn="ctr">
                      <a:solidFill>
                        <a:srgbClr val="E1E1E1"/>
                      </a:solidFill>
                      <a:prstDash val="solid"/>
                      <a:round/>
                      <a:headEnd type="none" w="med" len="med"/>
                      <a:tailEnd type="none" w="med" len="med"/>
                    </a:lnT>
                    <a:lnB w="9525" cap="flat" cmpd="sng" algn="ctr">
                      <a:solidFill>
                        <a:srgbClr val="E1E1E1"/>
                      </a:solidFill>
                      <a:prstDash val="solid"/>
                      <a:round/>
                      <a:headEnd type="none" w="med" len="med"/>
                      <a:tailEnd type="none" w="med" len="med"/>
                    </a:lnB>
                    <a:solidFill>
                      <a:srgbClr val="FCEBB3"/>
                    </a:solidFill>
                  </a:tcPr>
                </a:tc>
              </a:tr>
              <a:tr h="713232">
                <a:tc>
                  <a:txBody>
                    <a:bodyPr/>
                    <a:lstStyle/>
                    <a:p>
                      <a:pPr algn="ctr" indent="0" marL="0">
                        <a:buNone/>
                      </a:pPr>
                      <a:r>
                        <a:rPr lang="en-US" sz="1600" b="1" dirty="0">
                          <a:solidFill>
                            <a:srgbClr val="B88600"/>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101600" marR="101600" marT="50800" marB="50800" anchor="ctr">
                    <a:lnL w="9525" cap="flat" cmpd="sng" algn="ctr">
                      <a:solidFill>
                        <a:srgbClr val="E1E1E1"/>
                      </a:solidFill>
                      <a:prstDash val="solid"/>
                      <a:round/>
                      <a:headEnd type="none" w="med" len="med"/>
                      <a:tailEnd type="none" w="med" len="med"/>
                    </a:lnL>
                    <a:lnR w="9525" cap="flat" cmpd="sng" algn="ctr">
                      <a:solidFill>
                        <a:srgbClr val="E1E1E1"/>
                      </a:solidFill>
                      <a:prstDash val="solid"/>
                      <a:round/>
                      <a:headEnd type="none" w="med" len="med"/>
                      <a:tailEnd type="none" w="med" len="med"/>
                    </a:lnR>
                    <a:lnT w="9525" cap="flat" cmpd="sng" algn="ctr">
                      <a:solidFill>
                        <a:srgbClr val="E1E1E1"/>
                      </a:solidFill>
                      <a:prstDash val="solid"/>
                      <a:round/>
                      <a:headEnd type="none" w="med" len="med"/>
                      <a:tailEnd type="none" w="med" len="med"/>
                    </a:lnT>
                    <a:lnB w="9525" cap="flat" cmpd="sng" algn="ctr">
                      <a:solidFill>
                        <a:srgbClr val="E1E1E1"/>
                      </a:solidFill>
                      <a:prstDash val="solid"/>
                      <a:round/>
                      <a:headEnd type="none" w="med" len="med"/>
                      <a:tailEnd type="none" w="med" len="med"/>
                    </a:lnB>
                  </a:tcPr>
                </a:tc>
                <a:tc>
                  <a:txBody>
                    <a:bodyPr/>
                    <a:lstStyle/>
                    <a:p>
                      <a:pPr indent="0" marL="0">
                        <a:buNone/>
                      </a:pPr>
                      <a:r>
                        <a:rPr lang="en-US" sz="1250" b="1" dirty="0">
                          <a:solidFill>
                            <a:srgbClr val="2B2D31"/>
                          </a:solidFill>
                          <a:latin typeface="Calibri" pitchFamily="34" charset="0"/>
                          <a:ea typeface="Calibri" pitchFamily="34" charset="-122"/>
                          <a:cs typeface="Calibri" pitchFamily="34" charset="-120"/>
                        </a:rPr>
                        <a:t>How do the pre- and post-policy periods compare?</a:t>
                      </a:r>
                      <a:endParaRPr lang="en-US" sz="1250" dirty="0">
                        <a:latin typeface="Calibri" charset="0"/>
                        <a:ea typeface="Calibri" charset="0"/>
                        <a:cs typeface="Calibri" charset="0"/>
                      </a:endParaRPr>
                    </a:p>
                  </a:txBody>
                  <a:tcPr marL="101600" marR="101600" marT="50800" marB="50800" anchor="ctr">
                    <a:lnL w="9525" cap="flat" cmpd="sng" algn="ctr">
                      <a:solidFill>
                        <a:srgbClr val="E1E1E1"/>
                      </a:solidFill>
                      <a:prstDash val="solid"/>
                      <a:round/>
                      <a:headEnd type="none" w="med" len="med"/>
                      <a:tailEnd type="none" w="med" len="med"/>
                    </a:lnL>
                    <a:lnR w="9525" cap="flat" cmpd="sng" algn="ctr">
                      <a:solidFill>
                        <a:srgbClr val="E1E1E1"/>
                      </a:solidFill>
                      <a:prstDash val="solid"/>
                      <a:round/>
                      <a:headEnd type="none" w="med" len="med"/>
                      <a:tailEnd type="none" w="med" len="med"/>
                    </a:lnR>
                    <a:lnT w="9525" cap="flat" cmpd="sng" algn="ctr">
                      <a:solidFill>
                        <a:srgbClr val="E1E1E1"/>
                      </a:solidFill>
                      <a:prstDash val="solid"/>
                      <a:round/>
                      <a:headEnd type="none" w="med" len="med"/>
                      <a:tailEnd type="none" w="med" len="med"/>
                    </a:lnT>
                    <a:lnB w="9525" cap="flat" cmpd="sng" algn="ctr">
                      <a:solidFill>
                        <a:srgbClr val="E1E1E1"/>
                      </a:solidFill>
                      <a:prstDash val="solid"/>
                      <a:round/>
                      <a:headEnd type="none" w="med" len="med"/>
                      <a:tailEnd type="none" w="med" len="med"/>
                    </a:lnB>
                  </a:tcPr>
                </a:tc>
                <a:tc>
                  <a:txBody>
                    <a:bodyPr/>
                    <a:lstStyle/>
                    <a:p>
                      <a:pPr indent="0" marL="0">
                        <a:buNone/>
                      </a:pPr>
                      <a:r>
                        <a:rPr lang="en-US" sz="1250" dirty="0">
                          <a:solidFill>
                            <a:srgbClr val="2B2D31"/>
                          </a:solidFill>
                          <a:latin typeface="Calibri" pitchFamily="34" charset="0"/>
                          <a:ea typeface="Calibri" pitchFamily="34" charset="-122"/>
                          <a:cs typeface="Calibri" pitchFamily="34" charset="-120"/>
                        </a:rPr>
                        <a:t>Compare the charging zone with north Manhattan before and after 5 Jan 2025</a:t>
                      </a:r>
                      <a:endParaRPr lang="en-US" sz="1250" dirty="0">
                        <a:latin typeface="Calibri" charset="0"/>
                        <a:ea typeface="Calibri" charset="0"/>
                        <a:cs typeface="Calibri" charset="0"/>
                      </a:endParaRPr>
                    </a:p>
                  </a:txBody>
                  <a:tcPr marL="101600" marR="101600" marT="50800" marB="50800" anchor="ctr">
                    <a:lnL w="9525" cap="flat" cmpd="sng" algn="ctr">
                      <a:solidFill>
                        <a:srgbClr val="E1E1E1"/>
                      </a:solidFill>
                      <a:prstDash val="solid"/>
                      <a:round/>
                      <a:headEnd type="none" w="med" len="med"/>
                      <a:tailEnd type="none" w="med" len="med"/>
                    </a:lnL>
                    <a:lnR w="9525" cap="flat" cmpd="sng" algn="ctr">
                      <a:solidFill>
                        <a:srgbClr val="E1E1E1"/>
                      </a:solidFill>
                      <a:prstDash val="solid"/>
                      <a:round/>
                      <a:headEnd type="none" w="med" len="med"/>
                      <a:tailEnd type="none" w="med" len="med"/>
                    </a:lnR>
                    <a:lnT w="9525" cap="flat" cmpd="sng" algn="ctr">
                      <a:solidFill>
                        <a:srgbClr val="E1E1E1"/>
                      </a:solidFill>
                      <a:prstDash val="solid"/>
                      <a:round/>
                      <a:headEnd type="none" w="med" len="med"/>
                      <a:tailEnd type="none" w="med" len="med"/>
                    </a:lnT>
                    <a:lnB w="9525" cap="flat" cmpd="sng" algn="ctr">
                      <a:solidFill>
                        <a:srgbClr val="E1E1E1"/>
                      </a:solidFill>
                      <a:prstDash val="solid"/>
                      <a:round/>
                      <a:headEnd type="none" w="med" len="med"/>
                      <a:tailEnd type="none" w="med" len="med"/>
                    </a:lnB>
                  </a:tcPr>
                </a:tc>
                <a:tc>
                  <a:txBody>
                    <a:bodyPr/>
                    <a:lstStyle/>
                    <a:p>
                      <a:pPr indent="0" marL="0">
                        <a:buNone/>
                      </a:pPr>
                      <a:r>
                        <a:rPr lang="en-US" sz="1250" dirty="0">
                          <a:solidFill>
                            <a:srgbClr val="2B2D31"/>
                          </a:solidFill>
                          <a:latin typeface="Calibri" pitchFamily="34" charset="0"/>
                          <a:ea typeface="Calibri" pitchFamily="34" charset="-122"/>
                          <a:cs typeface="Calibri" pitchFamily="34" charset="-120"/>
                        </a:rPr>
                        <a:t>Difference-in-differences</a:t>
                      </a:r>
                      <a:endParaRPr lang="en-US" sz="1250" dirty="0">
                        <a:latin typeface="Calibri" charset="0"/>
                        <a:ea typeface="Calibri" charset="0"/>
                        <a:cs typeface="Calibri" charset="0"/>
                      </a:endParaRPr>
                    </a:p>
                  </a:txBody>
                  <a:tcPr marL="101600" marR="101600" marT="50800" marB="50800" anchor="ctr">
                    <a:lnL w="9525" cap="flat" cmpd="sng" algn="ctr">
                      <a:solidFill>
                        <a:srgbClr val="E1E1E1"/>
                      </a:solidFill>
                      <a:prstDash val="solid"/>
                      <a:round/>
                      <a:headEnd type="none" w="med" len="med"/>
                      <a:tailEnd type="none" w="med" len="med"/>
                    </a:lnL>
                    <a:lnR w="9525" cap="flat" cmpd="sng" algn="ctr">
                      <a:solidFill>
                        <a:srgbClr val="E1E1E1"/>
                      </a:solidFill>
                      <a:prstDash val="solid"/>
                      <a:round/>
                      <a:headEnd type="none" w="med" len="med"/>
                      <a:tailEnd type="none" w="med" len="med"/>
                    </a:lnR>
                    <a:lnT w="9525" cap="flat" cmpd="sng" algn="ctr">
                      <a:solidFill>
                        <a:srgbClr val="E1E1E1"/>
                      </a:solidFill>
                      <a:prstDash val="solid"/>
                      <a:round/>
                      <a:headEnd type="none" w="med" len="med"/>
                      <a:tailEnd type="none" w="med" len="med"/>
                    </a:lnT>
                    <a:lnB w="9525" cap="flat" cmpd="sng" algn="ctr">
                      <a:solidFill>
                        <a:srgbClr val="E1E1E1"/>
                      </a:solidFill>
                      <a:prstDash val="solid"/>
                      <a:round/>
                      <a:headEnd type="none" w="med" len="med"/>
                      <a:tailEnd type="none" w="med" len="med"/>
                    </a:lnB>
                  </a:tcPr>
                </a:tc>
                <a:tc>
                  <a:txBody>
                    <a:bodyPr/>
                    <a:lstStyle/>
                    <a:p>
                      <a:pPr indent="0" marL="0">
                        <a:buNone/>
                      </a:pPr>
                      <a:r>
                        <a:rPr lang="en-US" sz="1250" b="1" dirty="0">
                          <a:solidFill>
                            <a:srgbClr val="2B2D31"/>
                          </a:solidFill>
                          <a:latin typeface="Calibri" pitchFamily="34" charset="0"/>
                          <a:ea typeface="Calibri" pitchFamily="34" charset="-122"/>
                          <a:cs typeface="Calibri" pitchFamily="34" charset="-120"/>
                        </a:rPr>
                        <a:t>Quasi-experimental</a:t>
                      </a:r>
                      <a:endParaRPr lang="en-US" sz="1250" dirty="0">
                        <a:latin typeface="Calibri" charset="0"/>
                        <a:ea typeface="Calibri" charset="0"/>
                        <a:cs typeface="Calibri" charset="0"/>
                      </a:endParaRPr>
                    </a:p>
                  </a:txBody>
                  <a:tcPr marL="101600" marR="101600" marT="50800" marB="50800" anchor="ctr">
                    <a:lnL w="9525" cap="flat" cmpd="sng" algn="ctr">
                      <a:solidFill>
                        <a:srgbClr val="E1E1E1"/>
                      </a:solidFill>
                      <a:prstDash val="solid"/>
                      <a:round/>
                      <a:headEnd type="none" w="med" len="med"/>
                      <a:tailEnd type="none" w="med" len="med"/>
                    </a:lnL>
                    <a:lnR w="9525" cap="flat" cmpd="sng" algn="ctr">
                      <a:solidFill>
                        <a:srgbClr val="E1E1E1"/>
                      </a:solidFill>
                      <a:prstDash val="solid"/>
                      <a:round/>
                      <a:headEnd type="none" w="med" len="med"/>
                      <a:tailEnd type="none" w="med" len="med"/>
                    </a:lnR>
                    <a:lnT w="9525" cap="flat" cmpd="sng" algn="ctr">
                      <a:solidFill>
                        <a:srgbClr val="E1E1E1"/>
                      </a:solidFill>
                      <a:prstDash val="solid"/>
                      <a:round/>
                      <a:headEnd type="none" w="med" len="med"/>
                      <a:tailEnd type="none" w="med" len="med"/>
                    </a:lnT>
                    <a:lnB w="9525" cap="flat" cmpd="sng" algn="ctr">
                      <a:solidFill>
                        <a:srgbClr val="E1E1E1"/>
                      </a:solidFill>
                      <a:prstDash val="solid"/>
                      <a:round/>
                      <a:headEnd type="none" w="med" len="med"/>
                      <a:tailEnd type="none" w="med" len="med"/>
                    </a:lnB>
                    <a:solidFill>
                      <a:srgbClr val="FCEBB3"/>
                    </a:solidFill>
                  </a:tcPr>
                </a:tc>
              </a:tr>
              <a:tr h="713232">
                <a:tc>
                  <a:txBody>
                    <a:bodyPr/>
                    <a:lstStyle/>
                    <a:p>
                      <a:pPr algn="ctr" indent="0" marL="0">
                        <a:buNone/>
                      </a:pPr>
                      <a:r>
                        <a:rPr lang="en-US" sz="1600" b="1" dirty="0">
                          <a:solidFill>
                            <a:srgbClr val="B88600"/>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101600" marR="101600" marT="50800" marB="50800" anchor="ctr">
                    <a:lnL w="9525" cap="flat" cmpd="sng" algn="ctr">
                      <a:solidFill>
                        <a:srgbClr val="E1E1E1"/>
                      </a:solidFill>
                      <a:prstDash val="solid"/>
                      <a:round/>
                      <a:headEnd type="none" w="med" len="med"/>
                      <a:tailEnd type="none" w="med" len="med"/>
                    </a:lnL>
                    <a:lnR w="9525" cap="flat" cmpd="sng" algn="ctr">
                      <a:solidFill>
                        <a:srgbClr val="E1E1E1"/>
                      </a:solidFill>
                      <a:prstDash val="solid"/>
                      <a:round/>
                      <a:headEnd type="none" w="med" len="med"/>
                      <a:tailEnd type="none" w="med" len="med"/>
                    </a:lnR>
                    <a:lnT w="9525" cap="flat" cmpd="sng" algn="ctr">
                      <a:solidFill>
                        <a:srgbClr val="E1E1E1"/>
                      </a:solidFill>
                      <a:prstDash val="solid"/>
                      <a:round/>
                      <a:headEnd type="none" w="med" len="med"/>
                      <a:tailEnd type="none" w="med" len="med"/>
                    </a:lnT>
                    <a:lnB w="9525" cap="flat" cmpd="sng" algn="ctr">
                      <a:solidFill>
                        <a:srgbClr val="E1E1E1"/>
                      </a:solidFill>
                      <a:prstDash val="solid"/>
                      <a:round/>
                      <a:headEnd type="none" w="med" len="med"/>
                      <a:tailEnd type="none" w="med" len="med"/>
                    </a:lnB>
                  </a:tcPr>
                </a:tc>
                <a:tc>
                  <a:txBody>
                    <a:bodyPr/>
                    <a:lstStyle/>
                    <a:p>
                      <a:pPr indent="0" marL="0">
                        <a:buNone/>
                      </a:pPr>
                      <a:r>
                        <a:rPr lang="en-US" sz="1250" b="1" dirty="0">
                          <a:solidFill>
                            <a:srgbClr val="2B2D31"/>
                          </a:solidFill>
                          <a:latin typeface="Calibri" pitchFamily="34" charset="0"/>
                          <a:ea typeface="Calibri" pitchFamily="34" charset="-122"/>
                          <a:cs typeface="Calibri" pitchFamily="34" charset="-120"/>
                        </a:rPr>
                        <a:t>Where and when were the changes largest?</a:t>
                      </a:r>
                      <a:endParaRPr lang="en-US" sz="1250" dirty="0">
                        <a:latin typeface="Calibri" charset="0"/>
                        <a:ea typeface="Calibri" charset="0"/>
                        <a:cs typeface="Calibri" charset="0"/>
                      </a:endParaRPr>
                    </a:p>
                  </a:txBody>
                  <a:tcPr marL="101600" marR="101600" marT="50800" marB="50800" anchor="ctr">
                    <a:lnL w="9525" cap="flat" cmpd="sng" algn="ctr">
                      <a:solidFill>
                        <a:srgbClr val="E1E1E1"/>
                      </a:solidFill>
                      <a:prstDash val="solid"/>
                      <a:round/>
                      <a:headEnd type="none" w="med" len="med"/>
                      <a:tailEnd type="none" w="med" len="med"/>
                    </a:lnL>
                    <a:lnR w="9525" cap="flat" cmpd="sng" algn="ctr">
                      <a:solidFill>
                        <a:srgbClr val="E1E1E1"/>
                      </a:solidFill>
                      <a:prstDash val="solid"/>
                      <a:round/>
                      <a:headEnd type="none" w="med" len="med"/>
                      <a:tailEnd type="none" w="med" len="med"/>
                    </a:lnR>
                    <a:lnT w="9525" cap="flat" cmpd="sng" algn="ctr">
                      <a:solidFill>
                        <a:srgbClr val="E1E1E1"/>
                      </a:solidFill>
                      <a:prstDash val="solid"/>
                      <a:round/>
                      <a:headEnd type="none" w="med" len="med"/>
                      <a:tailEnd type="none" w="med" len="med"/>
                    </a:lnT>
                    <a:lnB w="9525" cap="flat" cmpd="sng" algn="ctr">
                      <a:solidFill>
                        <a:srgbClr val="E1E1E1"/>
                      </a:solidFill>
                      <a:prstDash val="solid"/>
                      <a:round/>
                      <a:headEnd type="none" w="med" len="med"/>
                      <a:tailEnd type="none" w="med" len="med"/>
                    </a:lnB>
                  </a:tcPr>
                </a:tc>
                <a:tc>
                  <a:txBody>
                    <a:bodyPr/>
                    <a:lstStyle/>
                    <a:p>
                      <a:pPr indent="0" marL="0">
                        <a:buNone/>
                      </a:pPr>
                      <a:r>
                        <a:rPr lang="en-US" sz="1250" dirty="0">
                          <a:solidFill>
                            <a:srgbClr val="2B2D31"/>
                          </a:solidFill>
                          <a:latin typeface="Calibri" pitchFamily="34" charset="0"/>
                          <a:ea typeface="Calibri" pitchFamily="34" charset="-122"/>
                          <a:cs typeface="Calibri" pitchFamily="34" charset="-120"/>
                        </a:rPr>
                        <a:t>Explore spatial and temporal heterogeneity</a:t>
                      </a:r>
                      <a:endParaRPr lang="en-US" sz="1250" dirty="0">
                        <a:latin typeface="Calibri" charset="0"/>
                        <a:ea typeface="Calibri" charset="0"/>
                        <a:cs typeface="Calibri" charset="0"/>
                      </a:endParaRPr>
                    </a:p>
                  </a:txBody>
                  <a:tcPr marL="101600" marR="101600" marT="50800" marB="50800" anchor="ctr">
                    <a:lnL w="9525" cap="flat" cmpd="sng" algn="ctr">
                      <a:solidFill>
                        <a:srgbClr val="E1E1E1"/>
                      </a:solidFill>
                      <a:prstDash val="solid"/>
                      <a:round/>
                      <a:headEnd type="none" w="med" len="med"/>
                      <a:tailEnd type="none" w="med" len="med"/>
                    </a:lnL>
                    <a:lnR w="9525" cap="flat" cmpd="sng" algn="ctr">
                      <a:solidFill>
                        <a:srgbClr val="E1E1E1"/>
                      </a:solidFill>
                      <a:prstDash val="solid"/>
                      <a:round/>
                      <a:headEnd type="none" w="med" len="med"/>
                      <a:tailEnd type="none" w="med" len="med"/>
                    </a:lnR>
                    <a:lnT w="9525" cap="flat" cmpd="sng" algn="ctr">
                      <a:solidFill>
                        <a:srgbClr val="E1E1E1"/>
                      </a:solidFill>
                      <a:prstDash val="solid"/>
                      <a:round/>
                      <a:headEnd type="none" w="med" len="med"/>
                      <a:tailEnd type="none" w="med" len="med"/>
                    </a:lnT>
                    <a:lnB w="9525" cap="flat" cmpd="sng" algn="ctr">
                      <a:solidFill>
                        <a:srgbClr val="E1E1E1"/>
                      </a:solidFill>
                      <a:prstDash val="solid"/>
                      <a:round/>
                      <a:headEnd type="none" w="med" len="med"/>
                      <a:tailEnd type="none" w="med" len="med"/>
                    </a:lnB>
                  </a:tcPr>
                </a:tc>
                <a:tc>
                  <a:txBody>
                    <a:bodyPr/>
                    <a:lstStyle/>
                    <a:p>
                      <a:pPr indent="0" marL="0">
                        <a:buNone/>
                      </a:pPr>
                      <a:r>
                        <a:rPr lang="en-US" sz="1250" dirty="0">
                          <a:solidFill>
                            <a:srgbClr val="2B2D31"/>
                          </a:solidFill>
                          <a:latin typeface="Calibri" pitchFamily="34" charset="0"/>
                          <a:ea typeface="Calibri" pitchFamily="34" charset="-122"/>
                          <a:cs typeface="Calibri" pitchFamily="34" charset="-120"/>
                        </a:rPr>
                        <a:t>Buffer strip, peak vs overnight, zone clusters</a:t>
                      </a:r>
                      <a:endParaRPr lang="en-US" sz="1250" dirty="0">
                        <a:latin typeface="Calibri" charset="0"/>
                        <a:ea typeface="Calibri" charset="0"/>
                        <a:cs typeface="Calibri" charset="0"/>
                      </a:endParaRPr>
                    </a:p>
                  </a:txBody>
                  <a:tcPr marL="101600" marR="101600" marT="50800" marB="50800" anchor="ctr">
                    <a:lnL w="9525" cap="flat" cmpd="sng" algn="ctr">
                      <a:solidFill>
                        <a:srgbClr val="E1E1E1"/>
                      </a:solidFill>
                      <a:prstDash val="solid"/>
                      <a:round/>
                      <a:headEnd type="none" w="med" len="med"/>
                      <a:tailEnd type="none" w="med" len="med"/>
                    </a:lnL>
                    <a:lnR w="9525" cap="flat" cmpd="sng" algn="ctr">
                      <a:solidFill>
                        <a:srgbClr val="E1E1E1"/>
                      </a:solidFill>
                      <a:prstDash val="solid"/>
                      <a:round/>
                      <a:headEnd type="none" w="med" len="med"/>
                      <a:tailEnd type="none" w="med" len="med"/>
                    </a:lnR>
                    <a:lnT w="9525" cap="flat" cmpd="sng" algn="ctr">
                      <a:solidFill>
                        <a:srgbClr val="E1E1E1"/>
                      </a:solidFill>
                      <a:prstDash val="solid"/>
                      <a:round/>
                      <a:headEnd type="none" w="med" len="med"/>
                      <a:tailEnd type="none" w="med" len="med"/>
                    </a:lnT>
                    <a:lnB w="9525" cap="flat" cmpd="sng" algn="ctr">
                      <a:solidFill>
                        <a:srgbClr val="E1E1E1"/>
                      </a:solidFill>
                      <a:prstDash val="solid"/>
                      <a:round/>
                      <a:headEnd type="none" w="med" len="med"/>
                      <a:tailEnd type="none" w="med" len="med"/>
                    </a:lnB>
                  </a:tcPr>
                </a:tc>
                <a:tc>
                  <a:txBody>
                    <a:bodyPr/>
                    <a:lstStyle/>
                    <a:p>
                      <a:pPr indent="0" marL="0">
                        <a:buNone/>
                      </a:pPr>
                      <a:r>
                        <a:rPr lang="en-US" sz="1250" b="1" dirty="0">
                          <a:solidFill>
                            <a:srgbClr val="2B2D31"/>
                          </a:solidFill>
                          <a:latin typeface="Calibri" pitchFamily="34" charset="0"/>
                          <a:ea typeface="Calibri" pitchFamily="34" charset="-122"/>
                          <a:cs typeface="Calibri" pitchFamily="34" charset="-120"/>
                        </a:rPr>
                        <a:t>Quasi-experimental</a:t>
                      </a:r>
                      <a:endParaRPr lang="en-US" sz="1250" dirty="0">
                        <a:latin typeface="Calibri" charset="0"/>
                        <a:ea typeface="Calibri" charset="0"/>
                        <a:cs typeface="Calibri" charset="0"/>
                      </a:endParaRPr>
                    </a:p>
                  </a:txBody>
                  <a:tcPr marL="101600" marR="101600" marT="50800" marB="50800" anchor="ctr">
                    <a:lnL w="9525" cap="flat" cmpd="sng" algn="ctr">
                      <a:solidFill>
                        <a:srgbClr val="E1E1E1"/>
                      </a:solidFill>
                      <a:prstDash val="solid"/>
                      <a:round/>
                      <a:headEnd type="none" w="med" len="med"/>
                      <a:tailEnd type="none" w="med" len="med"/>
                    </a:lnL>
                    <a:lnR w="9525" cap="flat" cmpd="sng" algn="ctr">
                      <a:solidFill>
                        <a:srgbClr val="E1E1E1"/>
                      </a:solidFill>
                      <a:prstDash val="solid"/>
                      <a:round/>
                      <a:headEnd type="none" w="med" len="med"/>
                      <a:tailEnd type="none" w="med" len="med"/>
                    </a:lnR>
                    <a:lnT w="9525" cap="flat" cmpd="sng" algn="ctr">
                      <a:solidFill>
                        <a:srgbClr val="E1E1E1"/>
                      </a:solidFill>
                      <a:prstDash val="solid"/>
                      <a:round/>
                      <a:headEnd type="none" w="med" len="med"/>
                      <a:tailEnd type="none" w="med" len="med"/>
                    </a:lnT>
                    <a:lnB w="9525" cap="flat" cmpd="sng" algn="ctr">
                      <a:solidFill>
                        <a:srgbClr val="E1E1E1"/>
                      </a:solidFill>
                      <a:prstDash val="solid"/>
                      <a:round/>
                      <a:headEnd type="none" w="med" len="med"/>
                      <a:tailEnd type="none" w="med" len="med"/>
                    </a:lnB>
                    <a:solidFill>
                      <a:srgbClr val="FCEBB3"/>
                    </a:solidFill>
                  </a:tcPr>
                </a:tc>
              </a:tr>
              <a:tr h="713232">
                <a:tc>
                  <a:txBody>
                    <a:bodyPr/>
                    <a:lstStyle/>
                    <a:p>
                      <a:pPr algn="ctr" indent="0" marL="0">
                        <a:buNone/>
                      </a:pPr>
                      <a:r>
                        <a:rPr lang="en-US" sz="1600" b="1" dirty="0">
                          <a:solidFill>
                            <a:srgbClr val="B88600"/>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101600" marR="101600" marT="50800" marB="50800" anchor="ctr">
                    <a:lnL w="9525" cap="flat" cmpd="sng" algn="ctr">
                      <a:solidFill>
                        <a:srgbClr val="E1E1E1"/>
                      </a:solidFill>
                      <a:prstDash val="solid"/>
                      <a:round/>
                      <a:headEnd type="none" w="med" len="med"/>
                      <a:tailEnd type="none" w="med" len="med"/>
                    </a:lnL>
                    <a:lnR w="9525" cap="flat" cmpd="sng" algn="ctr">
                      <a:solidFill>
                        <a:srgbClr val="E1E1E1"/>
                      </a:solidFill>
                      <a:prstDash val="solid"/>
                      <a:round/>
                      <a:headEnd type="none" w="med" len="med"/>
                      <a:tailEnd type="none" w="med" len="med"/>
                    </a:lnR>
                    <a:lnT w="9525" cap="flat" cmpd="sng" algn="ctr">
                      <a:solidFill>
                        <a:srgbClr val="E1E1E1"/>
                      </a:solidFill>
                      <a:prstDash val="solid"/>
                      <a:round/>
                      <a:headEnd type="none" w="med" len="med"/>
                      <a:tailEnd type="none" w="med" len="med"/>
                    </a:lnT>
                    <a:lnB w="9525" cap="flat" cmpd="sng" algn="ctr">
                      <a:solidFill>
                        <a:srgbClr val="E1E1E1"/>
                      </a:solidFill>
                      <a:prstDash val="solid"/>
                      <a:round/>
                      <a:headEnd type="none" w="med" len="med"/>
                      <a:tailEnd type="none" w="med" len="med"/>
                    </a:lnB>
                  </a:tcPr>
                </a:tc>
                <a:tc>
                  <a:txBody>
                    <a:bodyPr/>
                    <a:lstStyle/>
                    <a:p>
                      <a:pPr indent="0" marL="0">
                        <a:buNone/>
                      </a:pPr>
                      <a:r>
                        <a:rPr lang="en-US" sz="1250" b="1" dirty="0">
                          <a:solidFill>
                            <a:srgbClr val="2B2D31"/>
                          </a:solidFill>
                          <a:latin typeface="Calibri" pitchFamily="34" charset="0"/>
                          <a:ea typeface="Calibri" pitchFamily="34" charset="-122"/>
                          <a:cs typeface="Calibri" pitchFamily="34" charset="-120"/>
                        </a:rPr>
                        <a:t>Which patterns are causal?</a:t>
                      </a:r>
                      <a:endParaRPr lang="en-US" sz="1250" dirty="0">
                        <a:latin typeface="Calibri" charset="0"/>
                        <a:ea typeface="Calibri" charset="0"/>
                        <a:cs typeface="Calibri" charset="0"/>
                      </a:endParaRPr>
                    </a:p>
                  </a:txBody>
                  <a:tcPr marL="101600" marR="101600" marT="50800" marB="50800" anchor="ctr">
                    <a:lnL w="9525" cap="flat" cmpd="sng" algn="ctr">
                      <a:solidFill>
                        <a:srgbClr val="E1E1E1"/>
                      </a:solidFill>
                      <a:prstDash val="solid"/>
                      <a:round/>
                      <a:headEnd type="none" w="med" len="med"/>
                      <a:tailEnd type="none" w="med" len="med"/>
                    </a:lnL>
                    <a:lnR w="9525" cap="flat" cmpd="sng" algn="ctr">
                      <a:solidFill>
                        <a:srgbClr val="E1E1E1"/>
                      </a:solidFill>
                      <a:prstDash val="solid"/>
                      <a:round/>
                      <a:headEnd type="none" w="med" len="med"/>
                      <a:tailEnd type="none" w="med" len="med"/>
                    </a:lnR>
                    <a:lnT w="9525" cap="flat" cmpd="sng" algn="ctr">
                      <a:solidFill>
                        <a:srgbClr val="E1E1E1"/>
                      </a:solidFill>
                      <a:prstDash val="solid"/>
                      <a:round/>
                      <a:headEnd type="none" w="med" len="med"/>
                      <a:tailEnd type="none" w="med" len="med"/>
                    </a:lnT>
                    <a:lnB w="9525" cap="flat" cmpd="sng" algn="ctr">
                      <a:solidFill>
                        <a:srgbClr val="E1E1E1"/>
                      </a:solidFill>
                      <a:prstDash val="solid"/>
                      <a:round/>
                      <a:headEnd type="none" w="med" len="med"/>
                      <a:tailEnd type="none" w="med" len="med"/>
                    </a:lnB>
                  </a:tcPr>
                </a:tc>
                <a:tc>
                  <a:txBody>
                    <a:bodyPr/>
                    <a:lstStyle/>
                    <a:p>
                      <a:pPr indent="0" marL="0">
                        <a:buNone/>
                      </a:pPr>
                      <a:r>
                        <a:rPr lang="en-US" sz="1250" dirty="0">
                          <a:solidFill>
                            <a:srgbClr val="2B2D31"/>
                          </a:solidFill>
                          <a:latin typeface="Calibri" pitchFamily="34" charset="0"/>
                          <a:ea typeface="Calibri" pitchFamily="34" charset="-122"/>
                          <a:cs typeface="Calibri" pitchFamily="34" charset="-120"/>
                        </a:rPr>
                        <a:t>Distinguish observed patterns from effects that need stronger identification</a:t>
                      </a:r>
                      <a:endParaRPr lang="en-US" sz="1250" dirty="0">
                        <a:latin typeface="Calibri" charset="0"/>
                        <a:ea typeface="Calibri" charset="0"/>
                        <a:cs typeface="Calibri" charset="0"/>
                      </a:endParaRPr>
                    </a:p>
                  </a:txBody>
                  <a:tcPr marL="101600" marR="101600" marT="50800" marB="50800" anchor="ctr">
                    <a:lnL w="9525" cap="flat" cmpd="sng" algn="ctr">
                      <a:solidFill>
                        <a:srgbClr val="E1E1E1"/>
                      </a:solidFill>
                      <a:prstDash val="solid"/>
                      <a:round/>
                      <a:headEnd type="none" w="med" len="med"/>
                      <a:tailEnd type="none" w="med" len="med"/>
                    </a:lnL>
                    <a:lnR w="9525" cap="flat" cmpd="sng" algn="ctr">
                      <a:solidFill>
                        <a:srgbClr val="E1E1E1"/>
                      </a:solidFill>
                      <a:prstDash val="solid"/>
                      <a:round/>
                      <a:headEnd type="none" w="med" len="med"/>
                      <a:tailEnd type="none" w="med" len="med"/>
                    </a:lnR>
                    <a:lnT w="9525" cap="flat" cmpd="sng" algn="ctr">
                      <a:solidFill>
                        <a:srgbClr val="E1E1E1"/>
                      </a:solidFill>
                      <a:prstDash val="solid"/>
                      <a:round/>
                      <a:headEnd type="none" w="med" len="med"/>
                      <a:tailEnd type="none" w="med" len="med"/>
                    </a:lnT>
                    <a:lnB w="9525" cap="flat" cmpd="sng" algn="ctr">
                      <a:solidFill>
                        <a:srgbClr val="E1E1E1"/>
                      </a:solidFill>
                      <a:prstDash val="solid"/>
                      <a:round/>
                      <a:headEnd type="none" w="med" len="med"/>
                      <a:tailEnd type="none" w="med" len="med"/>
                    </a:lnB>
                  </a:tcPr>
                </a:tc>
                <a:tc>
                  <a:txBody>
                    <a:bodyPr/>
                    <a:lstStyle/>
                    <a:p>
                      <a:pPr indent="0" marL="0">
                        <a:buNone/>
                      </a:pPr>
                      <a:r>
                        <a:rPr lang="en-US" sz="1250" dirty="0">
                          <a:solidFill>
                            <a:srgbClr val="2B2D31"/>
                          </a:solidFill>
                          <a:latin typeface="Calibri" pitchFamily="34" charset="0"/>
                          <a:ea typeface="Calibri" pitchFamily="34" charset="-122"/>
                          <a:cs typeface="Calibri" pitchFamily="34" charset="-120"/>
                        </a:rPr>
                        <a:t>Pre-trends, placebos, ML counterfactuals, Spark</a:t>
                      </a:r>
                      <a:endParaRPr lang="en-US" sz="1250" dirty="0">
                        <a:latin typeface="Calibri" charset="0"/>
                        <a:ea typeface="Calibri" charset="0"/>
                        <a:cs typeface="Calibri" charset="0"/>
                      </a:endParaRPr>
                    </a:p>
                  </a:txBody>
                  <a:tcPr marL="101600" marR="101600" marT="50800" marB="50800" anchor="ctr">
                    <a:lnL w="9525" cap="flat" cmpd="sng" algn="ctr">
                      <a:solidFill>
                        <a:srgbClr val="E1E1E1"/>
                      </a:solidFill>
                      <a:prstDash val="solid"/>
                      <a:round/>
                      <a:headEnd type="none" w="med" len="med"/>
                      <a:tailEnd type="none" w="med" len="med"/>
                    </a:lnL>
                    <a:lnR w="9525" cap="flat" cmpd="sng" algn="ctr">
                      <a:solidFill>
                        <a:srgbClr val="E1E1E1"/>
                      </a:solidFill>
                      <a:prstDash val="solid"/>
                      <a:round/>
                      <a:headEnd type="none" w="med" len="med"/>
                      <a:tailEnd type="none" w="med" len="med"/>
                    </a:lnR>
                    <a:lnT w="9525" cap="flat" cmpd="sng" algn="ctr">
                      <a:solidFill>
                        <a:srgbClr val="E1E1E1"/>
                      </a:solidFill>
                      <a:prstDash val="solid"/>
                      <a:round/>
                      <a:headEnd type="none" w="med" len="med"/>
                      <a:tailEnd type="none" w="med" len="med"/>
                    </a:lnT>
                    <a:lnB w="9525" cap="flat" cmpd="sng" algn="ctr">
                      <a:solidFill>
                        <a:srgbClr val="E1E1E1"/>
                      </a:solidFill>
                      <a:prstDash val="solid"/>
                      <a:round/>
                      <a:headEnd type="none" w="med" len="med"/>
                      <a:tailEnd type="none" w="med" len="med"/>
                    </a:lnB>
                  </a:tcPr>
                </a:tc>
                <a:tc>
                  <a:txBody>
                    <a:bodyPr/>
                    <a:lstStyle/>
                    <a:p>
                      <a:pPr indent="0" marL="0">
                        <a:buNone/>
                      </a:pPr>
                      <a:r>
                        <a:rPr lang="en-US" sz="1250" b="1" dirty="0">
                          <a:solidFill>
                            <a:srgbClr val="2B2D31"/>
                          </a:solidFill>
                          <a:latin typeface="Calibri" pitchFamily="34" charset="0"/>
                          <a:ea typeface="Calibri" pitchFamily="34" charset="-122"/>
                          <a:cs typeface="Calibri" pitchFamily="34" charset="-120"/>
                        </a:rPr>
                        <a:t>Robustness</a:t>
                      </a:r>
                      <a:endParaRPr lang="en-US" sz="1250" dirty="0">
                        <a:latin typeface="Calibri" charset="0"/>
                        <a:ea typeface="Calibri" charset="0"/>
                        <a:cs typeface="Calibri" charset="0"/>
                      </a:endParaRPr>
                    </a:p>
                  </a:txBody>
                  <a:tcPr marL="101600" marR="101600" marT="50800" marB="50800" anchor="ctr">
                    <a:lnL w="9525" cap="flat" cmpd="sng" algn="ctr">
                      <a:solidFill>
                        <a:srgbClr val="E1E1E1"/>
                      </a:solidFill>
                      <a:prstDash val="solid"/>
                      <a:round/>
                      <a:headEnd type="none" w="med" len="med"/>
                      <a:tailEnd type="none" w="med" len="med"/>
                    </a:lnL>
                    <a:lnR w="9525" cap="flat" cmpd="sng" algn="ctr">
                      <a:solidFill>
                        <a:srgbClr val="E1E1E1"/>
                      </a:solidFill>
                      <a:prstDash val="solid"/>
                      <a:round/>
                      <a:headEnd type="none" w="med" len="med"/>
                      <a:tailEnd type="none" w="med" len="med"/>
                    </a:lnR>
                    <a:lnT w="9525" cap="flat" cmpd="sng" algn="ctr">
                      <a:solidFill>
                        <a:srgbClr val="E1E1E1"/>
                      </a:solidFill>
                      <a:prstDash val="solid"/>
                      <a:round/>
                      <a:headEnd type="none" w="med" len="med"/>
                      <a:tailEnd type="none" w="med" len="med"/>
                    </a:lnT>
                    <a:lnB w="9525" cap="flat" cmpd="sng" algn="ctr">
                      <a:solidFill>
                        <a:srgbClr val="E1E1E1"/>
                      </a:solidFill>
                      <a:prstDash val="solid"/>
                      <a:round/>
                      <a:headEnd type="none" w="med" len="med"/>
                      <a:tailEnd type="none" w="med" len="med"/>
                    </a:lnB>
                    <a:solidFill>
                      <a:srgbClr val="D6E0EA"/>
                    </a:solidFill>
                  </a:tcPr>
                </a:tc>
              </a:tr>
            </a:tbl>
          </a:graphicData>
        </a:graphic>
      </p:graphicFrame>
      <p:sp>
        <p:nvSpPr>
          <p:cNvPr id="6" name="text_73"/>
          <p:cNvSpPr txBox="1"/>
          <p:nvPr/>
        </p:nvSpPr>
        <p:spPr>
          <a:xfrm>
            <a:off x="548640" y="5852160"/>
            <a:ext cx="11094415" cy="320040"/>
          </a:xfrm>
          <a:prstGeom prst="rect">
            <a:avLst/>
          </a:prstGeom>
          <a:noFill/>
          <a:ln/>
        </p:spPr>
        <p:txBody>
          <a:bodyPr wrap="square" lIns="0" tIns="0" rIns="0" bIns="0" rtlCol="0" anchor="t"/>
          <a:lstStyle/>
          <a:p>
            <a:pPr indent="0" marL="0">
              <a:buNone/>
            </a:pPr>
            <a:r>
              <a:rPr lang="en-US" sz="1300" i="1" dirty="0">
                <a:solidFill>
                  <a:schemeClr val="tx2"/>
                </a:solidFill>
              </a:rPr>
              <a:t>Policy lesson: what transfers to Indian cities, and under which conditions.</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_74"/>
          <p:cNvSpPr/>
          <p:nvPr/>
        </p:nvSpPr>
        <p:spPr>
          <a:xfrm>
            <a:off x="548640" y="384048"/>
            <a:ext cx="1660550" cy="292608"/>
          </a:xfrm>
          <a:prstGeom prst="roundRect">
            <a:avLst>
              <a:gd name="adj" fmla="val 40625"/>
            </a:avLst>
          </a:prstGeom>
          <a:solidFill>
            <a:schemeClr val="accent1"/>
          </a:solidFill>
          <a:ln/>
        </p:spPr>
        <p:txBody>
          <a:bodyPr wrap="square" lIns="0" tIns="0" rIns="0" bIns="0" rtlCol="0" anchor="ctr"/>
          <a:lstStyle/>
          <a:p>
            <a:pPr algn="ctr" indent="0" marL="0">
              <a:buNone/>
            </a:pPr>
            <a:r>
              <a:rPr lang="en-US" sz="1050" b="1" spc="150" kern="0" dirty="0">
                <a:solidFill>
                  <a:schemeClr val="tx1"/>
                </a:solidFill>
              </a:rPr>
              <a:t>B · DATA OVERVIEW</a:t>
            </a:r>
            <a:endParaRPr lang="en-US" sz="1050" dirty="0"/>
          </a:p>
        </p:txBody>
      </p:sp>
      <p:sp>
        <p:nvSpPr>
          <p:cNvPr id="3" name="Text 1"/>
          <p:cNvSpPr/>
          <p:nvPr>
            <p:ph idx="101" type="title" hasCustomPrompt="1"/>
          </p:nvPr>
        </p:nvSpPr>
        <p:spPr>
          <a:xfrm>
            <a:off x="548640" y="868680"/>
            <a:ext cx="11094415" cy="77724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157.9 million trips, one row per taxi ride</a:t>
            </a:r>
            <a:endParaRPr lang="en-US" sz="3000" dirty="0"/>
          </a:p>
        </p:txBody>
      </p:sp>
      <p:sp>
        <p:nvSpPr>
          <p:cNvPr id="5" name="card_75"/>
          <p:cNvSpPr/>
          <p:nvPr/>
        </p:nvSpPr>
        <p:spPr>
          <a:xfrm>
            <a:off x="548640" y="1783080"/>
            <a:ext cx="2606040" cy="1325880"/>
          </a:xfrm>
          <a:prstGeom prst="roundRect">
            <a:avLst>
              <a:gd name="adj" fmla="val 8276"/>
            </a:avLst>
          </a:prstGeom>
          <a:solidFill>
            <a:schemeClr val="bg2"/>
          </a:solidFill>
          <a:ln/>
        </p:spPr>
      </p:sp>
      <p:sp>
        <p:nvSpPr>
          <p:cNvPr id="6" name="text_76"/>
          <p:cNvSpPr txBox="1"/>
          <p:nvPr/>
        </p:nvSpPr>
        <p:spPr>
          <a:xfrm>
            <a:off x="822960" y="1783080"/>
            <a:ext cx="2194560" cy="640080"/>
          </a:xfrm>
          <a:prstGeom prst="rect">
            <a:avLst/>
          </a:prstGeom>
          <a:noFill/>
          <a:ln/>
        </p:spPr>
        <p:txBody>
          <a:bodyPr wrap="square" lIns="0" tIns="0" rIns="0" bIns="0" rtlCol="0" anchor="b"/>
          <a:lstStyle/>
          <a:p>
            <a:pPr indent="0" marL="0">
              <a:buNone/>
            </a:pPr>
            <a:r>
              <a:rPr lang="en-US" sz="3200" b="1" dirty="0">
                <a:solidFill>
                  <a:schemeClr val="tx1"/>
                </a:solidFill>
                <a:latin typeface="Arial" pitchFamily="34" charset="0"/>
                <a:ea typeface="Arial" pitchFamily="34" charset="-122"/>
                <a:cs typeface="Arial" pitchFamily="34" charset="-120"/>
              </a:rPr>
              <a:t>157.9M</a:t>
            </a:r>
            <a:endParaRPr lang="en-US" sz="3200" dirty="0"/>
          </a:p>
        </p:txBody>
      </p:sp>
      <p:sp>
        <p:nvSpPr>
          <p:cNvPr id="7" name="text_77"/>
          <p:cNvSpPr txBox="1"/>
          <p:nvPr/>
        </p:nvSpPr>
        <p:spPr>
          <a:xfrm>
            <a:off x="822960" y="2468880"/>
            <a:ext cx="2194560" cy="411480"/>
          </a:xfrm>
          <a:prstGeom prst="rect">
            <a:avLst/>
          </a:prstGeom>
          <a:noFill/>
          <a:ln/>
        </p:spPr>
        <p:txBody>
          <a:bodyPr wrap="square" lIns="0" tIns="0" rIns="0" bIns="0" rtlCol="0" anchor="t"/>
          <a:lstStyle/>
          <a:p>
            <a:pPr indent="0" marL="0">
              <a:buNone/>
            </a:pPr>
            <a:r>
              <a:rPr lang="en-US" sz="1250" dirty="0">
                <a:solidFill>
                  <a:schemeClr val="tx2"/>
                </a:solidFill>
              </a:rPr>
              <a:t>clean trips (167.9M raw)</a:t>
            </a:r>
            <a:endParaRPr lang="en-US" sz="1250" dirty="0"/>
          </a:p>
        </p:txBody>
      </p:sp>
      <p:sp>
        <p:nvSpPr>
          <p:cNvPr id="8" name="card_78"/>
          <p:cNvSpPr/>
          <p:nvPr/>
        </p:nvSpPr>
        <p:spPr>
          <a:xfrm>
            <a:off x="3364992" y="1783080"/>
            <a:ext cx="2606040" cy="1325880"/>
          </a:xfrm>
          <a:prstGeom prst="roundRect">
            <a:avLst>
              <a:gd name="adj" fmla="val 8276"/>
            </a:avLst>
          </a:prstGeom>
          <a:solidFill>
            <a:schemeClr val="bg2"/>
          </a:solidFill>
          <a:ln/>
        </p:spPr>
      </p:sp>
      <p:sp>
        <p:nvSpPr>
          <p:cNvPr id="9" name="text_79"/>
          <p:cNvSpPr txBox="1"/>
          <p:nvPr/>
        </p:nvSpPr>
        <p:spPr>
          <a:xfrm>
            <a:off x="3639312" y="1783080"/>
            <a:ext cx="2194560" cy="640080"/>
          </a:xfrm>
          <a:prstGeom prst="rect">
            <a:avLst/>
          </a:prstGeom>
          <a:noFill/>
          <a:ln/>
        </p:spPr>
        <p:txBody>
          <a:bodyPr wrap="square" lIns="0" tIns="0" rIns="0" bIns="0" rtlCol="0" anchor="b"/>
          <a:lstStyle/>
          <a:p>
            <a:pPr indent="0" marL="0">
              <a:buNone/>
            </a:pPr>
            <a:r>
              <a:rPr lang="en-US" sz="3200" b="1" dirty="0">
                <a:solidFill>
                  <a:schemeClr val="tx1"/>
                </a:solidFill>
                <a:latin typeface="Arial" pitchFamily="34" charset="0"/>
                <a:ea typeface="Arial" pitchFamily="34" charset="-122"/>
                <a:cs typeface="Arial" pitchFamily="34" charset="-120"/>
              </a:rPr>
              <a:t>48</a:t>
            </a:r>
            <a:endParaRPr lang="en-US" sz="3200" dirty="0"/>
          </a:p>
        </p:txBody>
      </p:sp>
      <p:sp>
        <p:nvSpPr>
          <p:cNvPr id="10" name="text_80"/>
          <p:cNvSpPr txBox="1"/>
          <p:nvPr/>
        </p:nvSpPr>
        <p:spPr>
          <a:xfrm>
            <a:off x="3639312" y="2468880"/>
            <a:ext cx="2194560" cy="411480"/>
          </a:xfrm>
          <a:prstGeom prst="rect">
            <a:avLst/>
          </a:prstGeom>
          <a:noFill/>
          <a:ln/>
        </p:spPr>
        <p:txBody>
          <a:bodyPr wrap="square" lIns="0" tIns="0" rIns="0" bIns="0" rtlCol="0" anchor="t"/>
          <a:lstStyle/>
          <a:p>
            <a:pPr indent="0" marL="0">
              <a:buNone/>
            </a:pPr>
            <a:r>
              <a:rPr lang="en-US" sz="1250" dirty="0">
                <a:solidFill>
                  <a:schemeClr val="tx2"/>
                </a:solidFill>
              </a:rPr>
              <a:t>monthly source files</a:t>
            </a:r>
            <a:endParaRPr lang="en-US" sz="1250" dirty="0"/>
          </a:p>
        </p:txBody>
      </p:sp>
      <p:sp>
        <p:nvSpPr>
          <p:cNvPr id="11" name="card_81"/>
          <p:cNvSpPr/>
          <p:nvPr/>
        </p:nvSpPr>
        <p:spPr>
          <a:xfrm>
            <a:off x="6181344" y="1783080"/>
            <a:ext cx="2606040" cy="1325880"/>
          </a:xfrm>
          <a:prstGeom prst="roundRect">
            <a:avLst>
              <a:gd name="adj" fmla="val 8276"/>
            </a:avLst>
          </a:prstGeom>
          <a:solidFill>
            <a:schemeClr val="bg2"/>
          </a:solidFill>
          <a:ln/>
        </p:spPr>
      </p:sp>
      <p:sp>
        <p:nvSpPr>
          <p:cNvPr id="12" name="text_82"/>
          <p:cNvSpPr txBox="1"/>
          <p:nvPr/>
        </p:nvSpPr>
        <p:spPr>
          <a:xfrm>
            <a:off x="6455664" y="1783080"/>
            <a:ext cx="2194560" cy="640080"/>
          </a:xfrm>
          <a:prstGeom prst="rect">
            <a:avLst/>
          </a:prstGeom>
          <a:noFill/>
          <a:ln/>
        </p:spPr>
        <p:txBody>
          <a:bodyPr wrap="square" lIns="0" tIns="0" rIns="0" bIns="0" rtlCol="0" anchor="b"/>
          <a:lstStyle/>
          <a:p>
            <a:pPr indent="0" marL="0">
              <a:buNone/>
            </a:pPr>
            <a:r>
              <a:rPr lang="en-US" sz="3200" b="1" dirty="0">
                <a:solidFill>
                  <a:schemeClr val="tx1"/>
                </a:solidFill>
                <a:latin typeface="Arial" pitchFamily="34" charset="0"/>
                <a:ea typeface="Arial" pitchFamily="34" charset="-122"/>
                <a:cs typeface="Arial" pitchFamily="34" charset="-120"/>
              </a:rPr>
              <a:t>263</a:t>
            </a:r>
            <a:endParaRPr lang="en-US" sz="3200" dirty="0"/>
          </a:p>
        </p:txBody>
      </p:sp>
      <p:sp>
        <p:nvSpPr>
          <p:cNvPr id="13" name="text_83"/>
          <p:cNvSpPr txBox="1"/>
          <p:nvPr/>
        </p:nvSpPr>
        <p:spPr>
          <a:xfrm>
            <a:off x="6455664" y="2468880"/>
            <a:ext cx="2194560" cy="411480"/>
          </a:xfrm>
          <a:prstGeom prst="rect">
            <a:avLst/>
          </a:prstGeom>
          <a:noFill/>
          <a:ln/>
        </p:spPr>
        <p:txBody>
          <a:bodyPr wrap="square" lIns="0" tIns="0" rIns="0" bIns="0" rtlCol="0" anchor="t"/>
          <a:lstStyle/>
          <a:p>
            <a:pPr indent="0" marL="0">
              <a:buNone/>
            </a:pPr>
            <a:r>
              <a:rPr lang="en-US" sz="1250" dirty="0">
                <a:solidFill>
                  <a:schemeClr val="tx2"/>
                </a:solidFill>
              </a:rPr>
              <a:t>taxi zones</a:t>
            </a:r>
            <a:endParaRPr lang="en-US" sz="1250" dirty="0"/>
          </a:p>
        </p:txBody>
      </p:sp>
      <p:sp>
        <p:nvSpPr>
          <p:cNvPr id="14" name="card_84"/>
          <p:cNvSpPr/>
          <p:nvPr/>
        </p:nvSpPr>
        <p:spPr>
          <a:xfrm>
            <a:off x="8997696" y="1783080"/>
            <a:ext cx="2606040" cy="1325880"/>
          </a:xfrm>
          <a:prstGeom prst="roundRect">
            <a:avLst>
              <a:gd name="adj" fmla="val 8276"/>
            </a:avLst>
          </a:prstGeom>
          <a:solidFill>
            <a:schemeClr val="bg2"/>
          </a:solidFill>
          <a:ln/>
        </p:spPr>
      </p:sp>
      <p:sp>
        <p:nvSpPr>
          <p:cNvPr id="15" name="text_85"/>
          <p:cNvSpPr txBox="1"/>
          <p:nvPr/>
        </p:nvSpPr>
        <p:spPr>
          <a:xfrm>
            <a:off x="9272016" y="1783080"/>
            <a:ext cx="2194560" cy="640080"/>
          </a:xfrm>
          <a:prstGeom prst="rect">
            <a:avLst/>
          </a:prstGeom>
          <a:noFill/>
          <a:ln/>
        </p:spPr>
        <p:txBody>
          <a:bodyPr wrap="square" lIns="0" tIns="0" rIns="0" bIns="0" rtlCol="0" anchor="b"/>
          <a:lstStyle/>
          <a:p>
            <a:pPr indent="0" marL="0">
              <a:buNone/>
            </a:pPr>
            <a:r>
              <a:rPr lang="en-US" sz="3200" b="1" dirty="0">
                <a:solidFill>
                  <a:schemeClr val="tx1"/>
                </a:solidFill>
                <a:latin typeface="Arial" pitchFamily="34" charset="0"/>
                <a:ea typeface="Arial" pitchFamily="34" charset="-122"/>
                <a:cs typeface="Arial" pitchFamily="34" charset="-120"/>
              </a:rPr>
              <a:t>1,461</a:t>
            </a:r>
            <a:endParaRPr lang="en-US" sz="3200" dirty="0"/>
          </a:p>
        </p:txBody>
      </p:sp>
      <p:sp>
        <p:nvSpPr>
          <p:cNvPr id="16" name="text_86"/>
          <p:cNvSpPr txBox="1"/>
          <p:nvPr/>
        </p:nvSpPr>
        <p:spPr>
          <a:xfrm>
            <a:off x="9272016" y="2468880"/>
            <a:ext cx="2194560" cy="411480"/>
          </a:xfrm>
          <a:prstGeom prst="rect">
            <a:avLst/>
          </a:prstGeom>
          <a:noFill/>
          <a:ln/>
        </p:spPr>
        <p:txBody>
          <a:bodyPr wrap="square" lIns="0" tIns="0" rIns="0" bIns="0" rtlCol="0" anchor="t"/>
          <a:lstStyle/>
          <a:p>
            <a:pPr indent="0" marL="0">
              <a:buNone/>
            </a:pPr>
            <a:r>
              <a:rPr lang="en-US" sz="1250" dirty="0">
                <a:solidFill>
                  <a:schemeClr val="tx2"/>
                </a:solidFill>
              </a:rPr>
              <a:t>days, joined to weather</a:t>
            </a:r>
            <a:endParaRPr lang="en-US" sz="1250" dirty="0"/>
          </a:p>
        </p:txBody>
      </p:sp>
      <p:sp>
        <p:nvSpPr>
          <p:cNvPr id="17" name="text_87"/>
          <p:cNvSpPr txBox="1"/>
          <p:nvPr/>
        </p:nvSpPr>
        <p:spPr>
          <a:xfrm>
            <a:off x="548640" y="3383280"/>
            <a:ext cx="5120640" cy="320040"/>
          </a:xfrm>
          <a:prstGeom prst="rect">
            <a:avLst/>
          </a:prstGeom>
          <a:noFill/>
          <a:ln/>
        </p:spPr>
        <p:txBody>
          <a:bodyPr wrap="square" lIns="0" tIns="0" rIns="0" bIns="0" rtlCol="0" anchor="t"/>
          <a:lstStyle/>
          <a:p>
            <a:pPr indent="0" marL="0">
              <a:buNone/>
            </a:pPr>
            <a:r>
              <a:rPr lang="en-US" sz="1500" b="1" dirty="0">
                <a:solidFill>
                  <a:schemeClr val="tx1"/>
                </a:solidFill>
              </a:rPr>
              <a:t>Variables in each trip record</a:t>
            </a:r>
            <a:endParaRPr lang="en-US" sz="1500" dirty="0"/>
          </a:p>
        </p:txBody>
      </p:sp>
      <p:sp>
        <p:nvSpPr>
          <p:cNvPr id="18" name="text_88"/>
          <p:cNvSpPr txBox="1"/>
          <p:nvPr/>
        </p:nvSpPr>
        <p:spPr>
          <a:xfrm>
            <a:off x="548640" y="3749040"/>
            <a:ext cx="5120640" cy="2103120"/>
          </a:xfrm>
          <a:prstGeom prst="rect">
            <a:avLst/>
          </a:prstGeom>
          <a:noFill/>
          <a:ln/>
        </p:spPr>
        <p:txBody>
          <a:bodyPr wrap="square" lIns="0" tIns="0" rIns="0" bIns="0" rtlCol="0" anchor="t"/>
          <a:lstStyle/>
          <a:p>
            <a:pPr indent="0" marL="0">
              <a:spcAft>
                <a:spcPts val="700"/>
              </a:spcAft>
              <a:buNone/>
            </a:pPr>
            <a:r>
              <a:rPr lang="en-US" sz="1400" b="1" dirty="0">
                <a:solidFill>
                  <a:schemeClr val="tx1"/>
                </a:solidFill>
              </a:rPr>
              <a:t>Time  </a:t>
            </a:r>
            <a:pPr indent="0" marL="0">
              <a:spcAft>
                <a:spcPts val="700"/>
              </a:spcAft>
              <a:buNone/>
            </a:pPr>
            <a:r>
              <a:rPr lang="en-US" sz="1400" dirty="0">
                <a:solidFill>
                  <a:schemeClr val="tx2"/>
                </a:solidFill>
              </a:rPr>
              <a:t>pickup and drop-off timestamps</a:t>
            </a:r>
            <a:endParaRPr lang="en-US" sz="1400" dirty="0"/>
          </a:p>
          <a:p>
            <a:pPr indent="0" marL="0">
              <a:spcAft>
                <a:spcPts val="700"/>
              </a:spcAft>
              <a:buNone/>
            </a:pPr>
            <a:r>
              <a:rPr lang="en-US" sz="1400" b="1" dirty="0">
                <a:solidFill>
                  <a:schemeClr val="tx1"/>
                </a:solidFill>
              </a:rPr>
              <a:t>Place  </a:t>
            </a:r>
            <a:pPr indent="0" marL="0">
              <a:spcAft>
                <a:spcPts val="700"/>
              </a:spcAft>
              <a:buNone/>
            </a:pPr>
            <a:r>
              <a:rPr lang="en-US" sz="1400" dirty="0">
                <a:solidFill>
                  <a:schemeClr val="tx2"/>
                </a:solidFill>
              </a:rPr>
              <a:t>pickup and drop-off taxi zone</a:t>
            </a:r>
            <a:endParaRPr lang="en-US" sz="1400" dirty="0"/>
          </a:p>
          <a:p>
            <a:pPr indent="0" marL="0">
              <a:spcAft>
                <a:spcPts val="700"/>
              </a:spcAft>
              <a:buNone/>
            </a:pPr>
            <a:r>
              <a:rPr lang="en-US" sz="1400" b="1" dirty="0">
                <a:solidFill>
                  <a:schemeClr val="tx1"/>
                </a:solidFill>
              </a:rPr>
              <a:t>Trip  </a:t>
            </a:r>
            <a:pPr indent="0" marL="0">
              <a:spcAft>
                <a:spcPts val="700"/>
              </a:spcAft>
              <a:buNone/>
            </a:pPr>
            <a:r>
              <a:rPr lang="en-US" sz="1400" dirty="0">
                <a:solidFill>
                  <a:schemeClr val="tx2"/>
                </a:solidFill>
              </a:rPr>
              <a:t>distance, duration, speed</a:t>
            </a:r>
            <a:endParaRPr lang="en-US" sz="1400" dirty="0"/>
          </a:p>
          <a:p>
            <a:pPr indent="0" marL="0">
              <a:spcAft>
                <a:spcPts val="700"/>
              </a:spcAft>
              <a:buNone/>
            </a:pPr>
            <a:r>
              <a:rPr lang="en-US" sz="1400" b="1" dirty="0">
                <a:solidFill>
                  <a:schemeClr val="tx1"/>
                </a:solidFill>
              </a:rPr>
              <a:t>Price  </a:t>
            </a:r>
            <a:pPr indent="0" marL="0">
              <a:spcAft>
                <a:spcPts val="700"/>
              </a:spcAft>
              <a:buNone/>
            </a:pPr>
            <a:r>
              <a:rPr lang="en-US" sz="1400" dirty="0">
                <a:solidFill>
                  <a:schemeClr val="tx2"/>
                </a:solidFill>
              </a:rPr>
              <a:t>fare, surcharges, $0.75 toll fee, tolls</a:t>
            </a:r>
            <a:endParaRPr lang="en-US" sz="1400" dirty="0"/>
          </a:p>
          <a:p>
            <a:pPr indent="0" marL="0">
              <a:spcAft>
                <a:spcPts val="700"/>
              </a:spcAft>
              <a:buNone/>
            </a:pPr>
            <a:r>
              <a:rPr lang="en-US" sz="1400" b="1" dirty="0">
                <a:solidFill>
                  <a:schemeClr val="tx1"/>
                </a:solidFill>
              </a:rPr>
              <a:t>Payment  </a:t>
            </a:r>
            <a:pPr indent="0" marL="0">
              <a:spcAft>
                <a:spcPts val="700"/>
              </a:spcAft>
              <a:buNone/>
            </a:pPr>
            <a:r>
              <a:rPr lang="en-US" sz="1400" dirty="0">
                <a:solidFill>
                  <a:schemeClr val="tx2"/>
                </a:solidFill>
              </a:rPr>
              <a:t>tip, card or cash, passengers</a:t>
            </a:r>
            <a:endParaRPr lang="en-US" sz="1400" dirty="0"/>
          </a:p>
        </p:txBody>
      </p:sp>
      <p:sp>
        <p:nvSpPr>
          <p:cNvPr id="19" name="text_89"/>
          <p:cNvSpPr txBox="1"/>
          <p:nvPr/>
        </p:nvSpPr>
        <p:spPr>
          <a:xfrm>
            <a:off x="5989320" y="3383280"/>
            <a:ext cx="5653735" cy="320040"/>
          </a:xfrm>
          <a:prstGeom prst="rect">
            <a:avLst/>
          </a:prstGeom>
          <a:noFill/>
          <a:ln/>
        </p:spPr>
        <p:txBody>
          <a:bodyPr wrap="square" lIns="0" tIns="0" rIns="0" bIns="0" rtlCol="0" anchor="t"/>
          <a:lstStyle/>
          <a:p>
            <a:pPr indent="0" marL="0">
              <a:buNone/>
            </a:pPr>
            <a:r>
              <a:rPr lang="en-US" sz="1500" b="1" dirty="0">
                <a:solidFill>
                  <a:schemeClr val="tx1"/>
                </a:solidFill>
              </a:rPr>
              <a:t>From raw files to analytical panels</a:t>
            </a:r>
            <a:endParaRPr lang="en-US" sz="1500" dirty="0"/>
          </a:p>
        </p:txBody>
      </p:sp>
      <p:sp>
        <p:nvSpPr>
          <p:cNvPr id="20" name="flow_90"/>
          <p:cNvSpPr/>
          <p:nvPr/>
        </p:nvSpPr>
        <p:spPr>
          <a:xfrm>
            <a:off x="5989320" y="3794760"/>
            <a:ext cx="4099255" cy="566928"/>
          </a:xfrm>
          <a:prstGeom prst="roundRect">
            <a:avLst>
              <a:gd name="adj" fmla="val 16129"/>
            </a:avLst>
          </a:prstGeom>
          <a:solidFill>
            <a:schemeClr val="bg2"/>
          </a:solidFill>
          <a:ln/>
        </p:spPr>
      </p:sp>
      <p:sp>
        <p:nvSpPr>
          <p:cNvPr id="21" name="text_91"/>
          <p:cNvSpPr txBox="1"/>
          <p:nvPr/>
        </p:nvSpPr>
        <p:spPr>
          <a:xfrm>
            <a:off x="6172200" y="3831336"/>
            <a:ext cx="3824935" cy="512064"/>
          </a:xfrm>
          <a:prstGeom prst="rect">
            <a:avLst/>
          </a:prstGeom>
          <a:noFill/>
          <a:ln/>
        </p:spPr>
        <p:txBody>
          <a:bodyPr wrap="square" lIns="0" tIns="0" rIns="0" bIns="0" rtlCol="0" anchor="ctr"/>
          <a:lstStyle/>
          <a:p>
            <a:pPr indent="0" marL="0">
              <a:buNone/>
            </a:pPr>
            <a:r>
              <a:rPr lang="en-US" sz="1350" b="1" dirty="0">
                <a:solidFill>
                  <a:schemeClr val="tx1"/>
                </a:solidFill>
              </a:rPr>
              <a:t>48 raw monthly files</a:t>
            </a:r>
            <a:endParaRPr lang="en-US" sz="1350" dirty="0"/>
          </a:p>
          <a:p>
            <a:pPr indent="0" marL="0">
              <a:buNone/>
            </a:pPr>
            <a:r>
              <a:rPr lang="en-US" sz="1150" dirty="0">
                <a:solidFill>
                  <a:schemeClr val="tx2"/>
                </a:solidFill>
              </a:rPr>
              <a:t>TLC Parquet · 167.9M rows</a:t>
            </a:r>
            <a:endParaRPr lang="en-US" sz="1350" dirty="0"/>
          </a:p>
        </p:txBody>
      </p:sp>
      <p:sp>
        <p:nvSpPr>
          <p:cNvPr id="22" name="arrow_92"/>
          <p:cNvSpPr/>
          <p:nvPr/>
        </p:nvSpPr>
        <p:spPr>
          <a:xfrm>
            <a:off x="6217920" y="4370832"/>
            <a:ext cx="182880" cy="164592"/>
          </a:xfrm>
          <a:prstGeom prst="downArrow">
            <a:avLst/>
          </a:prstGeom>
          <a:solidFill>
            <a:schemeClr val="accent3"/>
          </a:solidFill>
          <a:ln/>
        </p:spPr>
      </p:sp>
      <p:sp>
        <p:nvSpPr>
          <p:cNvPr id="23" name="flow_93"/>
          <p:cNvSpPr/>
          <p:nvPr/>
        </p:nvSpPr>
        <p:spPr>
          <a:xfrm>
            <a:off x="5989320" y="4544568"/>
            <a:ext cx="4099255" cy="566928"/>
          </a:xfrm>
          <a:prstGeom prst="roundRect">
            <a:avLst>
              <a:gd name="adj" fmla="val 16129"/>
            </a:avLst>
          </a:prstGeom>
          <a:solidFill>
            <a:schemeClr val="bg2"/>
          </a:solidFill>
          <a:ln/>
        </p:spPr>
      </p:sp>
      <p:sp>
        <p:nvSpPr>
          <p:cNvPr id="24" name="text_94"/>
          <p:cNvSpPr txBox="1"/>
          <p:nvPr/>
        </p:nvSpPr>
        <p:spPr>
          <a:xfrm>
            <a:off x="6172200" y="4581144"/>
            <a:ext cx="3824935" cy="512064"/>
          </a:xfrm>
          <a:prstGeom prst="rect">
            <a:avLst/>
          </a:prstGeom>
          <a:noFill/>
          <a:ln/>
        </p:spPr>
        <p:txBody>
          <a:bodyPr wrap="square" lIns="0" tIns="0" rIns="0" bIns="0" rtlCol="0" anchor="ctr"/>
          <a:lstStyle/>
          <a:p>
            <a:pPr indent="0" marL="0">
              <a:buNone/>
            </a:pPr>
            <a:r>
              <a:rPr lang="en-US" sz="1350" b="1" dirty="0">
                <a:solidFill>
                  <a:schemeClr val="tx1"/>
                </a:solidFill>
              </a:rPr>
              <a:t>Cleaned trip dataset</a:t>
            </a:r>
            <a:endParaRPr lang="en-US" sz="1350" dirty="0"/>
          </a:p>
          <a:p>
            <a:pPr indent="0" marL="0">
              <a:buNone/>
            </a:pPr>
            <a:r>
              <a:rPr lang="en-US" sz="1150" dirty="0">
                <a:solidFill>
                  <a:schemeClr val="tx2"/>
                </a:solidFill>
              </a:rPr>
              <a:t>157.9M rows · partitioned by year/month</a:t>
            </a:r>
            <a:endParaRPr lang="en-US" sz="1350" dirty="0"/>
          </a:p>
        </p:txBody>
      </p:sp>
      <p:sp>
        <p:nvSpPr>
          <p:cNvPr id="25" name="arrow_95"/>
          <p:cNvSpPr/>
          <p:nvPr/>
        </p:nvSpPr>
        <p:spPr>
          <a:xfrm>
            <a:off x="6217920" y="5120640"/>
            <a:ext cx="182880" cy="164592"/>
          </a:xfrm>
          <a:prstGeom prst="downArrow">
            <a:avLst/>
          </a:prstGeom>
          <a:solidFill>
            <a:schemeClr val="accent3"/>
          </a:solidFill>
          <a:ln/>
        </p:spPr>
      </p:sp>
      <p:sp>
        <p:nvSpPr>
          <p:cNvPr id="26" name="flow_96"/>
          <p:cNvSpPr/>
          <p:nvPr/>
        </p:nvSpPr>
        <p:spPr>
          <a:xfrm>
            <a:off x="5989320" y="5294376"/>
            <a:ext cx="4099255" cy="566928"/>
          </a:xfrm>
          <a:prstGeom prst="roundRect">
            <a:avLst>
              <a:gd name="adj" fmla="val 16129"/>
            </a:avLst>
          </a:prstGeom>
          <a:solidFill>
            <a:schemeClr val="accent1"/>
          </a:solidFill>
          <a:ln/>
        </p:spPr>
      </p:sp>
      <p:sp>
        <p:nvSpPr>
          <p:cNvPr id="27" name="text_97"/>
          <p:cNvSpPr txBox="1"/>
          <p:nvPr/>
        </p:nvSpPr>
        <p:spPr>
          <a:xfrm>
            <a:off x="6172200" y="5330952"/>
            <a:ext cx="3824935" cy="512064"/>
          </a:xfrm>
          <a:prstGeom prst="rect">
            <a:avLst/>
          </a:prstGeom>
          <a:noFill/>
          <a:ln/>
        </p:spPr>
        <p:txBody>
          <a:bodyPr wrap="square" lIns="0" tIns="0" rIns="0" bIns="0" rtlCol="0" anchor="ctr"/>
          <a:lstStyle/>
          <a:p>
            <a:pPr indent="0" marL="0">
              <a:buNone/>
            </a:pPr>
            <a:r>
              <a:rPr lang="en-US" sz="1350" b="1" dirty="0">
                <a:solidFill>
                  <a:schemeClr val="tx1"/>
                </a:solidFill>
              </a:rPr>
              <a:t>Analytical panels</a:t>
            </a:r>
            <a:endParaRPr lang="en-US" sz="1350" dirty="0"/>
          </a:p>
          <a:p>
            <a:pPr indent="0" marL="0">
              <a:buNone/>
            </a:pPr>
            <a:r>
              <a:rPr lang="en-US" sz="1150" dirty="0">
                <a:solidFill>
                  <a:schemeClr val="tx2"/>
                </a:solidFill>
              </a:rPr>
              <a:t>zone × day · group × hour · fare segments</a:t>
            </a:r>
            <a:endParaRPr lang="en-US" sz="1350" dirty="0"/>
          </a:p>
        </p:txBody>
      </p:sp>
      <p:sp>
        <p:nvSpPr>
          <p:cNvPr id="28" name="text_98"/>
          <p:cNvSpPr txBox="1"/>
          <p:nvPr/>
        </p:nvSpPr>
        <p:spPr>
          <a:xfrm>
            <a:off x="10271455" y="4526280"/>
            <a:ext cx="1371600" cy="822960"/>
          </a:xfrm>
          <a:prstGeom prst="rect">
            <a:avLst/>
          </a:prstGeom>
          <a:noFill/>
          <a:ln/>
        </p:spPr>
        <p:txBody>
          <a:bodyPr wrap="square" lIns="0" tIns="0" rIns="0" bIns="0" rtlCol="0" anchor="t"/>
          <a:lstStyle/>
          <a:p>
            <a:pPr indent="0" marL="0">
              <a:buNone/>
            </a:pPr>
            <a:r>
              <a:rPr lang="en-US" sz="1200" b="1" dirty="0">
                <a:solidFill>
                  <a:schemeClr val="accent5"/>
                </a:solidFill>
              </a:rPr>
              <a:t>+ NOAA weather</a:t>
            </a:r>
            <a:endParaRPr lang="en-US" sz="1200" dirty="0"/>
          </a:p>
          <a:p>
            <a:pPr indent="0" marL="0">
              <a:buNone/>
            </a:pPr>
            <a:r>
              <a:rPr lang="en-US" sz="1200" b="1" dirty="0">
                <a:solidFill>
                  <a:schemeClr val="accent5"/>
                </a:solidFill>
              </a:rPr>
              <a:t>+ zone shapefile</a:t>
            </a:r>
            <a:endParaRPr lang="en-US" sz="1200" dirty="0"/>
          </a:p>
          <a:p>
            <a:pPr indent="0" marL="0">
              <a:buNone/>
            </a:pPr>
            <a:r>
              <a:rPr lang="en-US" sz="1200" b="1" dirty="0">
                <a:solidFill>
                  <a:schemeClr val="accent5"/>
                </a:solidFill>
              </a:rPr>
              <a:t>+ calendar</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_99"/>
          <p:cNvSpPr/>
          <p:nvPr/>
        </p:nvSpPr>
        <p:spPr>
          <a:xfrm>
            <a:off x="548640" y="384048"/>
            <a:ext cx="3028493" cy="292608"/>
          </a:xfrm>
          <a:prstGeom prst="roundRect">
            <a:avLst>
              <a:gd name="adj" fmla="val 40625"/>
            </a:avLst>
          </a:prstGeom>
          <a:solidFill>
            <a:schemeClr val="accent1"/>
          </a:solidFill>
          <a:ln/>
        </p:spPr>
        <p:txBody>
          <a:bodyPr wrap="square" lIns="0" tIns="0" rIns="0" bIns="0" rtlCol="0" anchor="ctr"/>
          <a:lstStyle/>
          <a:p>
            <a:pPr algn="ctr" indent="0" marL="0">
              <a:buNone/>
            </a:pPr>
            <a:r>
              <a:rPr lang="en-US" sz="1050" b="1" spc="150" kern="0" dirty="0">
                <a:solidFill>
                  <a:schemeClr val="tx1"/>
                </a:solidFill>
              </a:rPr>
              <a:t>B · CLEANING AND QUALITY ASSURANCE</a:t>
            </a:r>
            <a:endParaRPr lang="en-US" sz="1050" dirty="0"/>
          </a:p>
        </p:txBody>
      </p:sp>
      <p:sp>
        <p:nvSpPr>
          <p:cNvPr id="3" name="Text 1"/>
          <p:cNvSpPr/>
          <p:nvPr>
            <p:ph idx="101" type="title" hasCustomPrompt="1"/>
          </p:nvPr>
        </p:nvSpPr>
        <p:spPr>
          <a:xfrm>
            <a:off x="548640" y="868680"/>
            <a:ext cx="11094415" cy="77724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Thirteen validation rules remove 5.9% of records</a:t>
            </a:r>
            <a:endParaRPr lang="en-US" sz="3000" dirty="0"/>
          </a:p>
        </p:txBody>
      </p:sp>
      <p:sp>
        <p:nvSpPr>
          <p:cNvPr id="5" name="chev_100"/>
          <p:cNvSpPr/>
          <p:nvPr/>
        </p:nvSpPr>
        <p:spPr>
          <a:xfrm>
            <a:off x="548640" y="1783080"/>
            <a:ext cx="1772869" cy="640080"/>
          </a:xfrm>
          <a:prstGeom prst="chevron">
            <a:avLst/>
          </a:prstGeom>
          <a:solidFill>
            <a:schemeClr val="bg2"/>
          </a:solidFill>
          <a:ln/>
        </p:spPr>
        <p:txBody>
          <a:bodyPr wrap="square" lIns="0" tIns="152400" rIns="152400" bIns="0" rtlCol="0" anchor="ctr"/>
          <a:lstStyle/>
          <a:p>
            <a:pPr algn="ctr" indent="0" marL="0">
              <a:buNone/>
            </a:pPr>
            <a:r>
              <a:rPr lang="en-US" sz="1150" b="1" dirty="0">
                <a:solidFill>
                  <a:schemeClr val="tx1"/>
                </a:solidFill>
              </a:rPr>
              <a:t>Raw files</a:t>
            </a:r>
            <a:endParaRPr lang="en-US" sz="1150" dirty="0"/>
          </a:p>
        </p:txBody>
      </p:sp>
      <p:sp>
        <p:nvSpPr>
          <p:cNvPr id="6" name="chev_101"/>
          <p:cNvSpPr/>
          <p:nvPr/>
        </p:nvSpPr>
        <p:spPr>
          <a:xfrm>
            <a:off x="2412949" y="1783080"/>
            <a:ext cx="1772869" cy="640080"/>
          </a:xfrm>
          <a:prstGeom prst="chevron">
            <a:avLst/>
          </a:prstGeom>
          <a:solidFill>
            <a:schemeClr val="bg2"/>
          </a:solidFill>
          <a:ln/>
        </p:spPr>
        <p:txBody>
          <a:bodyPr wrap="square" lIns="0" tIns="152400" rIns="152400" bIns="0" rtlCol="0" anchor="ctr"/>
          <a:lstStyle/>
          <a:p>
            <a:pPr algn="ctr" indent="0" marL="0">
              <a:buNone/>
            </a:pPr>
            <a:r>
              <a:rPr lang="en-US" sz="1150" b="1" dirty="0">
                <a:solidFill>
                  <a:schemeClr val="tx1"/>
                </a:solidFill>
              </a:rPr>
              <a:t>Schema harmonising</a:t>
            </a:r>
            <a:endParaRPr lang="en-US" sz="1150" dirty="0"/>
          </a:p>
        </p:txBody>
      </p:sp>
      <p:sp>
        <p:nvSpPr>
          <p:cNvPr id="7" name="chev_102"/>
          <p:cNvSpPr/>
          <p:nvPr/>
        </p:nvSpPr>
        <p:spPr>
          <a:xfrm>
            <a:off x="4277258" y="1783080"/>
            <a:ext cx="1772869" cy="640080"/>
          </a:xfrm>
          <a:prstGeom prst="chevron">
            <a:avLst/>
          </a:prstGeom>
          <a:solidFill>
            <a:schemeClr val="accent1"/>
          </a:solidFill>
          <a:ln/>
        </p:spPr>
        <p:txBody>
          <a:bodyPr wrap="square" lIns="0" tIns="152400" rIns="152400" bIns="0" rtlCol="0" anchor="ctr"/>
          <a:lstStyle/>
          <a:p>
            <a:pPr algn="ctr" indent="0" marL="0">
              <a:buNone/>
            </a:pPr>
            <a:r>
              <a:rPr lang="en-US" sz="1150" b="1" dirty="0">
                <a:solidFill>
                  <a:schemeClr val="tx1"/>
                </a:solidFill>
              </a:rPr>
              <a:t>Validation rules</a:t>
            </a:r>
            <a:endParaRPr lang="en-US" sz="1150" dirty="0"/>
          </a:p>
        </p:txBody>
      </p:sp>
      <p:sp>
        <p:nvSpPr>
          <p:cNvPr id="8" name="chev_103"/>
          <p:cNvSpPr/>
          <p:nvPr/>
        </p:nvSpPr>
        <p:spPr>
          <a:xfrm>
            <a:off x="6141568" y="1783080"/>
            <a:ext cx="1772869" cy="640080"/>
          </a:xfrm>
          <a:prstGeom prst="chevron">
            <a:avLst/>
          </a:prstGeom>
          <a:solidFill>
            <a:schemeClr val="bg2"/>
          </a:solidFill>
          <a:ln/>
        </p:spPr>
        <p:txBody>
          <a:bodyPr wrap="square" lIns="0" tIns="152400" rIns="152400" bIns="0" rtlCol="0" anchor="ctr"/>
          <a:lstStyle/>
          <a:p>
            <a:pPr algn="ctr" indent="0" marL="0">
              <a:buNone/>
            </a:pPr>
            <a:r>
              <a:rPr lang="en-US" sz="1150" b="1" dirty="0">
                <a:solidFill>
                  <a:schemeClr val="tx1"/>
                </a:solidFill>
              </a:rPr>
              <a:t>Cleaning log</a:t>
            </a:r>
            <a:endParaRPr lang="en-US" sz="1150" dirty="0"/>
          </a:p>
        </p:txBody>
      </p:sp>
      <p:sp>
        <p:nvSpPr>
          <p:cNvPr id="9" name="chev_104"/>
          <p:cNvSpPr/>
          <p:nvPr/>
        </p:nvSpPr>
        <p:spPr>
          <a:xfrm>
            <a:off x="8005877" y="1783080"/>
            <a:ext cx="1772869" cy="640080"/>
          </a:xfrm>
          <a:prstGeom prst="chevron">
            <a:avLst/>
          </a:prstGeom>
          <a:solidFill>
            <a:schemeClr val="bg2"/>
          </a:solidFill>
          <a:ln/>
        </p:spPr>
        <p:txBody>
          <a:bodyPr wrap="square" lIns="0" tIns="152400" rIns="152400" bIns="0" rtlCol="0" anchor="ctr"/>
          <a:lstStyle/>
          <a:p>
            <a:pPr algn="ctr" indent="0" marL="0">
              <a:buNone/>
            </a:pPr>
            <a:r>
              <a:rPr lang="en-US" sz="1150" b="1" dirty="0">
                <a:solidFill>
                  <a:schemeClr val="tx1"/>
                </a:solidFill>
              </a:rPr>
              <a:t>Partitioned Parquet</a:t>
            </a:r>
            <a:endParaRPr lang="en-US" sz="1150" dirty="0"/>
          </a:p>
        </p:txBody>
      </p:sp>
      <p:sp>
        <p:nvSpPr>
          <p:cNvPr id="10" name="chev_105"/>
          <p:cNvSpPr/>
          <p:nvPr/>
        </p:nvSpPr>
        <p:spPr>
          <a:xfrm>
            <a:off x="9870186" y="1783080"/>
            <a:ext cx="1772869" cy="640080"/>
          </a:xfrm>
          <a:prstGeom prst="chevron">
            <a:avLst/>
          </a:prstGeom>
          <a:solidFill>
            <a:srgbClr val="111111"/>
          </a:solidFill>
          <a:ln/>
        </p:spPr>
        <p:txBody>
          <a:bodyPr wrap="square" lIns="0" tIns="152400" rIns="152400" bIns="0" rtlCol="0" anchor="ctr"/>
          <a:lstStyle/>
          <a:p>
            <a:pPr algn="ctr" indent="0" marL="0">
              <a:buNone/>
            </a:pPr>
            <a:r>
              <a:rPr lang="en-US" sz="1150" b="1" dirty="0">
                <a:solidFill>
                  <a:schemeClr val="bg1"/>
                </a:solidFill>
              </a:rPr>
              <a:t>Analytical datasets</a:t>
            </a:r>
            <a:endParaRPr lang="en-US" sz="1150" dirty="0"/>
          </a:p>
        </p:txBody>
      </p:sp>
      <p:graphicFrame>
        <p:nvGraphicFramePr>
          <p:cNvPr id="11" name="chart_removals" descr=""/>
          <p:cNvGraphicFramePr/>
          <p:nvPr/>
        </p:nvGraphicFramePr>
        <p:xfrm>
          <a:off x="548640" y="2697480"/>
          <a:ext cx="5669280" cy="3291840"/>
        </p:xfrm>
        <a:graphic xmlns:a="http://schemas.openxmlformats.org/drawingml/2006/main">
          <a:graphicData uri="http://schemas.openxmlformats.org/drawingml/2006/chart">
            <c:chart xmlns:c="http://schemas.openxmlformats.org/drawingml/2006/chart" r:id="rId1"/>
          </a:graphicData>
        </a:graphic>
      </p:graphicFrame>
      <p:sp>
        <p:nvSpPr>
          <p:cNvPr id="12" name="text_106"/>
          <p:cNvSpPr txBox="1"/>
          <p:nvPr/>
        </p:nvSpPr>
        <p:spPr>
          <a:xfrm>
            <a:off x="6629400" y="2697480"/>
            <a:ext cx="4937760" cy="320040"/>
          </a:xfrm>
          <a:prstGeom prst="rect">
            <a:avLst/>
          </a:prstGeom>
          <a:noFill/>
          <a:ln/>
        </p:spPr>
        <p:txBody>
          <a:bodyPr wrap="square" lIns="0" tIns="0" rIns="0" bIns="0" rtlCol="0" anchor="t"/>
          <a:lstStyle/>
          <a:p>
            <a:pPr indent="0" marL="0">
              <a:buNone/>
            </a:pPr>
            <a:r>
              <a:rPr lang="en-US" sz="1400" b="1" dirty="0">
                <a:solidFill>
                  <a:schemeClr val="tx1"/>
                </a:solidFill>
              </a:rPr>
              <a:t>The 13 rules, applied in order</a:t>
            </a:r>
            <a:endParaRPr lang="en-US" sz="1400" dirty="0"/>
          </a:p>
        </p:txBody>
      </p:sp>
      <p:sp>
        <p:nvSpPr>
          <p:cNvPr id="13" name="text_107"/>
          <p:cNvSpPr txBox="1"/>
          <p:nvPr/>
        </p:nvSpPr>
        <p:spPr>
          <a:xfrm>
            <a:off x="6629400" y="3108960"/>
            <a:ext cx="2468880" cy="2834640"/>
          </a:xfrm>
          <a:prstGeom prst="rect">
            <a:avLst/>
          </a:prstGeom>
          <a:noFill/>
          <a:ln/>
        </p:spPr>
        <p:txBody>
          <a:bodyPr wrap="square" lIns="0" tIns="0" rIns="0" bIns="0" rtlCol="0" anchor="t"/>
          <a:lstStyle/>
          <a:p>
            <a:pPr indent="0" marL="0">
              <a:spcAft>
                <a:spcPts val="500"/>
              </a:spcAft>
              <a:buNone/>
            </a:pPr>
            <a:r>
              <a:rPr lang="en-US" sz="1200" b="1" dirty="0">
                <a:solidFill>
                  <a:schemeClr val="accent4"/>
                </a:solidFill>
              </a:rPr>
              <a:t> 1  </a:t>
            </a:r>
            <a:pPr indent="0" marL="0">
              <a:spcAft>
                <a:spcPts val="500"/>
              </a:spcAft>
              <a:buNone/>
            </a:pPr>
            <a:r>
              <a:rPr lang="en-US" sz="1200" dirty="0">
                <a:solidFill>
                  <a:schemeClr val="tx2"/>
                </a:solidFill>
              </a:rPr>
              <a:t>Missing key fields</a:t>
            </a:r>
            <a:endParaRPr lang="en-US" sz="1200" dirty="0"/>
          </a:p>
          <a:p>
            <a:pPr indent="0" marL="0">
              <a:spcAft>
                <a:spcPts val="500"/>
              </a:spcAft>
              <a:buNone/>
            </a:pPr>
            <a:r>
              <a:rPr lang="en-US" sz="1200" b="1" dirty="0">
                <a:solidFill>
                  <a:schemeClr val="accent4"/>
                </a:solidFill>
              </a:rPr>
              <a:t> 2  </a:t>
            </a:r>
            <a:pPr indent="0" marL="0">
              <a:spcAft>
                <a:spcPts val="500"/>
              </a:spcAft>
              <a:buNone/>
            </a:pPr>
            <a:r>
              <a:rPr lang="en-US" sz="1200" dirty="0">
                <a:solidFill>
                  <a:schemeClr val="tx2"/>
                </a:solidFill>
              </a:rPr>
              <a:t>Invalid pickup/drop-off zone ID</a:t>
            </a:r>
            <a:endParaRPr lang="en-US" sz="1200" dirty="0"/>
          </a:p>
          <a:p>
            <a:pPr indent="0" marL="0">
              <a:spcAft>
                <a:spcPts val="500"/>
              </a:spcAft>
              <a:buNone/>
            </a:pPr>
            <a:r>
              <a:rPr lang="en-US" sz="1200" b="1" dirty="0">
                <a:solidFill>
                  <a:schemeClr val="accent4"/>
                </a:solidFill>
              </a:rPr>
              <a:t> 3  </a:t>
            </a:r>
            <a:pPr indent="0" marL="0">
              <a:spcAft>
                <a:spcPts val="500"/>
              </a:spcAft>
              <a:buNone/>
            </a:pPr>
            <a:r>
              <a:rPr lang="en-US" sz="1200" dirty="0">
                <a:solidFill>
                  <a:schemeClr val="tx2"/>
                </a:solidFill>
              </a:rPr>
              <a:t>Timestamp outside study window</a:t>
            </a:r>
            <a:endParaRPr lang="en-US" sz="1200" dirty="0"/>
          </a:p>
          <a:p>
            <a:pPr indent="0" marL="0">
              <a:spcAft>
                <a:spcPts val="500"/>
              </a:spcAft>
              <a:buNone/>
            </a:pPr>
            <a:r>
              <a:rPr lang="en-US" sz="1200" b="1" dirty="0">
                <a:solidFill>
                  <a:schemeClr val="accent4"/>
                </a:solidFill>
              </a:rPr>
              <a:t> 4  </a:t>
            </a:r>
            <a:pPr indent="0" marL="0">
              <a:spcAft>
                <a:spcPts val="500"/>
              </a:spcAft>
              <a:buNone/>
            </a:pPr>
            <a:r>
              <a:rPr lang="en-US" sz="1200" dirty="0">
                <a:solidFill>
                  <a:schemeClr val="tx2"/>
                </a:solidFill>
              </a:rPr>
              <a:t>Pickup outside the file’s month</a:t>
            </a:r>
            <a:endParaRPr lang="en-US" sz="1200" dirty="0"/>
          </a:p>
          <a:p>
            <a:pPr indent="0" marL="0">
              <a:spcAft>
                <a:spcPts val="500"/>
              </a:spcAft>
              <a:buNone/>
            </a:pPr>
            <a:r>
              <a:rPr lang="en-US" sz="1200" b="1" dirty="0">
                <a:solidFill>
                  <a:schemeClr val="accent4"/>
                </a:solidFill>
              </a:rPr>
              <a:t> 5  </a:t>
            </a:r>
            <a:pPr indent="0" marL="0">
              <a:spcAft>
                <a:spcPts val="500"/>
              </a:spcAft>
              <a:buNone/>
            </a:pPr>
            <a:r>
              <a:rPr lang="en-US" sz="1200" dirty="0">
                <a:solidFill>
                  <a:schemeClr val="tx2"/>
                </a:solidFill>
              </a:rPr>
              <a:t>Drop-off not after pickup</a:t>
            </a:r>
            <a:endParaRPr lang="en-US" sz="1200" dirty="0"/>
          </a:p>
          <a:p>
            <a:pPr indent="0" marL="0">
              <a:spcAft>
                <a:spcPts val="500"/>
              </a:spcAft>
              <a:buNone/>
            </a:pPr>
            <a:r>
              <a:rPr lang="en-US" sz="1200" b="1" dirty="0">
                <a:solidFill>
                  <a:schemeClr val="accent4"/>
                </a:solidFill>
              </a:rPr>
              <a:t> 6  </a:t>
            </a:r>
            <a:pPr indent="0" marL="0">
              <a:spcAft>
                <a:spcPts val="500"/>
              </a:spcAft>
              <a:buNone/>
            </a:pPr>
            <a:r>
              <a:rPr lang="en-US" sz="1200" dirty="0">
                <a:solidFill>
                  <a:schemeClr val="tx2"/>
                </a:solidFill>
              </a:rPr>
              <a:t>Duration over 24 hours</a:t>
            </a:r>
            <a:endParaRPr lang="en-US" sz="1200" dirty="0"/>
          </a:p>
          <a:p>
            <a:pPr indent="0" marL="0">
              <a:spcAft>
                <a:spcPts val="500"/>
              </a:spcAft>
              <a:buNone/>
            </a:pPr>
            <a:r>
              <a:rPr lang="en-US" sz="1200" b="1" dirty="0">
                <a:solidFill>
                  <a:schemeClr val="accent4"/>
                </a:solidFill>
              </a:rPr>
              <a:t> 7  </a:t>
            </a:r>
            <a:pPr indent="0" marL="0">
              <a:spcAft>
                <a:spcPts val="500"/>
              </a:spcAft>
              <a:buNone/>
            </a:pPr>
            <a:r>
              <a:rPr lang="en-US" sz="1200" dirty="0">
                <a:solidFill>
                  <a:schemeClr val="tx2"/>
                </a:solidFill>
              </a:rPr>
              <a:t>Zero or negative distance</a:t>
            </a:r>
            <a:endParaRPr lang="en-US" sz="1200" dirty="0"/>
          </a:p>
        </p:txBody>
      </p:sp>
      <p:sp>
        <p:nvSpPr>
          <p:cNvPr id="14" name="text_108"/>
          <p:cNvSpPr txBox="1"/>
          <p:nvPr/>
        </p:nvSpPr>
        <p:spPr>
          <a:xfrm>
            <a:off x="9189720" y="3108960"/>
            <a:ext cx="2468880" cy="2834640"/>
          </a:xfrm>
          <a:prstGeom prst="rect">
            <a:avLst/>
          </a:prstGeom>
          <a:noFill/>
          <a:ln/>
        </p:spPr>
        <p:txBody>
          <a:bodyPr wrap="square" lIns="0" tIns="0" rIns="0" bIns="0" rtlCol="0" anchor="t"/>
          <a:lstStyle/>
          <a:p>
            <a:pPr indent="0" marL="0">
              <a:spcAft>
                <a:spcPts val="500"/>
              </a:spcAft>
              <a:buNone/>
            </a:pPr>
            <a:r>
              <a:rPr lang="en-US" sz="1200" b="1" dirty="0">
                <a:solidFill>
                  <a:schemeClr val="accent4"/>
                </a:solidFill>
              </a:rPr>
              <a:t> 8  </a:t>
            </a:r>
            <a:pPr indent="0" marL="0">
              <a:spcAft>
                <a:spcPts val="500"/>
              </a:spcAft>
              <a:buNone/>
            </a:pPr>
            <a:r>
              <a:rPr lang="en-US" sz="1200" dirty="0">
                <a:solidFill>
                  <a:schemeClr val="tx2"/>
                </a:solidFill>
              </a:rPr>
              <a:t>Distance over 100 miles</a:t>
            </a:r>
            <a:endParaRPr lang="en-US" sz="1200" dirty="0"/>
          </a:p>
          <a:p>
            <a:pPr indent="0" marL="0">
              <a:spcAft>
                <a:spcPts val="500"/>
              </a:spcAft>
              <a:buNone/>
            </a:pPr>
            <a:r>
              <a:rPr lang="en-US" sz="1200" b="1" dirty="0">
                <a:solidFill>
                  <a:schemeClr val="accent4"/>
                </a:solidFill>
              </a:rPr>
              <a:t> 9  </a:t>
            </a:r>
            <a:pPr indent="0" marL="0">
              <a:spcAft>
                <a:spcPts val="500"/>
              </a:spcAft>
              <a:buNone/>
            </a:pPr>
            <a:r>
              <a:rPr lang="en-US" sz="1200" dirty="0">
                <a:solidFill>
                  <a:schemeClr val="tx2"/>
                </a:solidFill>
              </a:rPr>
              <a:t>Negative fare (zero kept, flagged)</a:t>
            </a:r>
            <a:endParaRPr lang="en-US" sz="1200" dirty="0"/>
          </a:p>
          <a:p>
            <a:pPr indent="0" marL="0">
              <a:spcAft>
                <a:spcPts val="500"/>
              </a:spcAft>
              <a:buNone/>
            </a:pPr>
            <a:r>
              <a:rPr lang="en-US" sz="1200" b="1" dirty="0">
                <a:solidFill>
                  <a:schemeClr val="accent4"/>
                </a:solidFill>
              </a:rPr>
              <a:t>10  </a:t>
            </a:r>
            <a:pPr indent="0" marL="0">
              <a:spcAft>
                <a:spcPts val="500"/>
              </a:spcAft>
              <a:buNone/>
            </a:pPr>
            <a:r>
              <a:rPr lang="en-US" sz="1200" dirty="0">
                <a:solidFill>
                  <a:schemeClr val="tx2"/>
                </a:solidFill>
              </a:rPr>
              <a:t>Fare over $500</a:t>
            </a:r>
            <a:endParaRPr lang="en-US" sz="1200" dirty="0"/>
          </a:p>
          <a:p>
            <a:pPr indent="0" marL="0">
              <a:spcAft>
                <a:spcPts val="500"/>
              </a:spcAft>
              <a:buNone/>
            </a:pPr>
            <a:r>
              <a:rPr lang="en-US" sz="1200" b="1" dirty="0">
                <a:solidFill>
                  <a:schemeClr val="accent4"/>
                </a:solidFill>
              </a:rPr>
              <a:t>11  </a:t>
            </a:r>
            <a:pPr indent="0" marL="0">
              <a:spcAft>
                <a:spcPts val="500"/>
              </a:spcAft>
              <a:buNone/>
            </a:pPr>
            <a:r>
              <a:rPr lang="en-US" sz="1200" dirty="0">
                <a:solidFill>
                  <a:schemeClr val="tx2"/>
                </a:solidFill>
              </a:rPr>
              <a:t>Negative charge or total</a:t>
            </a:r>
            <a:endParaRPr lang="en-US" sz="1200" dirty="0"/>
          </a:p>
          <a:p>
            <a:pPr indent="0" marL="0">
              <a:spcAft>
                <a:spcPts val="500"/>
              </a:spcAft>
              <a:buNone/>
            </a:pPr>
            <a:r>
              <a:rPr lang="en-US" sz="1200" b="1" dirty="0">
                <a:solidFill>
                  <a:schemeClr val="accent4"/>
                </a:solidFill>
              </a:rPr>
              <a:t>12  </a:t>
            </a:r>
            <a:pPr indent="0" marL="0">
              <a:spcAft>
                <a:spcPts val="500"/>
              </a:spcAft>
              <a:buNone/>
            </a:pPr>
            <a:r>
              <a:rPr lang="en-US" sz="1200" dirty="0">
                <a:solidFill>
                  <a:schemeClr val="tx2"/>
                </a:solidFill>
              </a:rPr>
              <a:t>Passengers 0 or above 6 (blank kept)</a:t>
            </a:r>
            <a:endParaRPr lang="en-US" sz="1200" dirty="0"/>
          </a:p>
          <a:p>
            <a:pPr indent="0" marL="0">
              <a:spcAft>
                <a:spcPts val="500"/>
              </a:spcAft>
              <a:buNone/>
            </a:pPr>
            <a:r>
              <a:rPr lang="en-US" sz="1200" b="1" dirty="0">
                <a:solidFill>
                  <a:schemeClr val="accent4"/>
                </a:solidFill>
              </a:rPr>
              <a:t>13  </a:t>
            </a:r>
            <a:pPr indent="0" marL="0">
              <a:spcAft>
                <a:spcPts val="500"/>
              </a:spcAft>
              <a:buNone/>
            </a:pPr>
            <a:r>
              <a:rPr lang="en-US" sz="1200" dirty="0">
                <a:solidFill>
                  <a:schemeClr val="tx2"/>
                </a:solidFill>
              </a:rPr>
              <a:t>Average speed over 80 mph</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icker_109"/>
          <p:cNvSpPr/>
          <p:nvPr/>
        </p:nvSpPr>
        <p:spPr>
          <a:xfrm>
            <a:off x="548640" y="384048"/>
            <a:ext cx="1499616" cy="292608"/>
          </a:xfrm>
          <a:prstGeom prst="roundRect">
            <a:avLst>
              <a:gd name="adj" fmla="val 40625"/>
            </a:avLst>
          </a:prstGeom>
          <a:solidFill>
            <a:schemeClr val="accent1"/>
          </a:solidFill>
          <a:ln/>
        </p:spPr>
        <p:txBody>
          <a:bodyPr wrap="square" lIns="0" tIns="0" rIns="0" bIns="0" rtlCol="0" anchor="ctr"/>
          <a:lstStyle/>
          <a:p>
            <a:pPr algn="ctr" indent="0" marL="0">
              <a:buNone/>
            </a:pPr>
            <a:r>
              <a:rPr lang="en-US" sz="1050" b="1" spc="150" kern="0" dirty="0">
                <a:solidFill>
                  <a:schemeClr val="tx1"/>
                </a:solidFill>
              </a:rPr>
              <a:t>B · DATA CHECKS</a:t>
            </a:r>
            <a:endParaRPr lang="en-US" sz="1050" dirty="0"/>
          </a:p>
        </p:txBody>
      </p:sp>
      <p:sp>
        <p:nvSpPr>
          <p:cNvPr id="3" name="Text 1"/>
          <p:cNvSpPr/>
          <p:nvPr>
            <p:ph idx="101" type="title" hasCustomPrompt="1"/>
          </p:nvPr>
        </p:nvSpPr>
        <p:spPr>
          <a:xfrm>
            <a:off x="548640" y="868680"/>
            <a:ext cx="11094415" cy="77724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Consistent meters, but different weather each year</a:t>
            </a:r>
            <a:endParaRPr lang="en-US" sz="3000" dirty="0"/>
          </a:p>
        </p:txBody>
      </p:sp>
      <p:pic>
        <p:nvPicPr>
          <p:cNvPr id="5" name="chart_img_110" descr="Vendor comparison by year: share of trips, mean miles, mean fare and card tip">    </p:cNvPr>
          <p:cNvPicPr>
            <a:picLocks noChangeAspect="1"/>
          </p:cNvPicPr>
          <p:nvPr/>
        </p:nvPicPr>
        <p:blipFill>
          <a:blip r:embed="rId1"/>
          <a:stretch>
            <a:fillRect/>
          </a:stretch>
        </p:blipFill>
        <p:spPr>
          <a:xfrm>
            <a:off x="548640" y="1737360"/>
            <a:ext cx="6583680" cy="1472616"/>
          </a:xfrm>
          <a:prstGeom prst="rect">
            <a:avLst/>
          </a:prstGeom>
        </p:spPr>
      </p:pic>
      <p:sp>
        <p:nvSpPr>
          <p:cNvPr id="6" name="text_111"/>
          <p:cNvSpPr txBox="1"/>
          <p:nvPr/>
        </p:nvSpPr>
        <p:spPr>
          <a:xfrm>
            <a:off x="548640" y="3347136"/>
            <a:ext cx="6583680" cy="1188720"/>
          </a:xfrm>
          <a:prstGeom prst="rect">
            <a:avLst/>
          </a:prstGeom>
          <a:noFill/>
          <a:ln/>
        </p:spPr>
        <p:txBody>
          <a:bodyPr wrap="square" lIns="0" tIns="0" rIns="0" bIns="0" rtlCol="0" anchor="t"/>
          <a:lstStyle/>
          <a:p>
            <a:pPr indent="0" marL="0">
              <a:buNone/>
            </a:pPr>
            <a:r>
              <a:rPr lang="en-US" sz="1250" b="1" dirty="0">
                <a:solidFill>
                  <a:schemeClr val="tx1"/>
                </a:solidFill>
              </a:rPr>
              <a:t>Meter vendors  </a:t>
            </a:r>
            <a:pPr indent="0" marL="0">
              <a:buNone/>
            </a:pPr>
            <a:r>
              <a:rPr lang="en-US" sz="1250" dirty="0">
                <a:solidFill>
                  <a:schemeClr val="tx2"/>
                </a:solidFill>
              </a:rPr>
              <a:t>Vendor 2 records 73–79% of trips. Vendors 1 and 2 have near-identical miles, fares and tips, so one meter system is not distorting results. Blank passenger counts rise to 17–21% in 2025 for both.</a:t>
            </a:r>
            <a:endParaRPr lang="en-US" sz="1250" dirty="0"/>
          </a:p>
        </p:txBody>
      </p:sp>
      <p:graphicFrame>
        <p:nvGraphicFramePr>
          <p:cNvPr id="9" name="table_weather"/>
          <p:cNvGraphicFramePr>
            <a:graphicFrameLocks noGrp="1"/>
          </p:cNvGraphicFramePr>
          <p:nvPr>
            <p:extLst>
              <p:ext uri="{D42A27DB-BD31-4B8C-83A1-F6EECF244321}">
                <p14:modId xmlns:p14="http://schemas.microsoft.com/office/powerpoint/2010/main" val="1579011935"/>
              </p:ext>
            </p:extLst>
          </p:nvPr>
        </p:nvGraphicFramePr>
        <p:xfrm>
          <a:off x="7452360" y="1783080"/>
          <a:ext cx="4190695" cy="914400"/>
        </p:xfrm>
        <a:graphic>
          <a:graphicData uri="http://schemas.openxmlformats.org/drawingml/2006/table">
            <a:tbl>
              <a:tblPr/>
              <a:tblGrid>
                <a:gridCol w="1691640"/>
                <a:gridCol w="640080"/>
                <a:gridCol w="640080"/>
                <a:gridCol w="640080"/>
                <a:gridCol w="578815"/>
              </a:tblGrid>
              <a:tr h="365760">
                <a:tc>
                  <a:txBody>
                    <a:bodyPr/>
                    <a:lstStyle/>
                    <a:p>
                      <a:pPr algn="l" indent="0" marL="0">
                        <a:buNone/>
                      </a:pP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111111"/>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2022</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111111"/>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2023</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111111"/>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2024</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111111"/>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2025</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111111"/>
                    </a:solidFill>
                  </a:tcPr>
                </a:tc>
              </a:tr>
              <a:tr h="365760">
                <a:tc>
                  <a:txBody>
                    <a:bodyPr/>
                    <a:lstStyle/>
                    <a:p>
                      <a:pPr algn="l" indent="0" marL="0">
                        <a:buNone/>
                      </a:pPr>
                      <a:r>
                        <a:rPr lang="en-US" sz="1200" b="1" dirty="0">
                          <a:solidFill>
                            <a:srgbClr val="2B2D31"/>
                          </a:solidFill>
                          <a:latin typeface="Calibri" pitchFamily="34" charset="0"/>
                          <a:ea typeface="Calibri" pitchFamily="34" charset="-122"/>
                          <a:cs typeface="Calibri" pitchFamily="34" charset="-120"/>
                        </a:rPr>
                        <a:t>Rain days (≥ 1 mm)</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B2D31"/>
                          </a:solidFill>
                          <a:latin typeface="Calibri" pitchFamily="34" charset="0"/>
                          <a:ea typeface="Calibri" pitchFamily="34" charset="-122"/>
                          <a:cs typeface="Calibri" pitchFamily="34" charset="-120"/>
                        </a:rPr>
                        <a:t>106</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B2D31"/>
                          </a:solidFill>
                          <a:latin typeface="Calibri" pitchFamily="34" charset="0"/>
                          <a:ea typeface="Calibri" pitchFamily="34" charset="-122"/>
                          <a:cs typeface="Calibri" pitchFamily="34" charset="-120"/>
                        </a:rPr>
                        <a:t>102</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B2D31"/>
                          </a:solidFill>
                          <a:latin typeface="Calibri" pitchFamily="34" charset="0"/>
                          <a:ea typeface="Calibri" pitchFamily="34" charset="-122"/>
                          <a:cs typeface="Calibri" pitchFamily="34" charset="-120"/>
                        </a:rPr>
                        <a:t>105</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B2D31"/>
                          </a:solidFill>
                          <a:latin typeface="Calibri" pitchFamily="34" charset="0"/>
                          <a:ea typeface="Calibri" pitchFamily="34" charset="-122"/>
                          <a:cs typeface="Calibri" pitchFamily="34" charset="-120"/>
                        </a:rPr>
                        <a:t>96</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CEBB3"/>
                    </a:solidFill>
                  </a:tcPr>
                </a:tc>
              </a:tr>
              <a:tr h="365760">
                <a:tc>
                  <a:txBody>
                    <a:bodyPr/>
                    <a:lstStyle/>
                    <a:p>
                      <a:pPr algn="l" indent="0" marL="0">
                        <a:buNone/>
                      </a:pPr>
                      <a:r>
                        <a:rPr lang="en-US" sz="1200" b="1" dirty="0">
                          <a:solidFill>
                            <a:srgbClr val="2B2D31"/>
                          </a:solidFill>
                          <a:latin typeface="Calibri" pitchFamily="34" charset="0"/>
                          <a:ea typeface="Calibri" pitchFamily="34" charset="-122"/>
                          <a:cs typeface="Calibri" pitchFamily="34" charset="-120"/>
                        </a:rPr>
                        <a:t>Total precipitation (mm)</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B2D31"/>
                          </a:solidFill>
                          <a:latin typeface="Calibri" pitchFamily="34" charset="0"/>
                          <a:ea typeface="Calibri" pitchFamily="34" charset="-122"/>
                          <a:cs typeface="Calibri" pitchFamily="34" charset="-120"/>
                        </a:rPr>
                        <a:t>1,176</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B2D31"/>
                          </a:solidFill>
                          <a:latin typeface="Calibri" pitchFamily="34" charset="0"/>
                          <a:ea typeface="Calibri" pitchFamily="34" charset="-122"/>
                          <a:cs typeface="Calibri" pitchFamily="34" charset="-120"/>
                        </a:rPr>
                        <a:t>1,507</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B2D31"/>
                          </a:solidFill>
                          <a:latin typeface="Calibri" pitchFamily="34" charset="0"/>
                          <a:ea typeface="Calibri" pitchFamily="34" charset="-122"/>
                          <a:cs typeface="Calibri" pitchFamily="34" charset="-120"/>
                        </a:rPr>
                        <a:t>1,178</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B2D31"/>
                          </a:solidFill>
                          <a:latin typeface="Calibri" pitchFamily="34" charset="0"/>
                          <a:ea typeface="Calibri" pitchFamily="34" charset="-122"/>
                          <a:cs typeface="Calibri" pitchFamily="34" charset="-120"/>
                        </a:rPr>
                        <a:t>1,006</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CEBB3"/>
                    </a:solidFill>
                  </a:tcPr>
                </a:tc>
              </a:tr>
              <a:tr h="365760">
                <a:tc>
                  <a:txBody>
                    <a:bodyPr/>
                    <a:lstStyle/>
                    <a:p>
                      <a:pPr algn="l" indent="0" marL="0">
                        <a:buNone/>
                      </a:pPr>
                      <a:r>
                        <a:rPr lang="en-US" sz="1200" b="1" dirty="0">
                          <a:solidFill>
                            <a:srgbClr val="2B2D31"/>
                          </a:solidFill>
                          <a:latin typeface="Calibri" pitchFamily="34" charset="0"/>
                          <a:ea typeface="Calibri" pitchFamily="34" charset="-122"/>
                          <a:cs typeface="Calibri" pitchFamily="34" charset="-120"/>
                        </a:rPr>
                        <a:t>Snow days</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B2D31"/>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B2D31"/>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B2D31"/>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B2D31"/>
                          </a:solidFill>
                          <a:latin typeface="Calibri" pitchFamily="34" charset="0"/>
                          <a:ea typeface="Calibri" pitchFamily="34" charset="-122"/>
                          <a:cs typeface="Calibri" pitchFamily="34" charset="-120"/>
                        </a:rPr>
                        <a:t>14</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CEBB3"/>
                    </a:solidFill>
                  </a:tcPr>
                </a:tc>
              </a:tr>
              <a:tr h="365760">
                <a:tc>
                  <a:txBody>
                    <a:bodyPr/>
                    <a:lstStyle/>
                    <a:p>
                      <a:pPr algn="l" indent="0" marL="0">
                        <a:buNone/>
                      </a:pPr>
                      <a:r>
                        <a:rPr lang="en-US" sz="1200" b="1" dirty="0">
                          <a:solidFill>
                            <a:srgbClr val="2B2D31"/>
                          </a:solidFill>
                          <a:latin typeface="Calibri" pitchFamily="34" charset="0"/>
                          <a:ea typeface="Calibri" pitchFamily="34" charset="-122"/>
                          <a:cs typeface="Calibri" pitchFamily="34" charset="-120"/>
                        </a:rPr>
                        <a:t>Total snowfall (mm)</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B2D31"/>
                          </a:solidFill>
                          <a:latin typeface="Calibri" pitchFamily="34" charset="0"/>
                          <a:ea typeface="Calibri" pitchFamily="34" charset="-122"/>
                          <a:cs typeface="Calibri" pitchFamily="34" charset="-120"/>
                        </a:rPr>
                        <a:t>448</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B2D31"/>
                          </a:solidFill>
                          <a:latin typeface="Calibri" pitchFamily="34" charset="0"/>
                          <a:ea typeface="Calibri" pitchFamily="34" charset="-122"/>
                          <a:cs typeface="Calibri" pitchFamily="34" charset="-120"/>
                        </a:rPr>
                        <a:t>59</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B2D31"/>
                          </a:solidFill>
                          <a:latin typeface="Calibri" pitchFamily="34" charset="0"/>
                          <a:ea typeface="Calibri" pitchFamily="34" charset="-122"/>
                          <a:cs typeface="Calibri" pitchFamily="34" charset="-120"/>
                        </a:rPr>
                        <a:t>261</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B2D31"/>
                          </a:solidFill>
                          <a:latin typeface="Calibri" pitchFamily="34" charset="0"/>
                          <a:ea typeface="Calibri" pitchFamily="34" charset="-122"/>
                          <a:cs typeface="Calibri" pitchFamily="34" charset="-120"/>
                        </a:rPr>
                        <a:t>440</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CEBB3"/>
                    </a:solidFill>
                  </a:tcPr>
                </a:tc>
              </a:tr>
              <a:tr h="365760">
                <a:tc>
                  <a:txBody>
                    <a:bodyPr/>
                    <a:lstStyle/>
                    <a:p>
                      <a:pPr algn="l" indent="0" marL="0">
                        <a:buNone/>
                      </a:pPr>
                      <a:r>
                        <a:rPr lang="en-US" sz="1200" b="1" dirty="0">
                          <a:solidFill>
                            <a:srgbClr val="2B2D31"/>
                          </a:solidFill>
                          <a:latin typeface="Calibri" pitchFamily="34" charset="0"/>
                          <a:ea typeface="Calibri" pitchFamily="34" charset="-122"/>
                          <a:cs typeface="Calibri" pitchFamily="34" charset="-120"/>
                        </a:rPr>
                        <a:t>Mean max temp (°C)</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B2D31"/>
                          </a:solidFill>
                          <a:latin typeface="Calibri" pitchFamily="34" charset="0"/>
                          <a:ea typeface="Calibri" pitchFamily="34" charset="-122"/>
                          <a:cs typeface="Calibri" pitchFamily="34" charset="-120"/>
                        </a:rPr>
                        <a:t>17.6</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B2D31"/>
                          </a:solidFill>
                          <a:latin typeface="Calibri" pitchFamily="34" charset="0"/>
                          <a:ea typeface="Calibri" pitchFamily="34" charset="-122"/>
                          <a:cs typeface="Calibri" pitchFamily="34" charset="-120"/>
                        </a:rPr>
                        <a:t>18.3</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B2D31"/>
                          </a:solidFill>
                          <a:latin typeface="Calibri" pitchFamily="34" charset="0"/>
                          <a:ea typeface="Calibri" pitchFamily="34" charset="-122"/>
                          <a:cs typeface="Calibri" pitchFamily="34" charset="-120"/>
                        </a:rPr>
                        <a:t>18.3</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B2D31"/>
                          </a:solidFill>
                          <a:latin typeface="Calibri" pitchFamily="34" charset="0"/>
                          <a:ea typeface="Calibri" pitchFamily="34" charset="-122"/>
                          <a:cs typeface="Calibri" pitchFamily="34" charset="-120"/>
                        </a:rPr>
                        <a:t>17.1</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CEBB3"/>
                    </a:solidFill>
                  </a:tcPr>
                </a:tc>
              </a:tr>
              <a:tr h="365760">
                <a:tc>
                  <a:txBody>
                    <a:bodyPr/>
                    <a:lstStyle/>
                    <a:p>
                      <a:pPr algn="l" indent="0" marL="0">
                        <a:buNone/>
                      </a:pPr>
                      <a:r>
                        <a:rPr lang="en-US" sz="1200" b="1" dirty="0">
                          <a:solidFill>
                            <a:srgbClr val="2B2D31"/>
                          </a:solidFill>
                          <a:latin typeface="Calibri" pitchFamily="34" charset="0"/>
                          <a:ea typeface="Calibri" pitchFamily="34" charset="-122"/>
                          <a:cs typeface="Calibri" pitchFamily="34" charset="-120"/>
                        </a:rPr>
                        <a:t>Freezing days</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B2D31"/>
                          </a:solidFill>
                          <a:latin typeface="Calibri" pitchFamily="34" charset="0"/>
                          <a:ea typeface="Calibri" pitchFamily="34" charset="-122"/>
                          <a:cs typeface="Calibri" pitchFamily="34" charset="-120"/>
                        </a:rPr>
                        <a:t>16</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B2D31"/>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B2D31"/>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B2D31"/>
                          </a:solidFill>
                          <a:latin typeface="Calibri" pitchFamily="34" charset="0"/>
                          <a:ea typeface="Calibri" pitchFamily="34" charset="-122"/>
                          <a:cs typeface="Calibri" pitchFamily="34" charset="-120"/>
                        </a:rPr>
                        <a:t>14</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CEBB3"/>
                    </a:solidFill>
                  </a:tcPr>
                </a:tc>
              </a:tr>
            </a:tbl>
          </a:graphicData>
        </a:graphic>
      </p:graphicFrame>
      <p:sp>
        <p:nvSpPr>
          <p:cNvPr id="8" name="text_112"/>
          <p:cNvSpPr txBox="1"/>
          <p:nvPr/>
        </p:nvSpPr>
        <p:spPr>
          <a:xfrm>
            <a:off x="7452360" y="4434840"/>
            <a:ext cx="4190695" cy="1371600"/>
          </a:xfrm>
          <a:prstGeom prst="rect">
            <a:avLst/>
          </a:prstGeom>
          <a:noFill/>
          <a:ln/>
        </p:spPr>
        <p:txBody>
          <a:bodyPr wrap="square" lIns="0" tIns="0" rIns="0" bIns="0" rtlCol="0" anchor="t"/>
          <a:lstStyle/>
          <a:p>
            <a:pPr indent="0" marL="0">
              <a:buNone/>
            </a:pPr>
            <a:r>
              <a:rPr lang="en-US" sz="1250" b="1" dirty="0">
                <a:solidFill>
                  <a:schemeClr val="tx1"/>
                </a:solidFill>
              </a:rPr>
              <a:t>Weather by year  </a:t>
            </a:r>
            <a:pPr indent="0" marL="0">
              <a:buNone/>
            </a:pPr>
            <a:r>
              <a:rPr lang="en-US" sz="1250" dirty="0">
                <a:solidFill>
                  <a:schemeClr val="tx2"/>
                </a:solidFill>
              </a:rPr>
              <a:t>2025 had the most snow days and the least rain; 2023 was wettest but almost snow-free. Weather differs between the before and after years, so it is controlled in every model.</a:t>
            </a:r>
            <a:endParaRPr lang="en-US" sz="12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kicker_113"/>
          <p:cNvSpPr/>
          <p:nvPr/>
        </p:nvSpPr>
        <p:spPr>
          <a:xfrm>
            <a:off x="548640" y="384048"/>
            <a:ext cx="1580083" cy="292608"/>
          </a:xfrm>
          <a:prstGeom prst="roundRect">
            <a:avLst>
              <a:gd name="adj" fmla="val 40625"/>
            </a:avLst>
          </a:prstGeom>
          <a:solidFill>
            <a:schemeClr val="accent1"/>
          </a:solidFill>
          <a:ln/>
        </p:spPr>
        <p:txBody>
          <a:bodyPr wrap="square" lIns="0" tIns="0" rIns="0" bIns="0" rtlCol="0" anchor="ctr"/>
          <a:lstStyle/>
          <a:p>
            <a:pPr algn="ctr" indent="0" marL="0">
              <a:buNone/>
            </a:pPr>
            <a:r>
              <a:rPr lang="en-US" sz="1050" b="1" spc="150" kern="0" dirty="0">
                <a:solidFill>
                  <a:schemeClr val="tx1"/>
                </a:solidFill>
              </a:rPr>
              <a:t>B · STUDY DESIGN</a:t>
            </a:r>
            <a:endParaRPr lang="en-US" sz="1050" dirty="0"/>
          </a:p>
        </p:txBody>
      </p:sp>
      <p:sp>
        <p:nvSpPr>
          <p:cNvPr id="3" name="Text 1"/>
          <p:cNvSpPr/>
          <p:nvPr>
            <p:ph idx="101" type="title" hasCustomPrompt="1"/>
          </p:nvPr>
        </p:nvSpPr>
        <p:spPr>
          <a:xfrm>
            <a:off x="548640" y="868680"/>
            <a:ext cx="11094415" cy="77724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A natural experiment drawn along 60th Street</a:t>
            </a:r>
            <a:endParaRPr lang="en-US" sz="3000" dirty="0"/>
          </a:p>
        </p:txBody>
      </p:sp>
      <p:pic>
        <p:nvPicPr>
          <p:cNvPr id="5" name="zone_map" descr="Map of Manhattan taxi zones coloured by analysis group: charging zone, buffer, north-Manhattan control">    </p:cNvPr>
          <p:cNvPicPr>
            <a:picLocks noChangeAspect="1"/>
          </p:cNvPicPr>
          <p:nvPr/>
        </p:nvPicPr>
        <p:blipFill>
          <a:blip r:embed="rId1"/>
          <a:stretch>
            <a:fillRect/>
          </a:stretch>
        </p:blipFill>
        <p:spPr>
          <a:xfrm>
            <a:off x="731520" y="1737360"/>
            <a:ext cx="2926080" cy="4389120"/>
          </a:xfrm>
          <a:prstGeom prst="rect">
            <a:avLst/>
          </a:prstGeom>
        </p:spPr>
      </p:pic>
      <p:sp>
        <p:nvSpPr>
          <p:cNvPr id="6" name="card_114"/>
          <p:cNvSpPr/>
          <p:nvPr/>
        </p:nvSpPr>
        <p:spPr>
          <a:xfrm>
            <a:off x="3977640" y="1783080"/>
            <a:ext cx="7665415" cy="1234440"/>
          </a:xfrm>
          <a:prstGeom prst="roundRect">
            <a:avLst>
              <a:gd name="adj" fmla="val 8889"/>
            </a:avLst>
          </a:prstGeom>
          <a:solidFill>
            <a:schemeClr val="bg2"/>
          </a:solidFill>
          <a:ln/>
        </p:spPr>
      </p:sp>
      <p:sp>
        <p:nvSpPr>
          <p:cNvPr id="7" name="dot_115"/>
          <p:cNvSpPr/>
          <p:nvPr/>
        </p:nvSpPr>
        <p:spPr>
          <a:xfrm>
            <a:off x="4251960" y="2103120"/>
            <a:ext cx="201168" cy="201168"/>
          </a:xfrm>
          <a:prstGeom prst="ellipse">
            <a:avLst/>
          </a:prstGeom>
          <a:solidFill>
            <a:schemeClr val="accent5"/>
          </a:solidFill>
          <a:ln/>
        </p:spPr>
      </p:sp>
      <p:sp>
        <p:nvSpPr>
          <p:cNvPr id="8" name="text_116"/>
          <p:cNvSpPr txBox="1"/>
          <p:nvPr/>
        </p:nvSpPr>
        <p:spPr>
          <a:xfrm>
            <a:off x="4617720" y="2011680"/>
            <a:ext cx="3108960" cy="822960"/>
          </a:xfrm>
          <a:prstGeom prst="rect">
            <a:avLst/>
          </a:prstGeom>
          <a:noFill/>
          <a:ln/>
        </p:spPr>
        <p:txBody>
          <a:bodyPr wrap="square" lIns="0" tIns="0" rIns="0" bIns="0" rtlCol="0" anchor="t"/>
          <a:lstStyle/>
          <a:p>
            <a:pPr indent="0" marL="0">
              <a:buNone/>
            </a:pPr>
            <a:r>
              <a:rPr lang="en-US" sz="1700" b="1" dirty="0">
                <a:solidFill>
                  <a:schemeClr val="tx1"/>
                </a:solidFill>
              </a:rPr>
              <a:t>Charging zone</a:t>
            </a:r>
            <a:endParaRPr lang="en-US" sz="1400" dirty="0"/>
          </a:p>
          <a:p>
            <a:pPr indent="0" marL="0">
              <a:buNone/>
            </a:pPr>
            <a:r>
              <a:rPr lang="en-US" sz="1250" dirty="0">
                <a:solidFill>
                  <a:schemeClr val="tx2"/>
                </a:solidFill>
              </a:rPr>
              <a:t>38 zones · Manhattan at and below 60th St</a:t>
            </a:r>
            <a:endParaRPr lang="en-US" sz="1400" dirty="0"/>
          </a:p>
        </p:txBody>
      </p:sp>
      <p:sp>
        <p:nvSpPr>
          <p:cNvPr id="9" name="text_117"/>
          <p:cNvSpPr txBox="1"/>
          <p:nvPr/>
        </p:nvSpPr>
        <p:spPr>
          <a:xfrm>
            <a:off x="7863840" y="1737360"/>
            <a:ext cx="1463040" cy="640080"/>
          </a:xfrm>
          <a:prstGeom prst="rect">
            <a:avLst/>
          </a:prstGeom>
          <a:noFill/>
          <a:ln/>
        </p:spPr>
        <p:txBody>
          <a:bodyPr wrap="square" lIns="0" tIns="0" rIns="0" bIns="0" rtlCol="0" anchor="b"/>
          <a:lstStyle/>
          <a:p>
            <a:pPr indent="0" marL="0">
              <a:buNone/>
            </a:pPr>
            <a:r>
              <a:rPr lang="en-US" sz="2600" b="1" dirty="0">
                <a:solidFill>
                  <a:schemeClr val="tx1"/>
                </a:solidFill>
                <a:latin typeface="Arial" pitchFamily="34" charset="0"/>
                <a:ea typeface="Arial" pitchFamily="34" charset="-122"/>
                <a:cs typeface="Arial" pitchFamily="34" charset="-120"/>
              </a:rPr>
              <a:t>68.7k</a:t>
            </a:r>
            <a:endParaRPr lang="en-US" sz="2600" dirty="0"/>
          </a:p>
        </p:txBody>
      </p:sp>
      <p:sp>
        <p:nvSpPr>
          <p:cNvPr id="10" name="text_118"/>
          <p:cNvSpPr txBox="1"/>
          <p:nvPr/>
        </p:nvSpPr>
        <p:spPr>
          <a:xfrm>
            <a:off x="7863840" y="2423160"/>
            <a:ext cx="1463040" cy="457200"/>
          </a:xfrm>
          <a:prstGeom prst="rect">
            <a:avLst/>
          </a:prstGeom>
          <a:noFill/>
          <a:ln/>
        </p:spPr>
        <p:txBody>
          <a:bodyPr wrap="square" lIns="0" tIns="0" rIns="0" bIns="0" rtlCol="0" anchor="t"/>
          <a:lstStyle/>
          <a:p>
            <a:pPr indent="0" marL="0">
              <a:buNone/>
            </a:pPr>
            <a:r>
              <a:rPr lang="en-US" sz="1250" dirty="0">
                <a:solidFill>
                  <a:schemeClr val="tx2"/>
                </a:solidFill>
              </a:rPr>
              <a:t>pickups a day, 2025</a:t>
            </a:r>
            <a:endParaRPr lang="en-US" sz="1250" dirty="0"/>
          </a:p>
        </p:txBody>
      </p:sp>
      <p:sp>
        <p:nvSpPr>
          <p:cNvPr id="11" name="text_119"/>
          <p:cNvSpPr txBox="1"/>
          <p:nvPr/>
        </p:nvSpPr>
        <p:spPr>
          <a:xfrm>
            <a:off x="9646920" y="1737360"/>
            <a:ext cx="1828800" cy="640080"/>
          </a:xfrm>
          <a:prstGeom prst="rect">
            <a:avLst/>
          </a:prstGeom>
          <a:noFill/>
          <a:ln/>
        </p:spPr>
        <p:txBody>
          <a:bodyPr wrap="square" lIns="0" tIns="0" rIns="0" bIns="0" rtlCol="0" anchor="b"/>
          <a:lstStyle/>
          <a:p>
            <a:pPr indent="0" marL="0">
              <a:buNone/>
            </a:pPr>
            <a:r>
              <a:rPr lang="en-US" sz="2600" b="1" dirty="0">
                <a:solidFill>
                  <a:schemeClr val="tx1"/>
                </a:solidFill>
                <a:latin typeface="Arial" pitchFamily="34" charset="0"/>
                <a:ea typeface="Arial" pitchFamily="34" charset="-122"/>
                <a:cs typeface="Arial" pitchFamily="34" charset="-120"/>
              </a:rPr>
              <a:t>98%</a:t>
            </a:r>
            <a:endParaRPr lang="en-US" sz="2600" dirty="0"/>
          </a:p>
        </p:txBody>
      </p:sp>
      <p:sp>
        <p:nvSpPr>
          <p:cNvPr id="12" name="text_120"/>
          <p:cNvSpPr txBox="1"/>
          <p:nvPr/>
        </p:nvSpPr>
        <p:spPr>
          <a:xfrm>
            <a:off x="9646920" y="2423160"/>
            <a:ext cx="1828800" cy="502920"/>
          </a:xfrm>
          <a:prstGeom prst="rect">
            <a:avLst/>
          </a:prstGeom>
          <a:noFill/>
          <a:ln/>
        </p:spPr>
        <p:txBody>
          <a:bodyPr wrap="square" lIns="0" tIns="0" rIns="0" bIns="0" rtlCol="0" anchor="t"/>
          <a:lstStyle/>
          <a:p>
            <a:pPr indent="0" marL="0">
              <a:buNone/>
            </a:pPr>
            <a:r>
              <a:rPr lang="en-US" sz="1250" dirty="0">
                <a:solidFill>
                  <a:schemeClr val="tx2"/>
                </a:solidFill>
              </a:rPr>
              <a:t>of trips paid the fee</a:t>
            </a:r>
            <a:endParaRPr lang="en-US" sz="1250" dirty="0"/>
          </a:p>
        </p:txBody>
      </p:sp>
      <p:sp>
        <p:nvSpPr>
          <p:cNvPr id="13" name="card_121"/>
          <p:cNvSpPr/>
          <p:nvPr/>
        </p:nvSpPr>
        <p:spPr>
          <a:xfrm>
            <a:off x="3977640" y="3200400"/>
            <a:ext cx="7665415" cy="1234440"/>
          </a:xfrm>
          <a:prstGeom prst="roundRect">
            <a:avLst>
              <a:gd name="adj" fmla="val 8889"/>
            </a:avLst>
          </a:prstGeom>
          <a:solidFill>
            <a:schemeClr val="bg2"/>
          </a:solidFill>
          <a:ln/>
        </p:spPr>
      </p:sp>
      <p:sp>
        <p:nvSpPr>
          <p:cNvPr id="14" name="dot_122"/>
          <p:cNvSpPr/>
          <p:nvPr/>
        </p:nvSpPr>
        <p:spPr>
          <a:xfrm>
            <a:off x="4251960" y="3520440"/>
            <a:ext cx="201168" cy="201168"/>
          </a:xfrm>
          <a:prstGeom prst="ellipse">
            <a:avLst/>
          </a:prstGeom>
          <a:solidFill>
            <a:schemeClr val="accent4"/>
          </a:solidFill>
          <a:ln/>
        </p:spPr>
      </p:sp>
      <p:sp>
        <p:nvSpPr>
          <p:cNvPr id="15" name="text_123"/>
          <p:cNvSpPr txBox="1"/>
          <p:nvPr/>
        </p:nvSpPr>
        <p:spPr>
          <a:xfrm>
            <a:off x="4617720" y="3429000"/>
            <a:ext cx="3108960" cy="822960"/>
          </a:xfrm>
          <a:prstGeom prst="rect">
            <a:avLst/>
          </a:prstGeom>
          <a:noFill/>
          <a:ln/>
        </p:spPr>
        <p:txBody>
          <a:bodyPr wrap="square" lIns="0" tIns="0" rIns="0" bIns="0" rtlCol="0" anchor="t"/>
          <a:lstStyle/>
          <a:p>
            <a:pPr indent="0" marL="0">
              <a:buNone/>
            </a:pPr>
            <a:r>
              <a:rPr lang="en-US" sz="1700" b="1" dirty="0">
                <a:solidFill>
                  <a:schemeClr val="tx1"/>
                </a:solidFill>
              </a:rPr>
              <a:t>Buffer</a:t>
            </a:r>
            <a:endParaRPr lang="en-US" sz="1400" dirty="0"/>
          </a:p>
          <a:p>
            <a:pPr indent="0" marL="0">
              <a:buNone/>
            </a:pPr>
            <a:r>
              <a:rPr lang="en-US" sz="1250" dirty="0">
                <a:solidFill>
                  <a:schemeClr val="tx2"/>
                </a:solidFill>
              </a:rPr>
              <a:t>6 zones · The 59th–60th St strip</a:t>
            </a:r>
            <a:endParaRPr lang="en-US" sz="1400" dirty="0"/>
          </a:p>
        </p:txBody>
      </p:sp>
      <p:sp>
        <p:nvSpPr>
          <p:cNvPr id="16" name="text_124"/>
          <p:cNvSpPr txBox="1"/>
          <p:nvPr/>
        </p:nvSpPr>
        <p:spPr>
          <a:xfrm>
            <a:off x="7863840" y="3154680"/>
            <a:ext cx="1463040" cy="640080"/>
          </a:xfrm>
          <a:prstGeom prst="rect">
            <a:avLst/>
          </a:prstGeom>
          <a:noFill/>
          <a:ln/>
        </p:spPr>
        <p:txBody>
          <a:bodyPr wrap="square" lIns="0" tIns="0" rIns="0" bIns="0" rtlCol="0" anchor="b"/>
          <a:lstStyle/>
          <a:p>
            <a:pPr indent="0" marL="0">
              <a:buNone/>
            </a:pPr>
            <a:r>
              <a:rPr lang="en-US" sz="2600" b="1" dirty="0">
                <a:solidFill>
                  <a:schemeClr val="tx1"/>
                </a:solidFill>
                <a:latin typeface="Arial" pitchFamily="34" charset="0"/>
                <a:ea typeface="Arial" pitchFamily="34" charset="-122"/>
                <a:cs typeface="Arial" pitchFamily="34" charset="-120"/>
              </a:rPr>
              <a:t>16.7k</a:t>
            </a:r>
            <a:endParaRPr lang="en-US" sz="2600" dirty="0"/>
          </a:p>
        </p:txBody>
      </p:sp>
      <p:sp>
        <p:nvSpPr>
          <p:cNvPr id="17" name="text_125"/>
          <p:cNvSpPr txBox="1"/>
          <p:nvPr/>
        </p:nvSpPr>
        <p:spPr>
          <a:xfrm>
            <a:off x="7863840" y="3840480"/>
            <a:ext cx="1463040" cy="457200"/>
          </a:xfrm>
          <a:prstGeom prst="rect">
            <a:avLst/>
          </a:prstGeom>
          <a:noFill/>
          <a:ln/>
        </p:spPr>
        <p:txBody>
          <a:bodyPr wrap="square" lIns="0" tIns="0" rIns="0" bIns="0" rtlCol="0" anchor="t"/>
          <a:lstStyle/>
          <a:p>
            <a:pPr indent="0" marL="0">
              <a:buNone/>
            </a:pPr>
            <a:r>
              <a:rPr lang="en-US" sz="1250" dirty="0">
                <a:solidFill>
                  <a:schemeClr val="tx2"/>
                </a:solidFill>
              </a:rPr>
              <a:t>pickups a day, 2025</a:t>
            </a:r>
            <a:endParaRPr lang="en-US" sz="1250" dirty="0"/>
          </a:p>
        </p:txBody>
      </p:sp>
      <p:sp>
        <p:nvSpPr>
          <p:cNvPr id="18" name="text_126"/>
          <p:cNvSpPr txBox="1"/>
          <p:nvPr/>
        </p:nvSpPr>
        <p:spPr>
          <a:xfrm>
            <a:off x="9646920" y="3154680"/>
            <a:ext cx="1828800" cy="640080"/>
          </a:xfrm>
          <a:prstGeom prst="rect">
            <a:avLst/>
          </a:prstGeom>
          <a:noFill/>
          <a:ln/>
        </p:spPr>
        <p:txBody>
          <a:bodyPr wrap="square" lIns="0" tIns="0" rIns="0" bIns="0" rtlCol="0" anchor="b"/>
          <a:lstStyle/>
          <a:p>
            <a:pPr indent="0" marL="0">
              <a:buNone/>
            </a:pPr>
            <a:r>
              <a:rPr lang="en-US" sz="2600" b="1" dirty="0">
                <a:solidFill>
                  <a:schemeClr val="tx1"/>
                </a:solidFill>
                <a:latin typeface="Arial" pitchFamily="34" charset="0"/>
                <a:ea typeface="Arial" pitchFamily="34" charset="-122"/>
                <a:cs typeface="Arial" pitchFamily="34" charset="-120"/>
              </a:rPr>
              <a:t>54%</a:t>
            </a:r>
            <a:endParaRPr lang="en-US" sz="2600" dirty="0"/>
          </a:p>
        </p:txBody>
      </p:sp>
      <p:sp>
        <p:nvSpPr>
          <p:cNvPr id="19" name="text_127"/>
          <p:cNvSpPr txBox="1"/>
          <p:nvPr/>
        </p:nvSpPr>
        <p:spPr>
          <a:xfrm>
            <a:off x="9646920" y="3840480"/>
            <a:ext cx="1828800" cy="502920"/>
          </a:xfrm>
          <a:prstGeom prst="rect">
            <a:avLst/>
          </a:prstGeom>
          <a:noFill/>
          <a:ln/>
        </p:spPr>
        <p:txBody>
          <a:bodyPr wrap="square" lIns="0" tIns="0" rIns="0" bIns="0" rtlCol="0" anchor="t"/>
          <a:lstStyle/>
          <a:p>
            <a:pPr indent="0" marL="0">
              <a:buNone/>
            </a:pPr>
            <a:r>
              <a:rPr lang="en-US" sz="1250" dirty="0">
                <a:solidFill>
                  <a:schemeClr val="tx2"/>
                </a:solidFill>
              </a:rPr>
              <a:t>of trips paid the fee</a:t>
            </a:r>
            <a:endParaRPr lang="en-US" sz="1250" dirty="0"/>
          </a:p>
        </p:txBody>
      </p:sp>
      <p:sp>
        <p:nvSpPr>
          <p:cNvPr id="20" name="card_128"/>
          <p:cNvSpPr/>
          <p:nvPr/>
        </p:nvSpPr>
        <p:spPr>
          <a:xfrm>
            <a:off x="3977640" y="4617720"/>
            <a:ext cx="7665415" cy="1234440"/>
          </a:xfrm>
          <a:prstGeom prst="roundRect">
            <a:avLst>
              <a:gd name="adj" fmla="val 8889"/>
            </a:avLst>
          </a:prstGeom>
          <a:solidFill>
            <a:schemeClr val="bg2"/>
          </a:solidFill>
          <a:ln/>
        </p:spPr>
      </p:sp>
      <p:sp>
        <p:nvSpPr>
          <p:cNvPr id="21" name="dot_129"/>
          <p:cNvSpPr/>
          <p:nvPr/>
        </p:nvSpPr>
        <p:spPr>
          <a:xfrm>
            <a:off x="4251960" y="4937760"/>
            <a:ext cx="201168" cy="201168"/>
          </a:xfrm>
          <a:prstGeom prst="ellipse">
            <a:avLst/>
          </a:prstGeom>
          <a:solidFill>
            <a:schemeClr val="accent3"/>
          </a:solidFill>
          <a:ln/>
        </p:spPr>
      </p:sp>
      <p:sp>
        <p:nvSpPr>
          <p:cNvPr id="22" name="text_130"/>
          <p:cNvSpPr txBox="1"/>
          <p:nvPr/>
        </p:nvSpPr>
        <p:spPr>
          <a:xfrm>
            <a:off x="4617720" y="4846320"/>
            <a:ext cx="3108960" cy="822960"/>
          </a:xfrm>
          <a:prstGeom prst="rect">
            <a:avLst/>
          </a:prstGeom>
          <a:noFill/>
          <a:ln/>
        </p:spPr>
        <p:txBody>
          <a:bodyPr wrap="square" lIns="0" tIns="0" rIns="0" bIns="0" rtlCol="0" anchor="t"/>
          <a:lstStyle/>
          <a:p>
            <a:pPr indent="0" marL="0">
              <a:buNone/>
            </a:pPr>
            <a:r>
              <a:rPr lang="en-US" sz="1700" b="1" dirty="0">
                <a:solidFill>
                  <a:schemeClr val="tx1"/>
                </a:solidFill>
              </a:rPr>
              <a:t>Control</a:t>
            </a:r>
            <a:endParaRPr lang="en-US" sz="1400" dirty="0"/>
          </a:p>
          <a:p>
            <a:pPr indent="0" marL="0">
              <a:buNone/>
            </a:pPr>
            <a:r>
              <a:rPr lang="en-US" sz="1250" dirty="0">
                <a:solidFill>
                  <a:schemeClr val="tx2"/>
                </a:solidFill>
              </a:rPr>
              <a:t>20 zones · North Manhattan, no toll</a:t>
            </a:r>
            <a:endParaRPr lang="en-US" sz="1400" dirty="0"/>
          </a:p>
        </p:txBody>
      </p:sp>
      <p:sp>
        <p:nvSpPr>
          <p:cNvPr id="23" name="text_131"/>
          <p:cNvSpPr txBox="1"/>
          <p:nvPr/>
        </p:nvSpPr>
        <p:spPr>
          <a:xfrm>
            <a:off x="7863840" y="4572000"/>
            <a:ext cx="1463040" cy="640080"/>
          </a:xfrm>
          <a:prstGeom prst="rect">
            <a:avLst/>
          </a:prstGeom>
          <a:noFill/>
          <a:ln/>
        </p:spPr>
        <p:txBody>
          <a:bodyPr wrap="square" lIns="0" tIns="0" rIns="0" bIns="0" rtlCol="0" anchor="b"/>
          <a:lstStyle/>
          <a:p>
            <a:pPr indent="0" marL="0">
              <a:buNone/>
            </a:pPr>
            <a:r>
              <a:rPr lang="en-US" sz="2600" b="1" dirty="0">
                <a:solidFill>
                  <a:schemeClr val="tx1"/>
                </a:solidFill>
                <a:latin typeface="Arial" pitchFamily="34" charset="0"/>
                <a:ea typeface="Arial" pitchFamily="34" charset="-122"/>
                <a:cs typeface="Arial" pitchFamily="34" charset="-120"/>
              </a:rPr>
              <a:t>18.3k</a:t>
            </a:r>
            <a:endParaRPr lang="en-US" sz="2600" dirty="0"/>
          </a:p>
        </p:txBody>
      </p:sp>
      <p:sp>
        <p:nvSpPr>
          <p:cNvPr id="24" name="text_132"/>
          <p:cNvSpPr txBox="1"/>
          <p:nvPr/>
        </p:nvSpPr>
        <p:spPr>
          <a:xfrm>
            <a:off x="7863840" y="5257800"/>
            <a:ext cx="1463040" cy="457200"/>
          </a:xfrm>
          <a:prstGeom prst="rect">
            <a:avLst/>
          </a:prstGeom>
          <a:noFill/>
          <a:ln/>
        </p:spPr>
        <p:txBody>
          <a:bodyPr wrap="square" lIns="0" tIns="0" rIns="0" bIns="0" rtlCol="0" anchor="t"/>
          <a:lstStyle/>
          <a:p>
            <a:pPr indent="0" marL="0">
              <a:buNone/>
            </a:pPr>
            <a:r>
              <a:rPr lang="en-US" sz="1250" dirty="0">
                <a:solidFill>
                  <a:schemeClr val="tx2"/>
                </a:solidFill>
              </a:rPr>
              <a:t>pickups a day, 2025</a:t>
            </a:r>
            <a:endParaRPr lang="en-US" sz="1250" dirty="0"/>
          </a:p>
        </p:txBody>
      </p:sp>
      <p:sp>
        <p:nvSpPr>
          <p:cNvPr id="25" name="text_133"/>
          <p:cNvSpPr txBox="1"/>
          <p:nvPr/>
        </p:nvSpPr>
        <p:spPr>
          <a:xfrm>
            <a:off x="9646920" y="4572000"/>
            <a:ext cx="1828800" cy="640080"/>
          </a:xfrm>
          <a:prstGeom prst="rect">
            <a:avLst/>
          </a:prstGeom>
          <a:noFill/>
          <a:ln/>
        </p:spPr>
        <p:txBody>
          <a:bodyPr wrap="square" lIns="0" tIns="0" rIns="0" bIns="0" rtlCol="0" anchor="b"/>
          <a:lstStyle/>
          <a:p>
            <a:pPr indent="0" marL="0">
              <a:buNone/>
            </a:pPr>
            <a:r>
              <a:rPr lang="en-US" sz="2600" b="1" dirty="0">
                <a:solidFill>
                  <a:schemeClr val="tx1"/>
                </a:solidFill>
                <a:latin typeface="Arial" pitchFamily="34" charset="0"/>
                <a:ea typeface="Arial" pitchFamily="34" charset="-122"/>
                <a:cs typeface="Arial" pitchFamily="34" charset="-120"/>
              </a:rPr>
              <a:t>31.5%</a:t>
            </a:r>
            <a:endParaRPr lang="en-US" sz="2600" dirty="0"/>
          </a:p>
        </p:txBody>
      </p:sp>
      <p:sp>
        <p:nvSpPr>
          <p:cNvPr id="26" name="text_134"/>
          <p:cNvSpPr txBox="1"/>
          <p:nvPr/>
        </p:nvSpPr>
        <p:spPr>
          <a:xfrm>
            <a:off x="9646920" y="5257800"/>
            <a:ext cx="1828800" cy="502920"/>
          </a:xfrm>
          <a:prstGeom prst="rect">
            <a:avLst/>
          </a:prstGeom>
          <a:noFill/>
          <a:ln/>
        </p:spPr>
        <p:txBody>
          <a:bodyPr wrap="square" lIns="0" tIns="0" rIns="0" bIns="0" rtlCol="0" anchor="t"/>
          <a:lstStyle/>
          <a:p>
            <a:pPr indent="0" marL="0">
              <a:buNone/>
            </a:pPr>
            <a:r>
              <a:rPr lang="en-US" sz="1250" dirty="0">
                <a:solidFill>
                  <a:schemeClr val="tx2"/>
                </a:solidFill>
              </a:rPr>
              <a:t>paid the fee → estimates are lower bounds</a:t>
            </a:r>
            <a:endParaRPr lang="en-US" sz="12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kicker_135"/>
          <p:cNvSpPr/>
          <p:nvPr/>
        </p:nvSpPr>
        <p:spPr>
          <a:xfrm>
            <a:off x="548640" y="384048"/>
            <a:ext cx="1499616" cy="292608"/>
          </a:xfrm>
          <a:prstGeom prst="roundRect">
            <a:avLst>
              <a:gd name="adj" fmla="val 40625"/>
            </a:avLst>
          </a:prstGeom>
          <a:solidFill>
            <a:schemeClr val="accent1"/>
          </a:solidFill>
          <a:ln/>
        </p:spPr>
        <p:txBody>
          <a:bodyPr wrap="square" lIns="0" tIns="0" rIns="0" bIns="0" rtlCol="0" anchor="ctr"/>
          <a:lstStyle/>
          <a:p>
            <a:pPr algn="ctr" indent="0" marL="0">
              <a:buNone/>
            </a:pPr>
            <a:r>
              <a:rPr lang="en-US" sz="1050" b="1" spc="150" kern="0" dirty="0">
                <a:solidFill>
                  <a:schemeClr val="tx1"/>
                </a:solidFill>
              </a:rPr>
              <a:t>B · METHODOLOGY</a:t>
            </a:r>
            <a:endParaRPr lang="en-US" sz="1050" dirty="0"/>
          </a:p>
        </p:txBody>
      </p:sp>
      <p:sp>
        <p:nvSpPr>
          <p:cNvPr id="3" name="Text 1"/>
          <p:cNvSpPr/>
          <p:nvPr>
            <p:ph idx="101" type="title" hasCustomPrompt="1"/>
          </p:nvPr>
        </p:nvSpPr>
        <p:spPr>
          <a:xfrm>
            <a:off x="548640" y="868680"/>
            <a:ext cx="11094415" cy="77724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Four designs, from comparison to counterfactual</a:t>
            </a:r>
            <a:endParaRPr lang="en-US" sz="3000" dirty="0"/>
          </a:p>
        </p:txBody>
      </p:sp>
      <p:sp>
        <p:nvSpPr>
          <p:cNvPr id="5" name="card_136"/>
          <p:cNvSpPr/>
          <p:nvPr/>
        </p:nvSpPr>
        <p:spPr>
          <a:xfrm>
            <a:off x="548640" y="1783080"/>
            <a:ext cx="2602154" cy="3291840"/>
          </a:xfrm>
          <a:prstGeom prst="roundRect">
            <a:avLst>
              <a:gd name="adj" fmla="val 4217"/>
            </a:avLst>
          </a:prstGeom>
          <a:solidFill>
            <a:schemeClr val="bg2"/>
          </a:solidFill>
          <a:ln/>
        </p:spPr>
      </p:sp>
      <p:sp>
        <p:nvSpPr>
          <p:cNvPr id="6" name="num_137"/>
          <p:cNvSpPr/>
          <p:nvPr/>
        </p:nvSpPr>
        <p:spPr>
          <a:xfrm>
            <a:off x="777240" y="2011680"/>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7" name="text_138"/>
          <p:cNvSpPr txBox="1"/>
          <p:nvPr/>
        </p:nvSpPr>
        <p:spPr>
          <a:xfrm>
            <a:off x="2282114" y="2057400"/>
            <a:ext cx="640080" cy="274320"/>
          </a:xfrm>
          <a:prstGeom prst="rect">
            <a:avLst/>
          </a:prstGeom>
          <a:noFill/>
          <a:ln/>
        </p:spPr>
        <p:txBody>
          <a:bodyPr wrap="square" lIns="0" tIns="0" rIns="0" bIns="0" rtlCol="0" anchor="t"/>
          <a:lstStyle/>
          <a:p>
            <a:pPr algn="r" indent="0" marL="0">
              <a:buNone/>
            </a:pPr>
            <a:r>
              <a:rPr lang="en-US" sz="1100" b="1" dirty="0">
                <a:solidFill>
                  <a:schemeClr val="accent5"/>
                </a:solidFill>
              </a:rPr>
              <a:t>RQ3</a:t>
            </a:r>
            <a:endParaRPr lang="en-US" sz="1100" dirty="0"/>
          </a:p>
        </p:txBody>
      </p:sp>
      <p:sp>
        <p:nvSpPr>
          <p:cNvPr id="8" name="text_139"/>
          <p:cNvSpPr txBox="1"/>
          <p:nvPr/>
        </p:nvSpPr>
        <p:spPr>
          <a:xfrm>
            <a:off x="777240" y="2560320"/>
            <a:ext cx="2144954" cy="640080"/>
          </a:xfrm>
          <a:prstGeom prst="rect">
            <a:avLst/>
          </a:prstGeom>
          <a:noFill/>
          <a:ln/>
        </p:spPr>
        <p:txBody>
          <a:bodyPr wrap="square" lIns="0" tIns="0" rIns="0" bIns="0" rtlCol="0" anchor="t"/>
          <a:lstStyle/>
          <a:p>
            <a:pPr indent="0" marL="0">
              <a:buNone/>
            </a:pPr>
            <a:r>
              <a:rPr lang="en-US" sz="1700" b="1" dirty="0">
                <a:solidFill>
                  <a:schemeClr val="tx1"/>
                </a:solidFill>
              </a:rPr>
              <a:t>Difference-in-differences</a:t>
            </a:r>
            <a:endParaRPr lang="en-US" sz="1700" dirty="0"/>
          </a:p>
        </p:txBody>
      </p:sp>
      <p:sp>
        <p:nvSpPr>
          <p:cNvPr id="9" name="formula_140"/>
          <p:cNvSpPr/>
          <p:nvPr/>
        </p:nvSpPr>
        <p:spPr>
          <a:xfrm>
            <a:off x="777240" y="3246120"/>
            <a:ext cx="2144954" cy="868680"/>
          </a:xfrm>
          <a:prstGeom prst="roundRect">
            <a:avLst>
              <a:gd name="adj" fmla="val 8421"/>
            </a:avLst>
          </a:prstGeom>
          <a:solidFill>
            <a:schemeClr val="bg1"/>
          </a:solidFill>
          <a:ln/>
        </p:spPr>
        <p:txBody>
          <a:bodyPr wrap="square" lIns="50800" tIns="127000" rIns="127000" bIns="50800" rtlCol="0" anchor="ctr"/>
          <a:lstStyle/>
          <a:p>
            <a:pPr indent="0" marL="0">
              <a:buNone/>
            </a:pPr>
            <a:r>
              <a:rPr lang="en-US" sz="1250" i="1" dirty="0">
                <a:solidFill>
                  <a:schemeClr val="tx1"/>
                </a:solidFill>
              </a:rPr>
              <a:t>Δ charging zone − Δ north Manhattan</a:t>
            </a:r>
            <a:endParaRPr lang="en-US" sz="1250" dirty="0"/>
          </a:p>
        </p:txBody>
      </p:sp>
      <p:sp>
        <p:nvSpPr>
          <p:cNvPr id="10" name="text_141"/>
          <p:cNvSpPr txBox="1"/>
          <p:nvPr/>
        </p:nvSpPr>
        <p:spPr>
          <a:xfrm>
            <a:off x="777240" y="4251960"/>
            <a:ext cx="2144954" cy="777240"/>
          </a:xfrm>
          <a:prstGeom prst="rect">
            <a:avLst/>
          </a:prstGeom>
          <a:noFill/>
          <a:ln/>
        </p:spPr>
        <p:txBody>
          <a:bodyPr wrap="square" lIns="0" tIns="0" rIns="0" bIns="0" rtlCol="0" anchor="t"/>
          <a:lstStyle/>
          <a:p>
            <a:pPr indent="0" marL="0">
              <a:buNone/>
            </a:pPr>
            <a:r>
              <a:rPr lang="en-US" sz="1250" dirty="0">
                <a:solidFill>
                  <a:schemeClr val="tx2"/>
                </a:solidFill>
              </a:rPr>
              <a:t>Effect of the toll on speed and pickups, net of citywide shocks</a:t>
            </a:r>
            <a:endParaRPr lang="en-US" sz="1250" dirty="0"/>
          </a:p>
        </p:txBody>
      </p:sp>
      <p:sp>
        <p:nvSpPr>
          <p:cNvPr id="11" name="card_142"/>
          <p:cNvSpPr/>
          <p:nvPr/>
        </p:nvSpPr>
        <p:spPr>
          <a:xfrm>
            <a:off x="3379394" y="1783080"/>
            <a:ext cx="2602154" cy="3291840"/>
          </a:xfrm>
          <a:prstGeom prst="roundRect">
            <a:avLst>
              <a:gd name="adj" fmla="val 4217"/>
            </a:avLst>
          </a:prstGeom>
          <a:solidFill>
            <a:schemeClr val="bg2"/>
          </a:solidFill>
          <a:ln/>
        </p:spPr>
      </p:sp>
      <p:sp>
        <p:nvSpPr>
          <p:cNvPr id="12" name="num_143"/>
          <p:cNvSpPr/>
          <p:nvPr/>
        </p:nvSpPr>
        <p:spPr>
          <a:xfrm>
            <a:off x="3607994" y="2011680"/>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3" name="text_144"/>
          <p:cNvSpPr txBox="1"/>
          <p:nvPr/>
        </p:nvSpPr>
        <p:spPr>
          <a:xfrm>
            <a:off x="5112868" y="2057400"/>
            <a:ext cx="640080" cy="274320"/>
          </a:xfrm>
          <a:prstGeom prst="rect">
            <a:avLst/>
          </a:prstGeom>
          <a:noFill/>
          <a:ln/>
        </p:spPr>
        <p:txBody>
          <a:bodyPr wrap="square" lIns="0" tIns="0" rIns="0" bIns="0" rtlCol="0" anchor="t"/>
          <a:lstStyle/>
          <a:p>
            <a:pPr algn="r" indent="0" marL="0">
              <a:buNone/>
            </a:pPr>
            <a:r>
              <a:rPr lang="en-US" sz="1100" b="1" dirty="0">
                <a:solidFill>
                  <a:schemeClr val="accent5"/>
                </a:solidFill>
              </a:rPr>
              <a:t>RQ4</a:t>
            </a:r>
            <a:endParaRPr lang="en-US" sz="1100" dirty="0"/>
          </a:p>
        </p:txBody>
      </p:sp>
      <p:sp>
        <p:nvSpPr>
          <p:cNvPr id="14" name="text_145"/>
          <p:cNvSpPr txBox="1"/>
          <p:nvPr/>
        </p:nvSpPr>
        <p:spPr>
          <a:xfrm>
            <a:off x="3607994" y="2560320"/>
            <a:ext cx="2144954" cy="640080"/>
          </a:xfrm>
          <a:prstGeom prst="rect">
            <a:avLst/>
          </a:prstGeom>
          <a:noFill/>
          <a:ln/>
        </p:spPr>
        <p:txBody>
          <a:bodyPr wrap="square" lIns="0" tIns="0" rIns="0" bIns="0" rtlCol="0" anchor="t"/>
          <a:lstStyle/>
          <a:p>
            <a:pPr indent="0" marL="0">
              <a:buNone/>
            </a:pPr>
            <a:r>
              <a:rPr lang="en-US" sz="1700" b="1" dirty="0">
                <a:solidFill>
                  <a:schemeClr val="tx1"/>
                </a:solidFill>
              </a:rPr>
              <a:t>Triple difference</a:t>
            </a:r>
            <a:endParaRPr lang="en-US" sz="1700" dirty="0"/>
          </a:p>
        </p:txBody>
      </p:sp>
      <p:sp>
        <p:nvSpPr>
          <p:cNvPr id="15" name="formula_146"/>
          <p:cNvSpPr/>
          <p:nvPr/>
        </p:nvSpPr>
        <p:spPr>
          <a:xfrm>
            <a:off x="3607994" y="3246120"/>
            <a:ext cx="2144954" cy="868680"/>
          </a:xfrm>
          <a:prstGeom prst="roundRect">
            <a:avLst>
              <a:gd name="adj" fmla="val 8421"/>
            </a:avLst>
          </a:prstGeom>
          <a:solidFill>
            <a:schemeClr val="bg1"/>
          </a:solidFill>
          <a:ln/>
        </p:spPr>
        <p:txBody>
          <a:bodyPr wrap="square" lIns="50800" tIns="127000" rIns="127000" bIns="50800" rtlCol="0" anchor="ctr"/>
          <a:lstStyle/>
          <a:p>
            <a:pPr indent="0" marL="0">
              <a:buNone/>
            </a:pPr>
            <a:r>
              <a:rPr lang="en-US" sz="1250" i="1" dirty="0">
                <a:solidFill>
                  <a:schemeClr val="tx1"/>
                </a:solidFill>
              </a:rPr>
              <a:t>(peak − overnight) × (zone − control) × (post − pre)</a:t>
            </a:r>
            <a:endParaRPr lang="en-US" sz="1250" dirty="0"/>
          </a:p>
        </p:txBody>
      </p:sp>
      <p:sp>
        <p:nvSpPr>
          <p:cNvPr id="16" name="text_147"/>
          <p:cNvSpPr txBox="1"/>
          <p:nvPr/>
        </p:nvSpPr>
        <p:spPr>
          <a:xfrm>
            <a:off x="3607994" y="4251960"/>
            <a:ext cx="2144954" cy="777240"/>
          </a:xfrm>
          <a:prstGeom prst="rect">
            <a:avLst/>
          </a:prstGeom>
          <a:noFill/>
          <a:ln/>
        </p:spPr>
        <p:txBody>
          <a:bodyPr wrap="square" lIns="0" tIns="0" rIns="0" bIns="0" rtlCol="0" anchor="t"/>
          <a:lstStyle/>
          <a:p>
            <a:pPr indent="0" marL="0">
              <a:buNone/>
            </a:pPr>
            <a:r>
              <a:rPr lang="en-US" sz="1250" dirty="0">
                <a:solidFill>
                  <a:schemeClr val="tx2"/>
                </a:solidFill>
              </a:rPr>
              <a:t>Tests the mechanism: gains should be largest when the toll is $9</a:t>
            </a:r>
            <a:endParaRPr lang="en-US" sz="1250" dirty="0"/>
          </a:p>
        </p:txBody>
      </p:sp>
      <p:sp>
        <p:nvSpPr>
          <p:cNvPr id="17" name="card_148"/>
          <p:cNvSpPr/>
          <p:nvPr/>
        </p:nvSpPr>
        <p:spPr>
          <a:xfrm>
            <a:off x="6210148" y="1783080"/>
            <a:ext cx="2602154" cy="3291840"/>
          </a:xfrm>
          <a:prstGeom prst="roundRect">
            <a:avLst>
              <a:gd name="adj" fmla="val 4217"/>
            </a:avLst>
          </a:prstGeom>
          <a:solidFill>
            <a:schemeClr val="bg2"/>
          </a:solidFill>
          <a:ln/>
        </p:spPr>
      </p:sp>
      <p:sp>
        <p:nvSpPr>
          <p:cNvPr id="18" name="num_149"/>
          <p:cNvSpPr/>
          <p:nvPr/>
        </p:nvSpPr>
        <p:spPr>
          <a:xfrm>
            <a:off x="6438748" y="2011680"/>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9" name="text_150"/>
          <p:cNvSpPr txBox="1"/>
          <p:nvPr/>
        </p:nvSpPr>
        <p:spPr>
          <a:xfrm>
            <a:off x="7943621" y="2057400"/>
            <a:ext cx="640080" cy="274320"/>
          </a:xfrm>
          <a:prstGeom prst="rect">
            <a:avLst/>
          </a:prstGeom>
          <a:noFill/>
          <a:ln/>
        </p:spPr>
        <p:txBody>
          <a:bodyPr wrap="square" lIns="0" tIns="0" rIns="0" bIns="0" rtlCol="0" anchor="t"/>
          <a:lstStyle/>
          <a:p>
            <a:pPr algn="r" indent="0" marL="0">
              <a:buNone/>
            </a:pPr>
            <a:r>
              <a:rPr lang="en-US" sz="1100" b="1" dirty="0">
                <a:solidFill>
                  <a:schemeClr val="accent5"/>
                </a:solidFill>
              </a:rPr>
              <a:t>RQ2</a:t>
            </a:r>
            <a:endParaRPr lang="en-US" sz="1100" dirty="0"/>
          </a:p>
        </p:txBody>
      </p:sp>
      <p:sp>
        <p:nvSpPr>
          <p:cNvPr id="20" name="text_151"/>
          <p:cNvSpPr txBox="1"/>
          <p:nvPr/>
        </p:nvSpPr>
        <p:spPr>
          <a:xfrm>
            <a:off x="6438748" y="2560320"/>
            <a:ext cx="2144954" cy="640080"/>
          </a:xfrm>
          <a:prstGeom prst="rect">
            <a:avLst/>
          </a:prstGeom>
          <a:noFill/>
          <a:ln/>
        </p:spPr>
        <p:txBody>
          <a:bodyPr wrap="square" lIns="0" tIns="0" rIns="0" bIns="0" rtlCol="0" anchor="t"/>
          <a:lstStyle/>
          <a:p>
            <a:pPr indent="0" marL="0">
              <a:buNone/>
            </a:pPr>
            <a:r>
              <a:rPr lang="en-US" sz="1700" b="1" dirty="0">
                <a:solidFill>
                  <a:schemeClr val="tx1"/>
                </a:solidFill>
              </a:rPr>
              <a:t>Fare-segment design</a:t>
            </a:r>
            <a:endParaRPr lang="en-US" sz="1700" dirty="0"/>
          </a:p>
        </p:txBody>
      </p:sp>
      <p:sp>
        <p:nvSpPr>
          <p:cNvPr id="21" name="formula_152"/>
          <p:cNvSpPr/>
          <p:nvPr/>
        </p:nvSpPr>
        <p:spPr>
          <a:xfrm>
            <a:off x="6438748" y="3246120"/>
            <a:ext cx="2144954" cy="868680"/>
          </a:xfrm>
          <a:prstGeom prst="roundRect">
            <a:avLst>
              <a:gd name="adj" fmla="val 8421"/>
            </a:avLst>
          </a:prstGeom>
          <a:solidFill>
            <a:schemeClr val="bg1"/>
          </a:solidFill>
          <a:ln/>
        </p:spPr>
        <p:txBody>
          <a:bodyPr wrap="square" lIns="50800" tIns="127000" rIns="127000" bIns="50800" rtlCol="0" anchor="ctr"/>
          <a:lstStyle/>
          <a:p>
            <a:pPr indent="0" marL="0">
              <a:buNone/>
            </a:pPr>
            <a:r>
              <a:rPr lang="en-US" sz="1250" i="1" dirty="0">
                <a:solidFill>
                  <a:schemeClr val="tx1"/>
                </a:solidFill>
              </a:rPr>
              <a:t>Δ trips vs Δ price across 19 trip segments, net of placebo year</a:t>
            </a:r>
            <a:endParaRPr lang="en-US" sz="1250" dirty="0"/>
          </a:p>
        </p:txBody>
      </p:sp>
      <p:sp>
        <p:nvSpPr>
          <p:cNvPr id="22" name="text_153"/>
          <p:cNvSpPr txBox="1"/>
          <p:nvPr/>
        </p:nvSpPr>
        <p:spPr>
          <a:xfrm>
            <a:off x="6438748" y="4251960"/>
            <a:ext cx="2144954" cy="777240"/>
          </a:xfrm>
          <a:prstGeom prst="rect">
            <a:avLst/>
          </a:prstGeom>
          <a:noFill/>
          <a:ln/>
        </p:spPr>
        <p:txBody>
          <a:bodyPr wrap="square" lIns="0" tIns="0" rIns="0" bIns="0" rtlCol="0" anchor="t"/>
          <a:lstStyle/>
          <a:p>
            <a:pPr indent="0" marL="0">
              <a:buNone/>
            </a:pPr>
            <a:r>
              <a:rPr lang="en-US" sz="1250" dirty="0">
                <a:solidFill>
                  <a:schemeClr val="tx2"/>
                </a:solidFill>
              </a:rPr>
              <a:t>Relative demand response to the 2022 fare increase</a:t>
            </a:r>
            <a:endParaRPr lang="en-US" sz="1250" dirty="0"/>
          </a:p>
        </p:txBody>
      </p:sp>
      <p:sp>
        <p:nvSpPr>
          <p:cNvPr id="23" name="card_154"/>
          <p:cNvSpPr/>
          <p:nvPr/>
        </p:nvSpPr>
        <p:spPr>
          <a:xfrm>
            <a:off x="9040901" y="1783080"/>
            <a:ext cx="2602154" cy="3291840"/>
          </a:xfrm>
          <a:prstGeom prst="roundRect">
            <a:avLst>
              <a:gd name="adj" fmla="val 4217"/>
            </a:avLst>
          </a:prstGeom>
          <a:solidFill>
            <a:schemeClr val="bg2"/>
          </a:solidFill>
          <a:ln/>
        </p:spPr>
      </p:sp>
      <p:sp>
        <p:nvSpPr>
          <p:cNvPr id="24" name="num_155"/>
          <p:cNvSpPr/>
          <p:nvPr/>
        </p:nvSpPr>
        <p:spPr>
          <a:xfrm>
            <a:off x="9269501" y="2011680"/>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25" name="text_156"/>
          <p:cNvSpPr txBox="1"/>
          <p:nvPr/>
        </p:nvSpPr>
        <p:spPr>
          <a:xfrm>
            <a:off x="10774375" y="2057400"/>
            <a:ext cx="640080" cy="274320"/>
          </a:xfrm>
          <a:prstGeom prst="rect">
            <a:avLst/>
          </a:prstGeom>
          <a:noFill/>
          <a:ln/>
        </p:spPr>
        <p:txBody>
          <a:bodyPr wrap="square" lIns="0" tIns="0" rIns="0" bIns="0" rtlCol="0" anchor="t"/>
          <a:lstStyle/>
          <a:p>
            <a:pPr algn="r" indent="0" marL="0">
              <a:buNone/>
            </a:pPr>
            <a:r>
              <a:rPr lang="en-US" sz="1100" b="1" dirty="0">
                <a:solidFill>
                  <a:schemeClr val="accent5"/>
                </a:solidFill>
              </a:rPr>
              <a:t>RQ5</a:t>
            </a:r>
            <a:endParaRPr lang="en-US" sz="1100" dirty="0"/>
          </a:p>
        </p:txBody>
      </p:sp>
      <p:sp>
        <p:nvSpPr>
          <p:cNvPr id="26" name="text_157"/>
          <p:cNvSpPr txBox="1"/>
          <p:nvPr/>
        </p:nvSpPr>
        <p:spPr>
          <a:xfrm>
            <a:off x="9269501" y="2560320"/>
            <a:ext cx="2144954" cy="640080"/>
          </a:xfrm>
          <a:prstGeom prst="rect">
            <a:avLst/>
          </a:prstGeom>
          <a:noFill/>
          <a:ln/>
        </p:spPr>
        <p:txBody>
          <a:bodyPr wrap="square" lIns="0" tIns="0" rIns="0" bIns="0" rtlCol="0" anchor="t"/>
          <a:lstStyle/>
          <a:p>
            <a:pPr indent="0" marL="0">
              <a:buNone/>
            </a:pPr>
            <a:r>
              <a:rPr lang="en-US" sz="1700" b="1" dirty="0">
                <a:solidFill>
                  <a:schemeClr val="tx1"/>
                </a:solidFill>
              </a:rPr>
              <a:t>ML counterfactual</a:t>
            </a:r>
            <a:endParaRPr lang="en-US" sz="1700" dirty="0"/>
          </a:p>
        </p:txBody>
      </p:sp>
      <p:sp>
        <p:nvSpPr>
          <p:cNvPr id="27" name="formula_158"/>
          <p:cNvSpPr/>
          <p:nvPr/>
        </p:nvSpPr>
        <p:spPr>
          <a:xfrm>
            <a:off x="9269501" y="3246120"/>
            <a:ext cx="2144954" cy="868680"/>
          </a:xfrm>
          <a:prstGeom prst="roundRect">
            <a:avLst>
              <a:gd name="adj" fmla="val 8421"/>
            </a:avLst>
          </a:prstGeom>
          <a:solidFill>
            <a:schemeClr val="bg1"/>
          </a:solidFill>
          <a:ln/>
        </p:spPr>
        <p:txBody>
          <a:bodyPr wrap="square" lIns="50800" tIns="127000" rIns="127000" bIns="50800" rtlCol="0" anchor="ctr"/>
          <a:lstStyle/>
          <a:p>
            <a:pPr indent="0" marL="0">
              <a:buNone/>
            </a:pPr>
            <a:r>
              <a:rPr lang="en-US" sz="1250" i="1" dirty="0">
                <a:solidFill>
                  <a:schemeClr val="tx1"/>
                </a:solidFill>
              </a:rPr>
              <a:t>Train ≤ 2024 → predict 2025, minus 2024 placebo</a:t>
            </a:r>
            <a:endParaRPr lang="en-US" sz="1250" dirty="0"/>
          </a:p>
        </p:txBody>
      </p:sp>
      <p:sp>
        <p:nvSpPr>
          <p:cNvPr id="28" name="text_159"/>
          <p:cNvSpPr txBox="1"/>
          <p:nvPr/>
        </p:nvSpPr>
        <p:spPr>
          <a:xfrm>
            <a:off x="9269501" y="4251960"/>
            <a:ext cx="2144954" cy="777240"/>
          </a:xfrm>
          <a:prstGeom prst="rect">
            <a:avLst/>
          </a:prstGeom>
          <a:noFill/>
          <a:ln/>
        </p:spPr>
        <p:txBody>
          <a:bodyPr wrap="square" lIns="0" tIns="0" rIns="0" bIns="0" rtlCol="0" anchor="t"/>
          <a:lstStyle/>
          <a:p>
            <a:pPr indent="0" marL="0">
              <a:buNone/>
            </a:pPr>
            <a:r>
              <a:rPr lang="en-US" sz="1250" dirty="0">
                <a:solidFill>
                  <a:schemeClr val="tx2"/>
                </a:solidFill>
              </a:rPr>
              <a:t>Independent check with gradient boosting, random forest, ridge, Spark</a:t>
            </a:r>
            <a:endParaRPr lang="en-US" sz="1250" dirty="0"/>
          </a:p>
        </p:txBody>
      </p:sp>
      <p:sp>
        <p:nvSpPr>
          <p:cNvPr id="29" name="card_160"/>
          <p:cNvSpPr/>
          <p:nvPr/>
        </p:nvSpPr>
        <p:spPr>
          <a:xfrm>
            <a:off x="548640" y="5303520"/>
            <a:ext cx="11094415" cy="685800"/>
          </a:xfrm>
          <a:prstGeom prst="roundRect">
            <a:avLst>
              <a:gd name="adj" fmla="val 16000"/>
            </a:avLst>
          </a:prstGeom>
          <a:solidFill>
            <a:schemeClr val="tx1"/>
          </a:solidFill>
          <a:ln/>
        </p:spPr>
      </p:sp>
      <p:sp>
        <p:nvSpPr>
          <p:cNvPr id="30" name="text_161"/>
          <p:cNvSpPr txBox="1"/>
          <p:nvPr/>
        </p:nvSpPr>
        <p:spPr>
          <a:xfrm>
            <a:off x="822960" y="5303520"/>
            <a:ext cx="10545775" cy="685800"/>
          </a:xfrm>
          <a:prstGeom prst="rect">
            <a:avLst/>
          </a:prstGeom>
          <a:noFill/>
          <a:ln/>
        </p:spPr>
        <p:txBody>
          <a:bodyPr wrap="square" lIns="0" tIns="0" rIns="0" bIns="0" rtlCol="0" anchor="ctr"/>
          <a:lstStyle/>
          <a:p>
            <a:pPr indent="0" marL="0">
              <a:buNone/>
            </a:pPr>
            <a:r>
              <a:rPr lang="en-US" sz="1300" b="1" dirty="0">
                <a:solidFill>
                  <a:schemeClr val="accent1"/>
                </a:solidFill>
              </a:rPr>
              <a:t>Controls  </a:t>
            </a:r>
            <a:pPr indent="0" marL="0">
              <a:buNone/>
            </a:pPr>
            <a:r>
              <a:rPr lang="en-US" sz="1300" dirty="0">
                <a:solidFill>
                  <a:schemeClr val="bg1"/>
                </a:solidFill>
              </a:rPr>
              <a:t>weather, holidays, weekday, month     </a:t>
            </a:r>
            <a:pPr indent="0" marL="0">
              <a:buNone/>
            </a:pPr>
            <a:r>
              <a:rPr lang="en-US" sz="1300" b="1" dirty="0">
                <a:solidFill>
                  <a:schemeClr val="accent1"/>
                </a:solidFill>
              </a:rPr>
              <a:t>Inference  </a:t>
            </a:r>
            <a:pPr indent="0" marL="0">
              <a:buNone/>
            </a:pPr>
            <a:r>
              <a:rPr lang="en-US" sz="1300" dirty="0">
                <a:solidFill>
                  <a:schemeClr val="bg1"/>
                </a:solidFill>
              </a:rPr>
              <a:t>Newey–West HAC, week-block bootstrap     </a:t>
            </a:r>
            <a:pPr indent="0" marL="0">
              <a:buNone/>
            </a:pPr>
            <a:r>
              <a:rPr lang="en-US" sz="1300" b="1" dirty="0">
                <a:solidFill>
                  <a:schemeClr val="accent1"/>
                </a:solidFill>
              </a:rPr>
              <a:t>Tools  </a:t>
            </a:r>
            <a:pPr indent="0" marL="0">
              <a:buNone/>
            </a:pPr>
            <a:r>
              <a:rPr lang="en-US" sz="1300" dirty="0">
                <a:solidFill>
                  <a:schemeClr val="bg1"/>
                </a:solidFill>
              </a:rPr>
              <a:t>PySpark · DuckDB · statsmodels · scikit-learn · Spark MLlib</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kicker_162"/>
          <p:cNvSpPr/>
          <p:nvPr/>
        </p:nvSpPr>
        <p:spPr>
          <a:xfrm>
            <a:off x="548640" y="384048"/>
            <a:ext cx="2223821" cy="292608"/>
          </a:xfrm>
          <a:prstGeom prst="roundRect">
            <a:avLst>
              <a:gd name="adj" fmla="val 40625"/>
            </a:avLst>
          </a:prstGeom>
          <a:solidFill>
            <a:schemeClr val="accent1"/>
          </a:solidFill>
          <a:ln/>
        </p:spPr>
        <p:txBody>
          <a:bodyPr wrap="square" lIns="0" tIns="0" rIns="0" bIns="0" rtlCol="0" anchor="ctr"/>
          <a:lstStyle/>
          <a:p>
            <a:pPr algn="ctr" indent="0" marL="0">
              <a:buNone/>
            </a:pPr>
            <a:r>
              <a:rPr lang="en-US" sz="1050" b="1" spc="150" kern="0" dirty="0">
                <a:solidFill>
                  <a:schemeClr val="tx1"/>
                </a:solidFill>
              </a:rPr>
              <a:t>C · TAXI MARKET ACTIVITY</a:t>
            </a:r>
            <a:endParaRPr lang="en-US" sz="1050" dirty="0"/>
          </a:p>
        </p:txBody>
      </p:sp>
      <p:sp>
        <p:nvSpPr>
          <p:cNvPr id="3" name="Text 1"/>
          <p:cNvSpPr/>
          <p:nvPr>
            <p:ph idx="101" type="title" hasCustomPrompt="1"/>
          </p:nvPr>
        </p:nvSpPr>
        <p:spPr>
          <a:xfrm>
            <a:off x="548640" y="868680"/>
            <a:ext cx="11094415" cy="77724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Demand climbed to 120,000 trips a day in 2025</a:t>
            </a:r>
            <a:endParaRPr lang="en-US" sz="3000" dirty="0"/>
          </a:p>
        </p:txBody>
      </p:sp>
      <p:graphicFrame>
        <p:nvGraphicFramePr>
          <p:cNvPr id="5" name="chart_trips" descr=""/>
          <p:cNvGraphicFramePr/>
          <p:nvPr/>
        </p:nvGraphicFramePr>
        <p:xfrm>
          <a:off x="548640" y="1737360"/>
          <a:ext cx="6949440" cy="4206240"/>
        </p:xfrm>
        <a:graphic xmlns:a="http://schemas.openxmlformats.org/drawingml/2006/main">
          <a:graphicData uri="http://schemas.openxmlformats.org/drawingml/2006/chart">
            <c:chart xmlns:c="http://schemas.openxmlformats.org/drawingml/2006/chart" r:id="rId1"/>
          </a:graphicData>
        </a:graphic>
      </p:graphicFrame>
      <p:sp>
        <p:nvSpPr>
          <p:cNvPr id="6" name="evline_163"/>
          <p:cNvSpPr/>
          <p:nvPr/>
        </p:nvSpPr>
        <p:spPr>
          <a:xfrm>
            <a:off x="2673782" y="2240280"/>
            <a:ext cx="0" cy="3200400"/>
          </a:xfrm>
          <a:prstGeom prst="line">
            <a:avLst/>
          </a:prstGeom>
          <a:noFill/>
          <a:ln w="25400">
            <a:solidFill>
              <a:srgbClr val="F5B700"/>
            </a:solidFill>
            <a:prstDash val="dash"/>
          </a:ln>
        </p:spPr>
      </p:sp>
      <p:sp>
        <p:nvSpPr>
          <p:cNvPr id="7" name="text_164"/>
          <p:cNvSpPr txBox="1"/>
          <p:nvPr/>
        </p:nvSpPr>
        <p:spPr>
          <a:xfrm>
            <a:off x="2728646" y="2240280"/>
            <a:ext cx="1280160" cy="256032"/>
          </a:xfrm>
          <a:prstGeom prst="rect">
            <a:avLst/>
          </a:prstGeom>
          <a:noFill/>
          <a:ln/>
        </p:spPr>
        <p:txBody>
          <a:bodyPr wrap="square" lIns="0" tIns="0" rIns="0" bIns="0" rtlCol="0" anchor="t"/>
          <a:lstStyle/>
          <a:p>
            <a:pPr indent="0" marL="0">
              <a:buNone/>
            </a:pPr>
            <a:r>
              <a:rPr lang="en-US" sz="1100" b="1" dirty="0">
                <a:solidFill>
                  <a:schemeClr val="accent4"/>
                </a:solidFill>
              </a:rPr>
              <a:t>Fare increase</a:t>
            </a:r>
            <a:endParaRPr lang="en-US" sz="1100" dirty="0"/>
          </a:p>
        </p:txBody>
      </p:sp>
      <p:sp>
        <p:nvSpPr>
          <p:cNvPr id="8" name="evline_165"/>
          <p:cNvSpPr/>
          <p:nvPr/>
        </p:nvSpPr>
        <p:spPr>
          <a:xfrm>
            <a:off x="5828843" y="2240280"/>
            <a:ext cx="0" cy="3200400"/>
          </a:xfrm>
          <a:prstGeom prst="line">
            <a:avLst/>
          </a:prstGeom>
          <a:noFill/>
          <a:ln w="25400">
            <a:solidFill>
              <a:srgbClr val="F5B700"/>
            </a:solidFill>
            <a:prstDash val="dash"/>
          </a:ln>
        </p:spPr>
      </p:sp>
      <p:sp>
        <p:nvSpPr>
          <p:cNvPr id="9" name="text_166"/>
          <p:cNvSpPr txBox="1"/>
          <p:nvPr/>
        </p:nvSpPr>
        <p:spPr>
          <a:xfrm>
            <a:off x="5883707" y="2240280"/>
            <a:ext cx="1280160" cy="256032"/>
          </a:xfrm>
          <a:prstGeom prst="rect">
            <a:avLst/>
          </a:prstGeom>
          <a:noFill/>
          <a:ln/>
        </p:spPr>
        <p:txBody>
          <a:bodyPr wrap="square" lIns="0" tIns="0" rIns="0" bIns="0" rtlCol="0" anchor="t"/>
          <a:lstStyle/>
          <a:p>
            <a:pPr indent="0" marL="0">
              <a:buNone/>
            </a:pPr>
            <a:r>
              <a:rPr lang="en-US" sz="1100" b="1" dirty="0">
                <a:solidFill>
                  <a:schemeClr val="accent4"/>
                </a:solidFill>
              </a:rPr>
              <a:t>Toll begins</a:t>
            </a:r>
            <a:endParaRPr lang="en-US" sz="1100" dirty="0"/>
          </a:p>
        </p:txBody>
      </p:sp>
      <p:graphicFrame>
        <p:nvGraphicFramePr>
          <p:cNvPr id="12" name="table_years"/>
          <p:cNvGraphicFramePr>
            <a:graphicFrameLocks noGrp="1"/>
          </p:cNvGraphicFramePr>
          <p:nvPr>
            <p:extLst>
              <p:ext uri="{D42A27DB-BD31-4B8C-83A1-F6EECF244321}">
                <p14:modId xmlns:p14="http://schemas.microsoft.com/office/powerpoint/2010/main" val="1579011935"/>
              </p:ext>
            </p:extLst>
          </p:nvPr>
        </p:nvGraphicFramePr>
        <p:xfrm>
          <a:off x="7818120" y="1874520"/>
          <a:ext cx="3824935" cy="914400"/>
        </p:xfrm>
        <a:graphic>
          <a:graphicData uri="http://schemas.openxmlformats.org/drawingml/2006/table">
            <a:tbl>
              <a:tblPr/>
              <a:tblGrid>
                <a:gridCol w="1417320"/>
                <a:gridCol w="548640"/>
                <a:gridCol w="548640"/>
                <a:gridCol w="548640"/>
                <a:gridCol w="761695"/>
              </a:tblGrid>
              <a:tr h="384048">
                <a:tc>
                  <a:txBody>
                    <a:bodyPr/>
                    <a:lstStyle/>
                    <a:p>
                      <a:pPr algn="l" indent="0" marL="0">
                        <a:buNone/>
                      </a:pP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111111"/>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2022</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111111"/>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2023</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111111"/>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2024</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111111"/>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2025</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111111"/>
                    </a:solidFill>
                  </a:tcPr>
                </a:tc>
              </a:tr>
              <a:tr h="384048">
                <a:tc>
                  <a:txBody>
                    <a:bodyPr/>
                    <a:lstStyle/>
                    <a:p>
                      <a:pPr algn="l" indent="0" marL="0">
                        <a:buNone/>
                      </a:pPr>
                      <a:r>
                        <a:rPr lang="en-US" sz="1200" b="1" dirty="0">
                          <a:solidFill>
                            <a:srgbClr val="2B2D31"/>
                          </a:solidFill>
                          <a:latin typeface="Calibri" pitchFamily="34" charset="0"/>
                          <a:ea typeface="Calibri" pitchFamily="34" charset="-122"/>
                          <a:cs typeface="Calibri" pitchFamily="34" charset="-120"/>
                        </a:rPr>
                        <a:t>Trips/day (k)</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B2D31"/>
                          </a:solidFill>
                          <a:latin typeface="Calibri" pitchFamily="34" charset="0"/>
                          <a:ea typeface="Calibri" pitchFamily="34" charset="-122"/>
                          <a:cs typeface="Calibri" pitchFamily="34" charset="-120"/>
                        </a:rPr>
                        <a:t>104.5</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B2D31"/>
                          </a:solidFill>
                          <a:latin typeface="Calibri" pitchFamily="34" charset="0"/>
                          <a:ea typeface="Calibri" pitchFamily="34" charset="-122"/>
                          <a:cs typeface="Calibri" pitchFamily="34" charset="-120"/>
                        </a:rPr>
                        <a:t>101.3</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B2D31"/>
                          </a:solidFill>
                          <a:latin typeface="Calibri" pitchFamily="34" charset="0"/>
                          <a:ea typeface="Calibri" pitchFamily="34" charset="-122"/>
                          <a:cs typeface="Calibri" pitchFamily="34" charset="-120"/>
                        </a:rPr>
                        <a:t>107.4</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B2D31"/>
                          </a:solidFill>
                          <a:latin typeface="Calibri" pitchFamily="34" charset="0"/>
                          <a:ea typeface="Calibri" pitchFamily="34" charset="-122"/>
                          <a:cs typeface="Calibri" pitchFamily="34" charset="-120"/>
                        </a:rPr>
                        <a:t>120.3</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CEBB3"/>
                    </a:solidFill>
                  </a:tcPr>
                </a:tc>
              </a:tr>
              <a:tr h="384048">
                <a:tc>
                  <a:txBody>
                    <a:bodyPr/>
                    <a:lstStyle/>
                    <a:p>
                      <a:pPr algn="l" indent="0" marL="0">
                        <a:buNone/>
                      </a:pPr>
                      <a:r>
                        <a:rPr lang="en-US" sz="1200" b="1" dirty="0">
                          <a:solidFill>
                            <a:srgbClr val="2B2D31"/>
                          </a:solidFill>
                          <a:latin typeface="Calibri" pitchFamily="34" charset="0"/>
                          <a:ea typeface="Calibri" pitchFamily="34" charset="-122"/>
                          <a:cs typeface="Calibri" pitchFamily="34" charset="-120"/>
                        </a:rPr>
                        <a:t>Mean fare ($)</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B2D31"/>
                          </a:solidFill>
                          <a:latin typeface="Calibri" pitchFamily="34" charset="0"/>
                          <a:ea typeface="Calibri" pitchFamily="34" charset="-122"/>
                          <a:cs typeface="Calibri" pitchFamily="34" charset="-120"/>
                        </a:rPr>
                        <a:t>14.80</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B2D31"/>
                          </a:solidFill>
                          <a:latin typeface="Calibri" pitchFamily="34" charset="0"/>
                          <a:ea typeface="Calibri" pitchFamily="34" charset="-122"/>
                          <a:cs typeface="Calibri" pitchFamily="34" charset="-120"/>
                        </a:rPr>
                        <a:t>19.81</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B2D31"/>
                          </a:solidFill>
                          <a:latin typeface="Calibri" pitchFamily="34" charset="0"/>
                          <a:ea typeface="Calibri" pitchFamily="34" charset="-122"/>
                          <a:cs typeface="Calibri" pitchFamily="34" charset="-120"/>
                        </a:rPr>
                        <a:t>19.82</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B2D31"/>
                          </a:solidFill>
                          <a:latin typeface="Calibri" pitchFamily="34" charset="0"/>
                          <a:ea typeface="Calibri" pitchFamily="34" charset="-122"/>
                          <a:cs typeface="Calibri" pitchFamily="34" charset="-120"/>
                        </a:rPr>
                        <a:t>20.04</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CEBB3"/>
                    </a:solidFill>
                  </a:tcPr>
                </a:tc>
              </a:tr>
              <a:tr h="384048">
                <a:tc>
                  <a:txBody>
                    <a:bodyPr/>
                    <a:lstStyle/>
                    <a:p>
                      <a:pPr algn="l" indent="0" marL="0">
                        <a:buNone/>
                      </a:pPr>
                      <a:r>
                        <a:rPr lang="en-US" sz="1200" b="1" dirty="0">
                          <a:solidFill>
                            <a:srgbClr val="2B2D31"/>
                          </a:solidFill>
                          <a:latin typeface="Calibri" pitchFamily="34" charset="0"/>
                          <a:ea typeface="Calibri" pitchFamily="34" charset="-122"/>
                          <a:cs typeface="Calibri" pitchFamily="34" charset="-120"/>
                        </a:rPr>
                        <a:t>Speed (mph)</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B2D31"/>
                          </a:solidFill>
                          <a:latin typeface="Calibri" pitchFamily="34" charset="0"/>
                          <a:ea typeface="Calibri" pitchFamily="34" charset="-122"/>
                          <a:cs typeface="Calibri" pitchFamily="34" charset="-120"/>
                        </a:rPr>
                        <a:t>12.2</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B2D31"/>
                          </a:solidFill>
                          <a:latin typeface="Calibri" pitchFamily="34" charset="0"/>
                          <a:ea typeface="Calibri" pitchFamily="34" charset="-122"/>
                          <a:cs typeface="Calibri" pitchFamily="34" charset="-120"/>
                        </a:rPr>
                        <a:t>12.0</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B2D31"/>
                          </a:solidFill>
                          <a:latin typeface="Calibri" pitchFamily="34" charset="0"/>
                          <a:ea typeface="Calibri" pitchFamily="34" charset="-122"/>
                          <a:cs typeface="Calibri" pitchFamily="34" charset="-120"/>
                        </a:rPr>
                        <a:t>11.7</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B2D31"/>
                          </a:solidFill>
                          <a:latin typeface="Calibri" pitchFamily="34" charset="0"/>
                          <a:ea typeface="Calibri" pitchFamily="34" charset="-122"/>
                          <a:cs typeface="Calibri" pitchFamily="34" charset="-120"/>
                        </a:rPr>
                        <a:t>11.9</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CEBB3"/>
                    </a:solidFill>
                  </a:tcPr>
                </a:tc>
              </a:tr>
              <a:tr h="384048">
                <a:tc>
                  <a:txBody>
                    <a:bodyPr/>
                    <a:lstStyle/>
                    <a:p>
                      <a:pPr algn="l" indent="0" marL="0">
                        <a:buNone/>
                      </a:pPr>
                      <a:r>
                        <a:rPr lang="en-US" sz="1200" b="1" dirty="0">
                          <a:solidFill>
                            <a:srgbClr val="2B2D31"/>
                          </a:solidFill>
                          <a:latin typeface="Calibri" pitchFamily="34" charset="0"/>
                          <a:ea typeface="Calibri" pitchFamily="34" charset="-122"/>
                          <a:cs typeface="Calibri" pitchFamily="34" charset="-120"/>
                        </a:rPr>
                        <a:t>Distance (mi)</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B2D31"/>
                          </a:solidFill>
                          <a:latin typeface="Calibri" pitchFamily="34" charset="0"/>
                          <a:ea typeface="Calibri" pitchFamily="34" charset="-122"/>
                          <a:cs typeface="Calibri" pitchFamily="34" charset="-120"/>
                        </a:rPr>
                        <a:t>3.56</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B2D31"/>
                          </a:solidFill>
                          <a:latin typeface="Calibri" pitchFamily="34" charset="0"/>
                          <a:ea typeface="Calibri" pitchFamily="34" charset="-122"/>
                          <a:cs typeface="Calibri" pitchFamily="34" charset="-120"/>
                        </a:rPr>
                        <a:t>3.53</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B2D31"/>
                          </a:solidFill>
                          <a:latin typeface="Calibri" pitchFamily="34" charset="0"/>
                          <a:ea typeface="Calibri" pitchFamily="34" charset="-122"/>
                          <a:cs typeface="Calibri" pitchFamily="34" charset="-120"/>
                        </a:rPr>
                        <a:t>3.43</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B2D31"/>
                          </a:solidFill>
                          <a:latin typeface="Calibri" pitchFamily="34" charset="0"/>
                          <a:ea typeface="Calibri" pitchFamily="34" charset="-122"/>
                          <a:cs typeface="Calibri" pitchFamily="34" charset="-120"/>
                        </a:rPr>
                        <a:t>3.49</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CEBB3"/>
                    </a:solidFill>
                  </a:tcPr>
                </a:tc>
              </a:tr>
              <a:tr h="384048">
                <a:tc>
                  <a:txBody>
                    <a:bodyPr/>
                    <a:lstStyle/>
                    <a:p>
                      <a:pPr algn="l" indent="0" marL="0">
                        <a:buNone/>
                      </a:pPr>
                      <a:r>
                        <a:rPr lang="en-US" sz="1200" b="1" dirty="0">
                          <a:solidFill>
                            <a:srgbClr val="2B2D31"/>
                          </a:solidFill>
                          <a:latin typeface="Calibri" pitchFamily="34" charset="0"/>
                          <a:ea typeface="Calibri" pitchFamily="34" charset="-122"/>
                          <a:cs typeface="Calibri" pitchFamily="34" charset="-120"/>
                        </a:rPr>
                        <a:t>Card share (%)</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B2D31"/>
                          </a:solidFill>
                          <a:latin typeface="Calibri" pitchFamily="34" charset="0"/>
                          <a:ea typeface="Calibri" pitchFamily="34" charset="-122"/>
                          <a:cs typeface="Calibri" pitchFamily="34" charset="-120"/>
                        </a:rPr>
                        <a:t>76.7</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B2D31"/>
                          </a:solidFill>
                          <a:latin typeface="Calibri" pitchFamily="34" charset="0"/>
                          <a:ea typeface="Calibri" pitchFamily="34" charset="-122"/>
                          <a:cs typeface="Calibri" pitchFamily="34" charset="-120"/>
                        </a:rPr>
                        <a:t>79.6</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B2D31"/>
                          </a:solidFill>
                          <a:latin typeface="Calibri" pitchFamily="34" charset="0"/>
                          <a:ea typeface="Calibri" pitchFamily="34" charset="-122"/>
                          <a:cs typeface="Calibri" pitchFamily="34" charset="-120"/>
                        </a:rPr>
                        <a:t>76.0</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B2D31"/>
                          </a:solidFill>
                          <a:latin typeface="Calibri" pitchFamily="34" charset="0"/>
                          <a:ea typeface="Calibri" pitchFamily="34" charset="-122"/>
                          <a:cs typeface="Calibri" pitchFamily="34" charset="-120"/>
                        </a:rPr>
                        <a:t>68.6</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CEBB3"/>
                    </a:solidFill>
                  </a:tcPr>
                </a:tc>
              </a:tr>
              <a:tr h="384048">
                <a:tc>
                  <a:txBody>
                    <a:bodyPr/>
                    <a:lstStyle/>
                    <a:p>
                      <a:pPr algn="l" indent="0" marL="0">
                        <a:buNone/>
                      </a:pPr>
                      <a:r>
                        <a:rPr lang="en-US" sz="1200" b="1" dirty="0">
                          <a:solidFill>
                            <a:srgbClr val="2B2D31"/>
                          </a:solidFill>
                          <a:latin typeface="Calibri" pitchFamily="34" charset="0"/>
                          <a:ea typeface="Calibri" pitchFamily="34" charset="-122"/>
                          <a:cs typeface="Calibri" pitchFamily="34" charset="-120"/>
                        </a:rPr>
                        <a:t>Airport trips (%)</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B2D31"/>
                          </a:solidFill>
                          <a:latin typeface="Calibri" pitchFamily="34" charset="0"/>
                          <a:ea typeface="Calibri" pitchFamily="34" charset="-122"/>
                          <a:cs typeface="Calibri" pitchFamily="34" charset="-120"/>
                        </a:rPr>
                        <a:t>10.1</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B2D31"/>
                          </a:solidFill>
                          <a:latin typeface="Calibri" pitchFamily="34" charset="0"/>
                          <a:ea typeface="Calibri" pitchFamily="34" charset="-122"/>
                          <a:cs typeface="Calibri" pitchFamily="34" charset="-120"/>
                        </a:rPr>
                        <a:t>11.1</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B2D31"/>
                          </a:solidFill>
                          <a:latin typeface="Calibri" pitchFamily="34" charset="0"/>
                          <a:ea typeface="Calibri" pitchFamily="34" charset="-122"/>
                          <a:cs typeface="Calibri" pitchFamily="34" charset="-120"/>
                        </a:rPr>
                        <a:t>10.2</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B2D31"/>
                          </a:solidFill>
                          <a:latin typeface="Calibri" pitchFamily="34" charset="0"/>
                          <a:ea typeface="Calibri" pitchFamily="34" charset="-122"/>
                          <a:cs typeface="Calibri" pitchFamily="34" charset="-120"/>
                        </a:rPr>
                        <a:t>8.9</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CEBB3"/>
                    </a:solidFill>
                  </a:tcPr>
                </a:tc>
              </a:tr>
              <a:tr h="384048">
                <a:tc>
                  <a:txBody>
                    <a:bodyPr/>
                    <a:lstStyle/>
                    <a:p>
                      <a:pPr algn="l" indent="0" marL="0">
                        <a:buNone/>
                      </a:pPr>
                      <a:r>
                        <a:rPr lang="en-US" sz="1200" b="1" dirty="0">
                          <a:solidFill>
                            <a:srgbClr val="2B2D31"/>
                          </a:solidFill>
                          <a:latin typeface="Calibri" pitchFamily="34" charset="0"/>
                          <a:ea typeface="Calibri" pitchFamily="34" charset="-122"/>
                          <a:cs typeface="Calibri" pitchFamily="34" charset="-120"/>
                        </a:rPr>
                        <a:t>Paid $0.75 fee (%)</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B2D31"/>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B2D31"/>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B2D31"/>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B2D31"/>
                          </a:solidFill>
                          <a:latin typeface="Calibri" pitchFamily="34" charset="0"/>
                          <a:ea typeface="Calibri" pitchFamily="34" charset="-122"/>
                          <a:cs typeface="Calibri" pitchFamily="34" charset="-120"/>
                        </a:rPr>
                        <a:t>73.0</a:t>
                      </a:r>
                      <a:endParaRPr lang="en-US" sz="120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CEBB3"/>
                    </a:solidFill>
                  </a:tcPr>
                </a:tc>
              </a:tr>
            </a:tbl>
          </a:graphicData>
        </a:graphic>
      </p:graphicFrame>
      <p:sp>
        <p:nvSpPr>
          <p:cNvPr id="11" name="text_167"/>
          <p:cNvSpPr txBox="1"/>
          <p:nvPr/>
        </p:nvSpPr>
        <p:spPr>
          <a:xfrm>
            <a:off x="548640" y="6053328"/>
            <a:ext cx="11094415" cy="274320"/>
          </a:xfrm>
          <a:prstGeom prst="rect">
            <a:avLst/>
          </a:prstGeom>
          <a:noFill/>
          <a:ln/>
        </p:spPr>
        <p:txBody>
          <a:bodyPr wrap="square" lIns="0" tIns="0" rIns="0" bIns="0" rtlCol="0" anchor="t"/>
          <a:lstStyle/>
          <a:p>
            <a:pPr indent="0" marL="0">
              <a:buNone/>
            </a:pPr>
            <a:r>
              <a:rPr lang="en-US" sz="1000" i="1" dirty="0">
                <a:solidFill>
                  <a:schemeClr val="accent3"/>
                </a:solidFill>
              </a:rPr>
              <a:t>Source: TLC yellow-taxi records, cleaned; gap days excluded; all 48 months included.</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kicker_168"/>
          <p:cNvSpPr/>
          <p:nvPr/>
        </p:nvSpPr>
        <p:spPr>
          <a:xfrm>
            <a:off x="548640" y="384048"/>
            <a:ext cx="1901952" cy="292608"/>
          </a:xfrm>
          <a:prstGeom prst="roundRect">
            <a:avLst>
              <a:gd name="adj" fmla="val 40625"/>
            </a:avLst>
          </a:prstGeom>
          <a:solidFill>
            <a:schemeClr val="accent1"/>
          </a:solidFill>
          <a:ln/>
        </p:spPr>
        <p:txBody>
          <a:bodyPr wrap="square" lIns="0" tIns="0" rIns="0" bIns="0" rtlCol="0" anchor="ctr"/>
          <a:lstStyle/>
          <a:p>
            <a:pPr algn="ctr" indent="0" marL="0">
              <a:buNone/>
            </a:pPr>
            <a:r>
              <a:rPr lang="en-US" sz="1050" b="1" spc="150" kern="0" dirty="0">
                <a:solidFill>
                  <a:schemeClr val="tx1"/>
                </a:solidFill>
              </a:rPr>
              <a:t>C · WHEN PEOPLE RIDE</a:t>
            </a:r>
            <a:endParaRPr lang="en-US" sz="1050" dirty="0"/>
          </a:p>
        </p:txBody>
      </p:sp>
      <p:sp>
        <p:nvSpPr>
          <p:cNvPr id="3" name="Text 1"/>
          <p:cNvSpPr/>
          <p:nvPr>
            <p:ph idx="101" type="title" hasCustomPrompt="1"/>
          </p:nvPr>
        </p:nvSpPr>
        <p:spPr>
          <a:xfrm>
            <a:off x="548640" y="868680"/>
            <a:ext cx="11094415" cy="77724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Weekdays peak at 6 pm; weekends peak after midnight</a:t>
            </a:r>
            <a:endParaRPr lang="en-US" sz="3000" dirty="0"/>
          </a:p>
        </p:txBody>
      </p:sp>
      <p:pic>
        <p:nvPicPr>
          <p:cNvPr id="5" name="chart_img_169" descr="Share of trips by hour on weekdays and weekends, and average trips by day of week by year">    </p:cNvPr>
          <p:cNvPicPr>
            <a:picLocks noChangeAspect="1"/>
          </p:cNvPicPr>
          <p:nvPr/>
        </p:nvPicPr>
        <p:blipFill>
          <a:blip r:embed="rId1"/>
          <a:stretch>
            <a:fillRect/>
          </a:stretch>
        </p:blipFill>
        <p:spPr>
          <a:xfrm>
            <a:off x="1463917" y="1691640"/>
            <a:ext cx="9263861" cy="2880360"/>
          </a:xfrm>
          <a:prstGeom prst="rect">
            <a:avLst/>
          </a:prstGeom>
        </p:spPr>
      </p:pic>
      <p:sp>
        <p:nvSpPr>
          <p:cNvPr id="6" name="card_170"/>
          <p:cNvSpPr/>
          <p:nvPr/>
        </p:nvSpPr>
        <p:spPr>
          <a:xfrm>
            <a:off x="548640" y="4754880"/>
            <a:ext cx="11094415" cy="1280160"/>
          </a:xfrm>
          <a:prstGeom prst="roundRect">
            <a:avLst>
              <a:gd name="adj" fmla="val 8571"/>
            </a:avLst>
          </a:prstGeom>
          <a:solidFill>
            <a:schemeClr val="bg2"/>
          </a:solidFill>
          <a:ln/>
        </p:spPr>
      </p:sp>
      <p:sp>
        <p:nvSpPr>
          <p:cNvPr id="7" name="text_171"/>
          <p:cNvSpPr txBox="1"/>
          <p:nvPr/>
        </p:nvSpPr>
        <p:spPr>
          <a:xfrm>
            <a:off x="822960" y="4937760"/>
            <a:ext cx="2743200" cy="274320"/>
          </a:xfrm>
          <a:prstGeom prst="rect">
            <a:avLst/>
          </a:prstGeom>
          <a:noFill/>
          <a:ln/>
        </p:spPr>
        <p:txBody>
          <a:bodyPr wrap="square" lIns="0" tIns="0" rIns="0" bIns="0" rtlCol="0" anchor="t"/>
          <a:lstStyle/>
          <a:p>
            <a:pPr indent="0" marL="0">
              <a:buNone/>
            </a:pPr>
            <a:r>
              <a:rPr lang="en-US" sz="1100" b="1" spc="150" kern="0" dirty="0">
                <a:solidFill>
                  <a:schemeClr val="accent4"/>
                </a:solidFill>
              </a:rPr>
              <a:t>WHAT WE DERIVE</a:t>
            </a:r>
            <a:endParaRPr lang="en-US" sz="1100" dirty="0"/>
          </a:p>
        </p:txBody>
      </p:sp>
      <p:sp>
        <p:nvSpPr>
          <p:cNvPr id="8" name="num_172"/>
          <p:cNvSpPr/>
          <p:nvPr/>
        </p:nvSpPr>
        <p:spPr>
          <a:xfrm>
            <a:off x="822960" y="5303520"/>
            <a:ext cx="310896" cy="310896"/>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9" name="text_173"/>
          <p:cNvSpPr txBox="1"/>
          <p:nvPr/>
        </p:nvSpPr>
        <p:spPr>
          <a:xfrm>
            <a:off x="1261872" y="5230368"/>
            <a:ext cx="2920898" cy="731520"/>
          </a:xfrm>
          <a:prstGeom prst="rect">
            <a:avLst/>
          </a:prstGeom>
          <a:noFill/>
          <a:ln/>
        </p:spPr>
        <p:txBody>
          <a:bodyPr wrap="square" lIns="0" tIns="0" rIns="0" bIns="0" rtlCol="0" anchor="t"/>
          <a:lstStyle/>
          <a:p>
            <a:pPr indent="0" marL="0">
              <a:buNone/>
            </a:pPr>
            <a:r>
              <a:rPr lang="en-US" sz="1200" dirty="0">
                <a:solidFill>
                  <a:schemeClr val="tx2"/>
                </a:solidFill>
              </a:rPr>
              <a:t>On weekdays, trips climb through the day to a 6 pm peak, the hours when the $9 toll applies.</a:t>
            </a:r>
            <a:endParaRPr lang="en-US" sz="1200" dirty="0"/>
          </a:p>
        </p:txBody>
      </p:sp>
      <p:sp>
        <p:nvSpPr>
          <p:cNvPr id="10" name="num_174"/>
          <p:cNvSpPr/>
          <p:nvPr/>
        </p:nvSpPr>
        <p:spPr>
          <a:xfrm>
            <a:off x="4429658" y="5303520"/>
            <a:ext cx="310896" cy="310896"/>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1" name="text_175"/>
          <p:cNvSpPr txBox="1"/>
          <p:nvPr/>
        </p:nvSpPr>
        <p:spPr>
          <a:xfrm>
            <a:off x="4868570" y="5230368"/>
            <a:ext cx="2920898" cy="731520"/>
          </a:xfrm>
          <a:prstGeom prst="rect">
            <a:avLst/>
          </a:prstGeom>
          <a:noFill/>
          <a:ln/>
        </p:spPr>
        <p:txBody>
          <a:bodyPr wrap="square" lIns="0" tIns="0" rIns="0" bIns="0" rtlCol="0" anchor="t"/>
          <a:lstStyle/>
          <a:p>
            <a:pPr indent="0" marL="0">
              <a:buNone/>
            </a:pPr>
            <a:r>
              <a:rPr lang="en-US" sz="1200" dirty="0">
                <a:solidFill>
                  <a:schemeClr val="tx2"/>
                </a:solidFill>
              </a:rPr>
              <a:t>Weekends have a late-night peak around midnight to 2 am, when the toll is only $2.25.</a:t>
            </a:r>
            <a:endParaRPr lang="en-US" sz="1200" dirty="0"/>
          </a:p>
        </p:txBody>
      </p:sp>
      <p:sp>
        <p:nvSpPr>
          <p:cNvPr id="12" name="num_176"/>
          <p:cNvSpPr/>
          <p:nvPr/>
        </p:nvSpPr>
        <p:spPr>
          <a:xfrm>
            <a:off x="8036357" y="5303520"/>
            <a:ext cx="310896" cy="310896"/>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3" name="text_177"/>
          <p:cNvSpPr txBox="1"/>
          <p:nvPr/>
        </p:nvSpPr>
        <p:spPr>
          <a:xfrm>
            <a:off x="8475269" y="5230368"/>
            <a:ext cx="2920898" cy="731520"/>
          </a:xfrm>
          <a:prstGeom prst="rect">
            <a:avLst/>
          </a:prstGeom>
          <a:noFill/>
          <a:ln/>
        </p:spPr>
        <p:txBody>
          <a:bodyPr wrap="square" lIns="0" tIns="0" rIns="0" bIns="0" rtlCol="0" anchor="t"/>
          <a:lstStyle/>
          <a:p>
            <a:pPr indent="0" marL="0">
              <a:buNone/>
            </a:pPr>
            <a:r>
              <a:rPr lang="en-US" sz="1200" dirty="0">
                <a:solidFill>
                  <a:schemeClr val="tx2"/>
                </a:solidFill>
              </a:rPr>
              <a:t>Thursday to Saturday are busiest, and 2025 is the busiest year on every day of the week.</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kicker_178"/>
          <p:cNvSpPr/>
          <p:nvPr/>
        </p:nvSpPr>
        <p:spPr>
          <a:xfrm>
            <a:off x="548640" y="384048"/>
            <a:ext cx="2867558" cy="292608"/>
          </a:xfrm>
          <a:prstGeom prst="roundRect">
            <a:avLst>
              <a:gd name="adj" fmla="val 40625"/>
            </a:avLst>
          </a:prstGeom>
          <a:solidFill>
            <a:schemeClr val="accent1"/>
          </a:solidFill>
          <a:ln/>
        </p:spPr>
        <p:txBody>
          <a:bodyPr wrap="square" lIns="0" tIns="0" rIns="0" bIns="0" rtlCol="0" anchor="ctr"/>
          <a:lstStyle/>
          <a:p>
            <a:pPr algn="ctr" indent="0" marL="0">
              <a:buNone/>
            </a:pPr>
            <a:r>
              <a:rPr lang="en-US" sz="1050" b="1" spc="150" kern="0" dirty="0">
                <a:solidFill>
                  <a:schemeClr val="tx1"/>
                </a:solidFill>
              </a:rPr>
              <a:t>C · WHO RIDES, WHERE AND HOW FAR</a:t>
            </a:r>
            <a:endParaRPr lang="en-US" sz="1050" dirty="0"/>
          </a:p>
        </p:txBody>
      </p:sp>
      <p:sp>
        <p:nvSpPr>
          <p:cNvPr id="3" name="Text 1"/>
          <p:cNvSpPr/>
          <p:nvPr>
            <p:ph idx="101" type="title" hasCustomPrompt="1"/>
          </p:nvPr>
        </p:nvSpPr>
        <p:spPr>
          <a:xfrm>
            <a:off x="548640" y="868680"/>
            <a:ext cx="11094415" cy="77724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Taxis serve short Manhattan hops; outer-borough trips grew</a:t>
            </a:r>
            <a:endParaRPr lang="en-US" sz="3000" dirty="0"/>
          </a:p>
        </p:txBody>
      </p:sp>
      <p:pic>
        <p:nvPicPr>
          <p:cNvPr id="5" name="chart_img_179" descr="Monthly pickups per day by area">    </p:cNvPr>
          <p:cNvPicPr>
            <a:picLocks noChangeAspect="1"/>
          </p:cNvPicPr>
          <p:nvPr/>
        </p:nvPicPr>
        <p:blipFill>
          <a:blip r:embed="rId1"/>
          <a:stretch>
            <a:fillRect/>
          </a:stretch>
        </p:blipFill>
        <p:spPr>
          <a:xfrm>
            <a:off x="548640" y="1664208"/>
            <a:ext cx="5410048" cy="1500458"/>
          </a:xfrm>
          <a:prstGeom prst="rect">
            <a:avLst/>
          </a:prstGeom>
        </p:spPr>
      </p:pic>
      <p:sp>
        <p:nvSpPr>
          <p:cNvPr id="6" name="text_180"/>
          <p:cNvSpPr txBox="1"/>
          <p:nvPr/>
        </p:nvSpPr>
        <p:spPr>
          <a:xfrm>
            <a:off x="548640" y="3219530"/>
            <a:ext cx="5410048" cy="584374"/>
          </a:xfrm>
          <a:prstGeom prst="rect">
            <a:avLst/>
          </a:prstGeom>
          <a:noFill/>
          <a:ln/>
        </p:spPr>
        <p:txBody>
          <a:bodyPr wrap="square" lIns="0" tIns="0" rIns="0" bIns="0" rtlCol="0" anchor="t"/>
          <a:lstStyle/>
          <a:p>
            <a:pPr indent="0" marL="0">
              <a:buNone/>
            </a:pPr>
            <a:r>
              <a:rPr lang="en-US" sz="1200" b="1" dirty="0">
                <a:solidFill>
                  <a:schemeClr val="tx1"/>
                </a:solidFill>
              </a:rPr>
              <a:t>Pickups by area.  </a:t>
            </a:r>
            <a:pPr indent="0" marL="0">
              <a:buNone/>
            </a:pPr>
            <a:r>
              <a:rPr lang="en-US" sz="1200" dirty="0">
                <a:solidFill>
                  <a:schemeClr val="tx2"/>
                </a:solidFill>
              </a:rPr>
              <a:t>The zone is steady at 60–70k a day; outside-Manhattan pickups rose from 7k to 17k, a different path, so outer boroughs cannot be the control.</a:t>
            </a:r>
            <a:endParaRPr lang="en-US" sz="1200" dirty="0"/>
          </a:p>
        </p:txBody>
      </p:sp>
      <p:pic>
        <p:nvPicPr>
          <p:cNvPr id="7" name="chart_img_181" descr="Calendar heatmap of daily trips 2022–2025">    </p:cNvPr>
          <p:cNvPicPr>
            <a:picLocks noChangeAspect="1"/>
          </p:cNvPicPr>
          <p:nvPr/>
        </p:nvPicPr>
        <p:blipFill>
          <a:blip r:embed="rId2"/>
          <a:stretch>
            <a:fillRect/>
          </a:stretch>
        </p:blipFill>
        <p:spPr>
          <a:xfrm>
            <a:off x="6233008" y="1664208"/>
            <a:ext cx="3373817" cy="2139696"/>
          </a:xfrm>
          <a:prstGeom prst="rect">
            <a:avLst/>
          </a:prstGeom>
        </p:spPr>
      </p:pic>
      <p:sp>
        <p:nvSpPr>
          <p:cNvPr id="8" name="text_182"/>
          <p:cNvSpPr txBox="1"/>
          <p:nvPr/>
        </p:nvSpPr>
        <p:spPr>
          <a:xfrm>
            <a:off x="9789705" y="1709928"/>
            <a:ext cx="1853350" cy="2048256"/>
          </a:xfrm>
          <a:prstGeom prst="rect">
            <a:avLst/>
          </a:prstGeom>
          <a:noFill/>
          <a:ln/>
        </p:spPr>
        <p:txBody>
          <a:bodyPr wrap="square" lIns="0" tIns="0" rIns="0" bIns="0" rtlCol="0" anchor="ctr"/>
          <a:lstStyle/>
          <a:p>
            <a:pPr indent="0" marL="0">
              <a:buNone/>
            </a:pPr>
            <a:r>
              <a:rPr lang="en-US" sz="1200" b="1" dirty="0">
                <a:solidFill>
                  <a:schemeClr val="tx1"/>
                </a:solidFill>
              </a:rPr>
              <a:t>Every day, 2022–25.  </a:t>
            </a:r>
            <a:endParaRPr lang="en-US" sz="1200" dirty="0"/>
          </a:p>
          <a:p>
            <a:pPr indent="0" marL="0">
              <a:buNone/>
            </a:pPr>
            <a:r>
              <a:rPr lang="en-US" sz="1200" dirty="0">
                <a:solidFill>
                  <a:schemeClr val="tx2"/>
                </a:solidFill>
              </a:rPr>
              <a:t>Thursday–Saturday busiest, Sundays and Christmas quietest; white gaps are excluded missing-data days; 2025 darkest overall.</a:t>
            </a:r>
            <a:endParaRPr lang="en-US" sz="1200" dirty="0"/>
          </a:p>
        </p:txBody>
      </p:sp>
      <p:pic>
        <p:nvPicPr>
          <p:cNvPr id="9" name="chart_img_183" descr="Trip-distance distribution by year">    </p:cNvPr>
          <p:cNvPicPr>
            <a:picLocks noChangeAspect="1"/>
          </p:cNvPicPr>
          <p:nvPr/>
        </p:nvPicPr>
        <p:blipFill>
          <a:blip r:embed="rId3"/>
          <a:stretch>
            <a:fillRect/>
          </a:stretch>
        </p:blipFill>
        <p:spPr>
          <a:xfrm>
            <a:off x="1418955" y="4005072"/>
            <a:ext cx="3669418" cy="1527048"/>
          </a:xfrm>
          <a:prstGeom prst="rect">
            <a:avLst/>
          </a:prstGeom>
        </p:spPr>
      </p:pic>
      <p:sp>
        <p:nvSpPr>
          <p:cNvPr id="10" name="text_184"/>
          <p:cNvSpPr txBox="1"/>
          <p:nvPr/>
        </p:nvSpPr>
        <p:spPr>
          <a:xfrm>
            <a:off x="548640" y="5586984"/>
            <a:ext cx="5410048" cy="557784"/>
          </a:xfrm>
          <a:prstGeom prst="rect">
            <a:avLst/>
          </a:prstGeom>
          <a:noFill/>
          <a:ln/>
        </p:spPr>
        <p:txBody>
          <a:bodyPr wrap="square" lIns="0" tIns="0" rIns="0" bIns="0" rtlCol="0" anchor="t"/>
          <a:lstStyle/>
          <a:p>
            <a:pPr indent="0" marL="0">
              <a:buNone/>
            </a:pPr>
            <a:r>
              <a:rPr lang="en-US" sz="1200" b="1" dirty="0">
                <a:solidFill>
                  <a:schemeClr val="tx1"/>
                </a:solidFill>
              </a:rPr>
              <a:t>Trip length.  </a:t>
            </a:r>
            <a:pPr indent="0" marL="0">
              <a:buNone/>
            </a:pPr>
            <a:r>
              <a:rPr lang="en-US" sz="1200" dirty="0">
                <a:solidFill>
                  <a:schemeClr val="tx2"/>
                </a:solidFill>
              </a:rPr>
              <a:t>One trip in three is 1–2 miles and one in five under a mile, so a flat $0.75 fee is a big share of a short fare.</a:t>
            </a:r>
            <a:endParaRPr lang="en-US" sz="1200" dirty="0"/>
          </a:p>
        </p:txBody>
      </p:sp>
      <p:pic>
        <p:nvPicPr>
          <p:cNvPr id="11" name="chart_img_185" descr="Origin–destination shares 2024, 2025 and change">    </p:cNvPr>
          <p:cNvPicPr>
            <a:picLocks noChangeAspect="1"/>
          </p:cNvPicPr>
          <p:nvPr/>
        </p:nvPicPr>
        <p:blipFill>
          <a:blip r:embed="rId4"/>
          <a:stretch>
            <a:fillRect/>
          </a:stretch>
        </p:blipFill>
        <p:spPr>
          <a:xfrm>
            <a:off x="6615464" y="4005072"/>
            <a:ext cx="4645135" cy="1527048"/>
          </a:xfrm>
          <a:prstGeom prst="rect">
            <a:avLst/>
          </a:prstGeom>
        </p:spPr>
      </p:pic>
      <p:sp>
        <p:nvSpPr>
          <p:cNvPr id="12" name="text_186"/>
          <p:cNvSpPr txBox="1"/>
          <p:nvPr/>
        </p:nvSpPr>
        <p:spPr>
          <a:xfrm>
            <a:off x="6233008" y="5586984"/>
            <a:ext cx="5410048" cy="557784"/>
          </a:xfrm>
          <a:prstGeom prst="rect">
            <a:avLst/>
          </a:prstGeom>
          <a:noFill/>
          <a:ln/>
        </p:spPr>
        <p:txBody>
          <a:bodyPr wrap="square" lIns="0" tIns="0" rIns="0" bIns="0" rtlCol="0" anchor="t"/>
          <a:lstStyle/>
          <a:p>
            <a:pPr indent="0" marL="0">
              <a:buNone/>
            </a:pPr>
            <a:r>
              <a:rPr lang="en-US" sz="1200" b="1" dirty="0">
                <a:solidFill>
                  <a:schemeClr val="tx1"/>
                </a:solidFill>
              </a:rPr>
              <a:t>Where trips start and end.  </a:t>
            </a:r>
            <a:pPr indent="0" marL="0">
              <a:buNone/>
            </a:pPr>
            <a:r>
              <a:rPr lang="en-US" sz="1200" dirty="0">
                <a:solidFill>
                  <a:schemeClr val="tx2"/>
                </a:solidFill>
              </a:rPr>
              <a:t>41% of trips start and end inside the zone; the pattern barely moved in 2025 apart from more outer-borough trips (+2.4 pp).</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kicker_187"/>
          <p:cNvSpPr/>
          <p:nvPr/>
        </p:nvSpPr>
        <p:spPr>
          <a:xfrm>
            <a:off x="548640" y="384048"/>
            <a:ext cx="1982419" cy="292608"/>
          </a:xfrm>
          <a:prstGeom prst="roundRect">
            <a:avLst>
              <a:gd name="adj" fmla="val 40625"/>
            </a:avLst>
          </a:prstGeom>
          <a:solidFill>
            <a:schemeClr val="accent1"/>
          </a:solidFill>
          <a:ln/>
        </p:spPr>
        <p:txBody>
          <a:bodyPr wrap="square" lIns="0" tIns="0" rIns="0" bIns="0" rtlCol="0" anchor="ctr"/>
          <a:lstStyle/>
          <a:p>
            <a:pPr algn="ctr" indent="0" marL="0">
              <a:buNone/>
            </a:pPr>
            <a:r>
              <a:rPr lang="en-US" sz="1050" b="1" spc="150" kern="0" dirty="0">
                <a:solidFill>
                  <a:schemeClr val="tx1"/>
                </a:solidFill>
              </a:rPr>
              <a:t>C · FARES AND REVENUE</a:t>
            </a:r>
            <a:endParaRPr lang="en-US" sz="1050" dirty="0"/>
          </a:p>
        </p:txBody>
      </p:sp>
      <p:sp>
        <p:nvSpPr>
          <p:cNvPr id="3" name="Text 1"/>
          <p:cNvSpPr/>
          <p:nvPr>
            <p:ph idx="101" type="title" hasCustomPrompt="1"/>
          </p:nvPr>
        </p:nvSpPr>
        <p:spPr>
          <a:xfrm>
            <a:off x="548640" y="868680"/>
            <a:ext cx="11094415" cy="77724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Fares stepped up once; revenue kept rising</a:t>
            </a:r>
            <a:endParaRPr lang="en-US" sz="3000" dirty="0"/>
          </a:p>
        </p:txBody>
      </p:sp>
      <p:graphicFrame>
        <p:nvGraphicFramePr>
          <p:cNvPr id="5" name="chart_fare" descr=""/>
          <p:cNvGraphicFramePr/>
          <p:nvPr/>
        </p:nvGraphicFramePr>
        <p:xfrm>
          <a:off x="548640" y="1737360"/>
          <a:ext cx="5394960" cy="324612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_rev" descr=""/>
          <p:cNvGraphicFramePr/>
          <p:nvPr/>
        </p:nvGraphicFramePr>
        <p:xfrm>
          <a:off x="6263640" y="1737360"/>
          <a:ext cx="5394960" cy="3246120"/>
        </p:xfrm>
        <a:graphic xmlns:a="http://schemas.openxmlformats.org/drawingml/2006/main">
          <a:graphicData uri="http://schemas.openxmlformats.org/drawingml/2006/chart">
            <c:chart xmlns:c="http://schemas.openxmlformats.org/drawingml/2006/chart" r:id="rId2"/>
          </a:graphicData>
        </a:graphic>
      </p:graphicFrame>
      <p:sp>
        <p:nvSpPr>
          <p:cNvPr id="7" name="text_188"/>
          <p:cNvSpPr txBox="1"/>
          <p:nvPr/>
        </p:nvSpPr>
        <p:spPr>
          <a:xfrm>
            <a:off x="548640" y="4983480"/>
            <a:ext cx="2651760" cy="640080"/>
          </a:xfrm>
          <a:prstGeom prst="rect">
            <a:avLst/>
          </a:prstGeom>
          <a:noFill/>
          <a:ln/>
        </p:spPr>
        <p:txBody>
          <a:bodyPr wrap="square" lIns="0" tIns="0" rIns="0" bIns="0" rtlCol="0" anchor="b"/>
          <a:lstStyle/>
          <a:p>
            <a:pPr indent="0" marL="0">
              <a:buNone/>
            </a:pPr>
            <a:r>
              <a:rPr lang="en-US" sz="2800" b="1" dirty="0">
                <a:solidFill>
                  <a:schemeClr val="tx1"/>
                </a:solidFill>
                <a:latin typeface="Arial" pitchFamily="34" charset="0"/>
                <a:ea typeface="Arial" pitchFamily="34" charset="-122"/>
                <a:cs typeface="Arial" pitchFamily="34" charset="-120"/>
              </a:rPr>
              <a:t>+34%</a:t>
            </a:r>
            <a:endParaRPr lang="en-US" sz="2800" dirty="0"/>
          </a:p>
        </p:txBody>
      </p:sp>
      <p:sp>
        <p:nvSpPr>
          <p:cNvPr id="8" name="text_189"/>
          <p:cNvSpPr txBox="1"/>
          <p:nvPr/>
        </p:nvSpPr>
        <p:spPr>
          <a:xfrm>
            <a:off x="548640" y="5669280"/>
            <a:ext cx="2651760" cy="320040"/>
          </a:xfrm>
          <a:prstGeom prst="rect">
            <a:avLst/>
          </a:prstGeom>
          <a:noFill/>
          <a:ln/>
        </p:spPr>
        <p:txBody>
          <a:bodyPr wrap="square" lIns="0" tIns="0" rIns="0" bIns="0" rtlCol="0" anchor="t"/>
          <a:lstStyle/>
          <a:p>
            <a:pPr indent="0" marL="0">
              <a:buNone/>
            </a:pPr>
            <a:r>
              <a:rPr lang="en-US" sz="1250" dirty="0">
                <a:solidFill>
                  <a:schemeClr val="tx2"/>
                </a:solidFill>
              </a:rPr>
              <a:t>mean fare, 2022 → 2023</a:t>
            </a:r>
            <a:endParaRPr lang="en-US" sz="1250" dirty="0"/>
          </a:p>
        </p:txBody>
      </p:sp>
      <p:sp>
        <p:nvSpPr>
          <p:cNvPr id="9" name="text_190"/>
          <p:cNvSpPr txBox="1"/>
          <p:nvPr/>
        </p:nvSpPr>
        <p:spPr>
          <a:xfrm>
            <a:off x="3364992" y="4983480"/>
            <a:ext cx="2651760" cy="640080"/>
          </a:xfrm>
          <a:prstGeom prst="rect">
            <a:avLst/>
          </a:prstGeom>
          <a:noFill/>
          <a:ln/>
        </p:spPr>
        <p:txBody>
          <a:bodyPr wrap="square" lIns="0" tIns="0" rIns="0" bIns="0" rtlCol="0" anchor="b"/>
          <a:lstStyle/>
          <a:p>
            <a:pPr indent="0" marL="0">
              <a:buNone/>
            </a:pPr>
            <a:r>
              <a:rPr lang="en-US" sz="2800" b="1" dirty="0">
                <a:solidFill>
                  <a:schemeClr val="tx1"/>
                </a:solidFill>
                <a:latin typeface="Arial" pitchFamily="34" charset="0"/>
                <a:ea typeface="Arial" pitchFamily="34" charset="-122"/>
                <a:cs typeface="Arial" pitchFamily="34" charset="-120"/>
              </a:rPr>
              <a:t>−3%</a:t>
            </a:r>
            <a:endParaRPr lang="en-US" sz="2800" dirty="0"/>
          </a:p>
        </p:txBody>
      </p:sp>
      <p:sp>
        <p:nvSpPr>
          <p:cNvPr id="10" name="text_191"/>
          <p:cNvSpPr txBox="1"/>
          <p:nvPr/>
        </p:nvSpPr>
        <p:spPr>
          <a:xfrm>
            <a:off x="3364992" y="5669280"/>
            <a:ext cx="2651760" cy="320040"/>
          </a:xfrm>
          <a:prstGeom prst="rect">
            <a:avLst/>
          </a:prstGeom>
          <a:noFill/>
          <a:ln/>
        </p:spPr>
        <p:txBody>
          <a:bodyPr wrap="square" lIns="0" tIns="0" rIns="0" bIns="0" rtlCol="0" anchor="t"/>
          <a:lstStyle/>
          <a:p>
            <a:pPr indent="0" marL="0">
              <a:buNone/>
            </a:pPr>
            <a:r>
              <a:rPr lang="en-US" sz="1250" dirty="0">
                <a:solidFill>
                  <a:schemeClr val="tx2"/>
                </a:solidFill>
              </a:rPr>
              <a:t>trips per day, 2022 → 2023</a:t>
            </a:r>
            <a:endParaRPr lang="en-US" sz="1250" dirty="0"/>
          </a:p>
        </p:txBody>
      </p:sp>
      <p:sp>
        <p:nvSpPr>
          <p:cNvPr id="11" name="text_192"/>
          <p:cNvSpPr txBox="1"/>
          <p:nvPr/>
        </p:nvSpPr>
        <p:spPr>
          <a:xfrm>
            <a:off x="6181344" y="4983480"/>
            <a:ext cx="2651760" cy="640080"/>
          </a:xfrm>
          <a:prstGeom prst="rect">
            <a:avLst/>
          </a:prstGeom>
          <a:noFill/>
          <a:ln/>
        </p:spPr>
        <p:txBody>
          <a:bodyPr wrap="square" lIns="0" tIns="0" rIns="0" bIns="0" rtlCol="0" anchor="b"/>
          <a:lstStyle/>
          <a:p>
            <a:pPr indent="0" marL="0">
              <a:buNone/>
            </a:pPr>
            <a:r>
              <a:rPr lang="en-US" sz="2800" b="1" dirty="0">
                <a:solidFill>
                  <a:schemeClr val="tx1"/>
                </a:solidFill>
                <a:latin typeface="Arial" pitchFamily="34" charset="0"/>
                <a:ea typeface="Arial" pitchFamily="34" charset="-122"/>
                <a:cs typeface="Arial" pitchFamily="34" charset="-120"/>
              </a:rPr>
              <a:t>+29%</a:t>
            </a:r>
            <a:endParaRPr lang="en-US" sz="2800" dirty="0"/>
          </a:p>
        </p:txBody>
      </p:sp>
      <p:sp>
        <p:nvSpPr>
          <p:cNvPr id="12" name="text_193"/>
          <p:cNvSpPr txBox="1"/>
          <p:nvPr/>
        </p:nvSpPr>
        <p:spPr>
          <a:xfrm>
            <a:off x="6181344" y="5669280"/>
            <a:ext cx="2651760" cy="320040"/>
          </a:xfrm>
          <a:prstGeom prst="rect">
            <a:avLst/>
          </a:prstGeom>
          <a:noFill/>
          <a:ln/>
        </p:spPr>
        <p:txBody>
          <a:bodyPr wrap="square" lIns="0" tIns="0" rIns="0" bIns="0" rtlCol="0" anchor="t"/>
          <a:lstStyle/>
          <a:p>
            <a:pPr indent="0" marL="0">
              <a:buNone/>
            </a:pPr>
            <a:r>
              <a:rPr lang="en-US" sz="1250" dirty="0">
                <a:solidFill>
                  <a:schemeClr val="tx2"/>
                </a:solidFill>
              </a:rPr>
              <a:t>daily spending, 2022 → 2023</a:t>
            </a:r>
            <a:endParaRPr lang="en-US" sz="1250" dirty="0"/>
          </a:p>
        </p:txBody>
      </p:sp>
      <p:sp>
        <p:nvSpPr>
          <p:cNvPr id="13" name="text_194"/>
          <p:cNvSpPr txBox="1"/>
          <p:nvPr/>
        </p:nvSpPr>
        <p:spPr>
          <a:xfrm>
            <a:off x="8997696" y="4983480"/>
            <a:ext cx="2651760" cy="640080"/>
          </a:xfrm>
          <a:prstGeom prst="rect">
            <a:avLst/>
          </a:prstGeom>
          <a:noFill/>
          <a:ln/>
        </p:spPr>
        <p:txBody>
          <a:bodyPr wrap="square" lIns="0" tIns="0" rIns="0" bIns="0" rtlCol="0" anchor="b"/>
          <a:lstStyle/>
          <a:p>
            <a:pPr indent="0" marL="0">
              <a:buNone/>
            </a:pPr>
            <a:r>
              <a:rPr lang="en-US" sz="2800" b="1" dirty="0">
                <a:solidFill>
                  <a:schemeClr val="tx1"/>
                </a:solidFill>
                <a:latin typeface="Arial" pitchFamily="34" charset="0"/>
                <a:ea typeface="Arial" pitchFamily="34" charset="-122"/>
                <a:cs typeface="Arial" pitchFamily="34" charset="-120"/>
              </a:rPr>
              <a:t>$3.47M</a:t>
            </a:r>
            <a:endParaRPr lang="en-US" sz="2800" dirty="0"/>
          </a:p>
        </p:txBody>
      </p:sp>
      <p:sp>
        <p:nvSpPr>
          <p:cNvPr id="14" name="text_195"/>
          <p:cNvSpPr txBox="1"/>
          <p:nvPr/>
        </p:nvSpPr>
        <p:spPr>
          <a:xfrm>
            <a:off x="8997696" y="5669280"/>
            <a:ext cx="2651760" cy="320040"/>
          </a:xfrm>
          <a:prstGeom prst="rect">
            <a:avLst/>
          </a:prstGeom>
          <a:noFill/>
          <a:ln/>
        </p:spPr>
        <p:txBody>
          <a:bodyPr wrap="square" lIns="0" tIns="0" rIns="0" bIns="0" rtlCol="0" anchor="t"/>
          <a:lstStyle/>
          <a:p>
            <a:pPr indent="0" marL="0">
              <a:buNone/>
            </a:pPr>
            <a:r>
              <a:rPr lang="en-US" sz="1250" dirty="0">
                <a:solidFill>
                  <a:schemeClr val="tx2"/>
                </a:solidFill>
              </a:rPr>
              <a:t>spent per day in 2025</a:t>
            </a:r>
            <a:endParaRPr lang="en-US" sz="12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kicker_196"/>
          <p:cNvSpPr/>
          <p:nvPr/>
        </p:nvSpPr>
        <p:spPr>
          <a:xfrm>
            <a:off x="548640" y="384048"/>
            <a:ext cx="1660550" cy="292608"/>
          </a:xfrm>
          <a:prstGeom prst="roundRect">
            <a:avLst>
              <a:gd name="adj" fmla="val 40625"/>
            </a:avLst>
          </a:prstGeom>
          <a:solidFill>
            <a:schemeClr val="accent1"/>
          </a:solidFill>
          <a:ln/>
        </p:spPr>
        <p:txBody>
          <a:bodyPr wrap="square" lIns="0" tIns="0" rIns="0" bIns="0" rtlCol="0" anchor="ctr"/>
          <a:lstStyle/>
          <a:p>
            <a:pPr algn="ctr" indent="0" marL="0">
              <a:buNone/>
            </a:pPr>
            <a:r>
              <a:rPr lang="en-US" sz="1050" b="1" spc="150" kern="0" dirty="0">
                <a:solidFill>
                  <a:schemeClr val="tx1"/>
                </a:solidFill>
              </a:rPr>
              <a:t>C · SPEED BY AREA</a:t>
            </a:r>
            <a:endParaRPr lang="en-US" sz="1050" dirty="0"/>
          </a:p>
        </p:txBody>
      </p:sp>
      <p:sp>
        <p:nvSpPr>
          <p:cNvPr id="3" name="Text 1"/>
          <p:cNvSpPr/>
          <p:nvPr>
            <p:ph idx="101" type="title" hasCustomPrompt="1"/>
          </p:nvPr>
        </p:nvSpPr>
        <p:spPr>
          <a:xfrm>
            <a:off x="548640" y="868680"/>
            <a:ext cx="11094415" cy="77724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Zone speeds jumped in January 2025, then drifted back</a:t>
            </a:r>
            <a:endParaRPr lang="en-US" sz="3000" dirty="0"/>
          </a:p>
        </p:txBody>
      </p:sp>
      <p:pic>
        <p:nvPicPr>
          <p:cNvPr id="5" name="chart_img_197" descr="Monthly average speed of trips within the charging zone, buffer and north Manhattan, 2022–2025">    </p:cNvPr>
          <p:cNvPicPr>
            <a:picLocks noChangeAspect="1"/>
          </p:cNvPicPr>
          <p:nvPr/>
        </p:nvPicPr>
        <p:blipFill>
          <a:blip r:embed="rId1"/>
          <a:stretch>
            <a:fillRect/>
          </a:stretch>
        </p:blipFill>
        <p:spPr>
          <a:xfrm>
            <a:off x="2606961" y="1691640"/>
            <a:ext cx="6977774" cy="2880360"/>
          </a:xfrm>
          <a:prstGeom prst="rect">
            <a:avLst/>
          </a:prstGeom>
        </p:spPr>
      </p:pic>
      <p:sp>
        <p:nvSpPr>
          <p:cNvPr id="6" name="card_198"/>
          <p:cNvSpPr/>
          <p:nvPr/>
        </p:nvSpPr>
        <p:spPr>
          <a:xfrm>
            <a:off x="548640" y="4754880"/>
            <a:ext cx="11094415" cy="1280160"/>
          </a:xfrm>
          <a:prstGeom prst="roundRect">
            <a:avLst>
              <a:gd name="adj" fmla="val 8571"/>
            </a:avLst>
          </a:prstGeom>
          <a:solidFill>
            <a:schemeClr val="bg2"/>
          </a:solidFill>
          <a:ln/>
        </p:spPr>
      </p:sp>
      <p:sp>
        <p:nvSpPr>
          <p:cNvPr id="7" name="text_199"/>
          <p:cNvSpPr txBox="1"/>
          <p:nvPr/>
        </p:nvSpPr>
        <p:spPr>
          <a:xfrm>
            <a:off x="822960" y="4937760"/>
            <a:ext cx="2743200" cy="274320"/>
          </a:xfrm>
          <a:prstGeom prst="rect">
            <a:avLst/>
          </a:prstGeom>
          <a:noFill/>
          <a:ln/>
        </p:spPr>
        <p:txBody>
          <a:bodyPr wrap="square" lIns="0" tIns="0" rIns="0" bIns="0" rtlCol="0" anchor="t"/>
          <a:lstStyle/>
          <a:p>
            <a:pPr indent="0" marL="0">
              <a:buNone/>
            </a:pPr>
            <a:r>
              <a:rPr lang="en-US" sz="1100" b="1" spc="150" kern="0" dirty="0">
                <a:solidFill>
                  <a:schemeClr val="accent4"/>
                </a:solidFill>
              </a:rPr>
              <a:t>WHAT WE DERIVE</a:t>
            </a:r>
            <a:endParaRPr lang="en-US" sz="1100" dirty="0"/>
          </a:p>
        </p:txBody>
      </p:sp>
      <p:sp>
        <p:nvSpPr>
          <p:cNvPr id="8" name="num_200"/>
          <p:cNvSpPr/>
          <p:nvPr/>
        </p:nvSpPr>
        <p:spPr>
          <a:xfrm>
            <a:off x="822960" y="5303520"/>
            <a:ext cx="310896" cy="310896"/>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9" name="text_201"/>
          <p:cNvSpPr txBox="1"/>
          <p:nvPr/>
        </p:nvSpPr>
        <p:spPr>
          <a:xfrm>
            <a:off x="1261872" y="5230368"/>
            <a:ext cx="2920898" cy="731520"/>
          </a:xfrm>
          <a:prstGeom prst="rect">
            <a:avLst/>
          </a:prstGeom>
          <a:noFill/>
          <a:ln/>
        </p:spPr>
        <p:txBody>
          <a:bodyPr wrap="square" lIns="0" tIns="0" rIns="0" bIns="0" rtlCol="0" anchor="t"/>
          <a:lstStyle/>
          <a:p>
            <a:pPr indent="0" marL="0">
              <a:buNone/>
            </a:pPr>
            <a:r>
              <a:rPr lang="en-US" sz="1200" dirty="0">
                <a:solidFill>
                  <a:schemeClr val="tx2"/>
                </a:solidFill>
              </a:rPr>
              <a:t>North Manhattan is fastest (about 9–10 mph); the zone runs at 7–8 mph and the buffer strip is slowest.</a:t>
            </a:r>
            <a:endParaRPr lang="en-US" sz="1200" dirty="0"/>
          </a:p>
        </p:txBody>
      </p:sp>
      <p:sp>
        <p:nvSpPr>
          <p:cNvPr id="10" name="num_202"/>
          <p:cNvSpPr/>
          <p:nvPr/>
        </p:nvSpPr>
        <p:spPr>
          <a:xfrm>
            <a:off x="4429658" y="5303520"/>
            <a:ext cx="310896" cy="310896"/>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1" name="text_203"/>
          <p:cNvSpPr txBox="1"/>
          <p:nvPr/>
        </p:nvSpPr>
        <p:spPr>
          <a:xfrm>
            <a:off x="4868570" y="5230368"/>
            <a:ext cx="2920898" cy="731520"/>
          </a:xfrm>
          <a:prstGeom prst="rect">
            <a:avLst/>
          </a:prstGeom>
          <a:noFill/>
          <a:ln/>
        </p:spPr>
        <p:txBody>
          <a:bodyPr wrap="square" lIns="0" tIns="0" rIns="0" bIns="0" rtlCol="0" anchor="t"/>
          <a:lstStyle/>
          <a:p>
            <a:pPr indent="0" marL="0">
              <a:buNone/>
            </a:pPr>
            <a:r>
              <a:rPr lang="en-US" sz="1200" dirty="0">
                <a:solidFill>
                  <a:schemeClr val="tx2"/>
                </a:solidFill>
              </a:rPr>
              <a:t>Zone speeds stepped up sharply in January 2025 to about 8.4 mph, the highest level since early 2022.</a:t>
            </a:r>
            <a:endParaRPr lang="en-US" sz="1200" dirty="0"/>
          </a:p>
        </p:txBody>
      </p:sp>
      <p:sp>
        <p:nvSpPr>
          <p:cNvPr id="12" name="num_204"/>
          <p:cNvSpPr/>
          <p:nvPr/>
        </p:nvSpPr>
        <p:spPr>
          <a:xfrm>
            <a:off x="8036357" y="5303520"/>
            <a:ext cx="310896" cy="310896"/>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3" name="text_205"/>
          <p:cNvSpPr txBox="1"/>
          <p:nvPr/>
        </p:nvSpPr>
        <p:spPr>
          <a:xfrm>
            <a:off x="8475269" y="5230368"/>
            <a:ext cx="2920898" cy="731520"/>
          </a:xfrm>
          <a:prstGeom prst="rect">
            <a:avLst/>
          </a:prstGeom>
          <a:noFill/>
          <a:ln/>
        </p:spPr>
        <p:txBody>
          <a:bodyPr wrap="square" lIns="0" tIns="0" rIns="0" bIns="0" rtlCol="0" anchor="t"/>
          <a:lstStyle/>
          <a:p>
            <a:pPr indent="0" marL="0">
              <a:buNone/>
            </a:pPr>
            <a:r>
              <a:rPr lang="en-US" sz="1200" dirty="0">
                <a:solidFill>
                  <a:schemeClr val="tx2"/>
                </a:solidFill>
              </a:rPr>
              <a:t>By late 2025 the zone was back near 7 mph, the fading pattern confirmed formally in Section D.</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kicker_206"/>
          <p:cNvSpPr/>
          <p:nvPr/>
        </p:nvSpPr>
        <p:spPr>
          <a:xfrm>
            <a:off x="548640" y="384048"/>
            <a:ext cx="2706624" cy="292608"/>
          </a:xfrm>
          <a:prstGeom prst="roundRect">
            <a:avLst>
              <a:gd name="adj" fmla="val 40625"/>
            </a:avLst>
          </a:prstGeom>
          <a:solidFill>
            <a:schemeClr val="accent1"/>
          </a:solidFill>
          <a:ln/>
        </p:spPr>
        <p:txBody>
          <a:bodyPr wrap="square" lIns="0" tIns="0" rIns="0" bIns="0" rtlCol="0" anchor="ctr"/>
          <a:lstStyle/>
          <a:p>
            <a:pPr algn="ctr" indent="0" marL="0">
              <a:buNone/>
            </a:pPr>
            <a:r>
              <a:rPr lang="en-US" sz="1050" b="1" spc="150" kern="0" dirty="0">
                <a:solidFill>
                  <a:schemeClr val="tx1"/>
                </a:solidFill>
              </a:rPr>
              <a:t>C · GEOGRAPHY, SPEED AND TREND</a:t>
            </a:r>
            <a:endParaRPr lang="en-US" sz="1050" dirty="0"/>
          </a:p>
        </p:txBody>
      </p:sp>
      <p:sp>
        <p:nvSpPr>
          <p:cNvPr id="3" name="Text 1"/>
          <p:cNvSpPr/>
          <p:nvPr>
            <p:ph idx="101" type="title" hasCustomPrompt="1"/>
          </p:nvPr>
        </p:nvSpPr>
        <p:spPr>
          <a:xfrm>
            <a:off x="548640" y="868680"/>
            <a:ext cx="11094415" cy="77724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Raw patterns hint at the toll, but trends were moving</a:t>
            </a:r>
            <a:endParaRPr lang="en-US" sz="3000" dirty="0"/>
          </a:p>
        </p:txBody>
      </p:sp>
      <p:pic>
        <p:nvPicPr>
          <p:cNvPr id="5" name="chart_img_207" descr="Maps of pickups by zone in 2024 and change in Manhattan pickups 2024–2025">    </p:cNvPr>
          <p:cNvPicPr>
            <a:picLocks noChangeAspect="1"/>
          </p:cNvPicPr>
          <p:nvPr/>
        </p:nvPicPr>
        <p:blipFill>
          <a:blip r:embed="rId1"/>
          <a:stretch>
            <a:fillRect/>
          </a:stretch>
        </p:blipFill>
        <p:spPr>
          <a:xfrm>
            <a:off x="548640" y="1812388"/>
            <a:ext cx="3387751" cy="1843335"/>
          </a:xfrm>
          <a:prstGeom prst="rect">
            <a:avLst/>
          </a:prstGeom>
        </p:spPr>
      </p:pic>
      <p:sp>
        <p:nvSpPr>
          <p:cNvPr id="6" name="text_208"/>
          <p:cNvSpPr txBox="1"/>
          <p:nvPr/>
        </p:nvSpPr>
        <p:spPr>
          <a:xfrm>
            <a:off x="4119271" y="1709928"/>
            <a:ext cx="1839416" cy="2048256"/>
          </a:xfrm>
          <a:prstGeom prst="rect">
            <a:avLst/>
          </a:prstGeom>
          <a:noFill/>
          <a:ln/>
        </p:spPr>
        <p:txBody>
          <a:bodyPr wrap="square" lIns="0" tIns="0" rIns="0" bIns="0" rtlCol="0" anchor="ctr"/>
          <a:lstStyle/>
          <a:p>
            <a:pPr indent="0" marL="0">
              <a:buNone/>
            </a:pPr>
            <a:r>
              <a:rPr lang="en-US" sz="1200" b="1" dirty="0">
                <a:solidFill>
                  <a:schemeClr val="tx1"/>
                </a:solidFill>
              </a:rPr>
              <a:t>Maps.  </a:t>
            </a:r>
            <a:endParaRPr lang="en-US" sz="1200" dirty="0"/>
          </a:p>
          <a:p>
            <a:pPr indent="0" marL="0">
              <a:buNone/>
            </a:pPr>
            <a:r>
              <a:rPr lang="en-US" sz="1200" dirty="0">
                <a:solidFill>
                  <a:schemeClr val="tx2"/>
                </a:solidFill>
              </a:rPr>
              <a:t>Demand is concentrated in Manhattan and the airports; 2025 pickups grew 50–100% in upper Manhattan but barely changed inside the zone.</a:t>
            </a:r>
            <a:endParaRPr lang="en-US" sz="1200" dirty="0"/>
          </a:p>
        </p:txBody>
      </p:sp>
      <p:graphicFrame>
        <p:nvGraphicFramePr>
          <p:cNvPr id="7" name="chart_areas" descr=""/>
          <p:cNvGraphicFramePr/>
          <p:nvPr/>
        </p:nvGraphicFramePr>
        <p:xfrm>
          <a:off x="6233008" y="1664208"/>
          <a:ext cx="3387751" cy="2139696"/>
        </p:xfrm>
        <a:graphic xmlns:a="http://schemas.openxmlformats.org/drawingml/2006/main">
          <a:graphicData uri="http://schemas.openxmlformats.org/drawingml/2006/chart">
            <c:chart xmlns:c="http://schemas.openxmlformats.org/drawingml/2006/chart" r:id="rId2"/>
          </a:graphicData>
        </a:graphic>
      </p:graphicFrame>
      <p:sp>
        <p:nvSpPr>
          <p:cNvPr id="8" name="text_209"/>
          <p:cNvSpPr txBox="1"/>
          <p:nvPr/>
        </p:nvSpPr>
        <p:spPr>
          <a:xfrm>
            <a:off x="9803639" y="1709928"/>
            <a:ext cx="1839416" cy="2048256"/>
          </a:xfrm>
          <a:prstGeom prst="rect">
            <a:avLst/>
          </a:prstGeom>
          <a:noFill/>
          <a:ln/>
        </p:spPr>
        <p:txBody>
          <a:bodyPr wrap="square" lIns="0" tIns="0" rIns="0" bIns="0" rtlCol="0" anchor="ctr"/>
          <a:lstStyle/>
          <a:p>
            <a:pPr indent="0" marL="0">
              <a:buNone/>
            </a:pPr>
            <a:r>
              <a:rPr lang="en-US" sz="1200" b="1" dirty="0">
                <a:solidFill>
                  <a:schemeClr val="tx1"/>
                </a:solidFill>
              </a:rPr>
              <a:t>Change 2025 vs 2024 (%).  </a:t>
            </a:r>
            <a:endParaRPr lang="en-US" sz="1200" dirty="0"/>
          </a:p>
          <a:p>
            <a:pPr indent="0" marL="0">
              <a:buNone/>
            </a:pPr>
            <a:r>
              <a:rPr lang="en-US" sz="1200" dirty="0">
                <a:solidFill>
                  <a:schemeClr val="tx2"/>
                </a:solidFill>
              </a:rPr>
              <a:t>The zone got 4.4% faster, but the control also sped up and grew faster in pickups: raw changes are patterns, not effects.</a:t>
            </a:r>
            <a:endParaRPr lang="en-US" sz="1200" dirty="0"/>
          </a:p>
        </p:txBody>
      </p:sp>
      <p:pic>
        <p:nvPicPr>
          <p:cNvPr id="9" name="chart_img_210" descr="Charging-zone speed heatmaps by weekday and hour, 2024, 2025 and change">    </p:cNvPr>
          <p:cNvPicPr>
            <a:picLocks noChangeAspect="1"/>
          </p:cNvPicPr>
          <p:nvPr/>
        </p:nvPicPr>
        <p:blipFill>
          <a:blip r:embed="rId3"/>
          <a:stretch>
            <a:fillRect/>
          </a:stretch>
        </p:blipFill>
        <p:spPr>
          <a:xfrm>
            <a:off x="548640" y="4005072"/>
            <a:ext cx="2835372" cy="2139696"/>
          </a:xfrm>
          <a:prstGeom prst="rect">
            <a:avLst/>
          </a:prstGeom>
        </p:spPr>
      </p:pic>
      <p:sp>
        <p:nvSpPr>
          <p:cNvPr id="10" name="text_211"/>
          <p:cNvSpPr txBox="1"/>
          <p:nvPr/>
        </p:nvSpPr>
        <p:spPr>
          <a:xfrm>
            <a:off x="3566892" y="4050792"/>
            <a:ext cx="2391796" cy="2048256"/>
          </a:xfrm>
          <a:prstGeom prst="rect">
            <a:avLst/>
          </a:prstGeom>
          <a:noFill/>
          <a:ln/>
        </p:spPr>
        <p:txBody>
          <a:bodyPr wrap="square" lIns="0" tIns="0" rIns="0" bIns="0" rtlCol="0" anchor="ctr"/>
          <a:lstStyle/>
          <a:p>
            <a:pPr indent="0" marL="0">
              <a:buNone/>
            </a:pPr>
            <a:r>
              <a:rPr lang="en-US" sz="1200" b="1" dirty="0">
                <a:solidFill>
                  <a:schemeClr val="tx1"/>
                </a:solidFill>
              </a:rPr>
              <a:t>Speed by hour.  </a:t>
            </a:r>
            <a:endParaRPr lang="en-US" sz="1200" dirty="0"/>
          </a:p>
          <a:p>
            <a:pPr indent="0" marL="0">
              <a:buNone/>
            </a:pPr>
            <a:r>
              <a:rPr lang="en-US" sz="1200" dirty="0">
                <a:solidFill>
                  <a:schemeClr val="tx2"/>
                </a:solidFill>
              </a:rPr>
              <a:t>About 13 mph before dawn, 7 mph at midday. Raw gains look largest at night, before allowing for each hour’s pre-trend.</a:t>
            </a:r>
            <a:endParaRPr lang="en-US" sz="1200" dirty="0"/>
          </a:p>
        </p:txBody>
      </p:sp>
      <p:pic>
        <p:nvPicPr>
          <p:cNvPr id="11" name="chart_img_212" descr="Decomposition of daily trips into trend, weekly and yearly cycles and residual">    </p:cNvPr>
          <p:cNvPicPr>
            <a:picLocks noChangeAspect="1"/>
          </p:cNvPicPr>
          <p:nvPr/>
        </p:nvPicPr>
        <p:blipFill>
          <a:blip r:embed="rId4"/>
          <a:stretch>
            <a:fillRect/>
          </a:stretch>
        </p:blipFill>
        <p:spPr>
          <a:xfrm>
            <a:off x="6233008" y="4005072"/>
            <a:ext cx="2821317" cy="2139696"/>
          </a:xfrm>
          <a:prstGeom prst="rect">
            <a:avLst/>
          </a:prstGeom>
        </p:spPr>
      </p:pic>
      <p:sp>
        <p:nvSpPr>
          <p:cNvPr id="12" name="text_213"/>
          <p:cNvSpPr txBox="1"/>
          <p:nvPr/>
        </p:nvSpPr>
        <p:spPr>
          <a:xfrm>
            <a:off x="9237204" y="4050792"/>
            <a:ext cx="2405851" cy="2048256"/>
          </a:xfrm>
          <a:prstGeom prst="rect">
            <a:avLst/>
          </a:prstGeom>
          <a:noFill/>
          <a:ln/>
        </p:spPr>
        <p:txBody>
          <a:bodyPr wrap="square" lIns="0" tIns="0" rIns="0" bIns="0" rtlCol="0" anchor="ctr"/>
          <a:lstStyle/>
          <a:p>
            <a:pPr indent="0" marL="0">
              <a:buNone/>
            </a:pPr>
            <a:r>
              <a:rPr lang="en-US" sz="1200" b="1" dirty="0">
                <a:solidFill>
                  <a:schemeClr val="tx1"/>
                </a:solidFill>
              </a:rPr>
              <a:t>Trend and seasons.  </a:t>
            </a:r>
            <a:endParaRPr lang="en-US" sz="1200" dirty="0"/>
          </a:p>
          <a:p>
            <a:pPr indent="0" marL="0">
              <a:buNone/>
            </a:pPr>
            <a:r>
              <a:rPr lang="en-US" sz="1200" dirty="0">
                <a:solidFill>
                  <a:schemeClr val="tx2"/>
                </a:solidFill>
              </a:rPr>
              <a:t>The trend rose through 2024, before the toll; strong weekly and yearly cycles mean weekday and month must be controlled.</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kicker_214"/>
          <p:cNvSpPr/>
          <p:nvPr/>
        </p:nvSpPr>
        <p:spPr>
          <a:xfrm>
            <a:off x="548640" y="384048"/>
            <a:ext cx="2867558" cy="292608"/>
          </a:xfrm>
          <a:prstGeom prst="roundRect">
            <a:avLst>
              <a:gd name="adj" fmla="val 40625"/>
            </a:avLst>
          </a:prstGeom>
          <a:solidFill>
            <a:schemeClr val="accent1"/>
          </a:solidFill>
          <a:ln/>
        </p:spPr>
        <p:txBody>
          <a:bodyPr wrap="square" lIns="0" tIns="0" rIns="0" bIns="0" rtlCol="0" anchor="ctr"/>
          <a:lstStyle/>
          <a:p>
            <a:pPr algn="ctr" indent="0" marL="0">
              <a:buNone/>
            </a:pPr>
            <a:r>
              <a:rPr lang="en-US" sz="1050" b="1" spc="150" kern="0" dirty="0">
                <a:solidFill>
                  <a:schemeClr val="tx1"/>
                </a:solidFill>
              </a:rPr>
              <a:t>C · REGRESSION: EVERYDAY DRIVERS</a:t>
            </a:r>
            <a:endParaRPr lang="en-US" sz="1050" dirty="0"/>
          </a:p>
        </p:txBody>
      </p:sp>
      <p:sp>
        <p:nvSpPr>
          <p:cNvPr id="3" name="Text 1"/>
          <p:cNvSpPr/>
          <p:nvPr>
            <p:ph idx="101" type="title" hasCustomPrompt="1"/>
          </p:nvPr>
        </p:nvSpPr>
        <p:spPr>
          <a:xfrm>
            <a:off x="548640" y="868680"/>
            <a:ext cx="11094415" cy="77724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Snow and holidays move demand; we control for both</a:t>
            </a:r>
            <a:endParaRPr lang="en-US" sz="3000" dirty="0"/>
          </a:p>
        </p:txBody>
      </p:sp>
      <p:graphicFrame>
        <p:nvGraphicFramePr>
          <p:cNvPr id="5" name="chart_ols" descr=""/>
          <p:cNvGraphicFramePr/>
          <p:nvPr/>
        </p:nvGraphicFramePr>
        <p:xfrm>
          <a:off x="548640" y="1737360"/>
          <a:ext cx="6035040" cy="4206240"/>
        </p:xfrm>
        <a:graphic xmlns:a="http://schemas.openxmlformats.org/drawingml/2006/main">
          <a:graphicData uri="http://schemas.openxmlformats.org/drawingml/2006/chart">
            <c:chart xmlns:c="http://schemas.openxmlformats.org/drawingml/2006/chart" r:id="rId1"/>
          </a:graphicData>
        </a:graphic>
      </p:graphicFrame>
      <p:sp>
        <p:nvSpPr>
          <p:cNvPr id="6" name="card_215"/>
          <p:cNvSpPr/>
          <p:nvPr/>
        </p:nvSpPr>
        <p:spPr>
          <a:xfrm>
            <a:off x="6949440" y="1783080"/>
            <a:ext cx="2255368" cy="1371600"/>
          </a:xfrm>
          <a:prstGeom prst="roundRect">
            <a:avLst>
              <a:gd name="adj" fmla="val 8000"/>
            </a:avLst>
          </a:prstGeom>
          <a:solidFill>
            <a:schemeClr val="bg2"/>
          </a:solidFill>
          <a:ln/>
        </p:spPr>
      </p:sp>
      <p:sp>
        <p:nvSpPr>
          <p:cNvPr id="7" name="text_216"/>
          <p:cNvSpPr txBox="1"/>
          <p:nvPr/>
        </p:nvSpPr>
        <p:spPr>
          <a:xfrm>
            <a:off x="7178040" y="1783080"/>
            <a:ext cx="1889608" cy="640080"/>
          </a:xfrm>
          <a:prstGeom prst="rect">
            <a:avLst/>
          </a:prstGeom>
          <a:noFill/>
          <a:ln/>
        </p:spPr>
        <p:txBody>
          <a:bodyPr wrap="square" lIns="0" tIns="0" rIns="0" bIns="0" rtlCol="0" anchor="b"/>
          <a:lstStyle/>
          <a:p>
            <a:pPr indent="0" marL="0">
              <a:buNone/>
            </a:pPr>
            <a:r>
              <a:rPr lang="en-US" sz="3000" b="1" dirty="0">
                <a:solidFill>
                  <a:schemeClr val="tx1"/>
                </a:solidFill>
                <a:latin typeface="Arial" pitchFamily="34" charset="0"/>
                <a:ea typeface="Arial" pitchFamily="34" charset="-122"/>
                <a:cs typeface="Arial" pitchFamily="34" charset="-120"/>
              </a:rPr>
              <a:t>−0.9%</a:t>
            </a:r>
            <a:endParaRPr lang="en-US" sz="3000" dirty="0"/>
          </a:p>
        </p:txBody>
      </p:sp>
      <p:sp>
        <p:nvSpPr>
          <p:cNvPr id="8" name="text_217"/>
          <p:cNvSpPr txBox="1"/>
          <p:nvPr/>
        </p:nvSpPr>
        <p:spPr>
          <a:xfrm>
            <a:off x="7178040" y="2468880"/>
            <a:ext cx="1889608" cy="365760"/>
          </a:xfrm>
          <a:prstGeom prst="rect">
            <a:avLst/>
          </a:prstGeom>
          <a:noFill/>
          <a:ln/>
        </p:spPr>
        <p:txBody>
          <a:bodyPr wrap="square" lIns="0" tIns="0" rIns="0" bIns="0" rtlCol="0" anchor="t"/>
          <a:lstStyle/>
          <a:p>
            <a:pPr indent="0" marL="0">
              <a:buNone/>
            </a:pPr>
            <a:r>
              <a:rPr lang="en-US" sz="1250" dirty="0">
                <a:solidFill>
                  <a:schemeClr val="tx2"/>
                </a:solidFill>
              </a:rPr>
              <a:t>speed per cm of rain</a:t>
            </a:r>
            <a:endParaRPr lang="en-US" sz="1250" dirty="0"/>
          </a:p>
        </p:txBody>
      </p:sp>
      <p:sp>
        <p:nvSpPr>
          <p:cNvPr id="9" name="card_218"/>
          <p:cNvSpPr/>
          <p:nvPr/>
        </p:nvSpPr>
        <p:spPr>
          <a:xfrm>
            <a:off x="9387688" y="1783080"/>
            <a:ext cx="2255368" cy="1371600"/>
          </a:xfrm>
          <a:prstGeom prst="roundRect">
            <a:avLst>
              <a:gd name="adj" fmla="val 8000"/>
            </a:avLst>
          </a:prstGeom>
          <a:solidFill>
            <a:schemeClr val="bg2"/>
          </a:solidFill>
          <a:ln/>
        </p:spPr>
      </p:sp>
      <p:sp>
        <p:nvSpPr>
          <p:cNvPr id="10" name="text_219"/>
          <p:cNvSpPr txBox="1"/>
          <p:nvPr/>
        </p:nvSpPr>
        <p:spPr>
          <a:xfrm>
            <a:off x="9616288" y="1783080"/>
            <a:ext cx="1889608" cy="640080"/>
          </a:xfrm>
          <a:prstGeom prst="rect">
            <a:avLst/>
          </a:prstGeom>
          <a:noFill/>
          <a:ln/>
        </p:spPr>
        <p:txBody>
          <a:bodyPr wrap="square" lIns="0" tIns="0" rIns="0" bIns="0" rtlCol="0" anchor="b"/>
          <a:lstStyle/>
          <a:p>
            <a:pPr indent="0" marL="0">
              <a:buNone/>
            </a:pPr>
            <a:r>
              <a:rPr lang="en-US" sz="3000" b="1" dirty="0">
                <a:solidFill>
                  <a:schemeClr val="tx1"/>
                </a:solidFill>
                <a:latin typeface="Arial" pitchFamily="34" charset="0"/>
                <a:ea typeface="Arial" pitchFamily="34" charset="-122"/>
                <a:cs typeface="Arial" pitchFamily="34" charset="-120"/>
              </a:rPr>
              <a:t>+16.5%</a:t>
            </a:r>
            <a:endParaRPr lang="en-US" sz="3000" dirty="0"/>
          </a:p>
        </p:txBody>
      </p:sp>
      <p:sp>
        <p:nvSpPr>
          <p:cNvPr id="11" name="text_220"/>
          <p:cNvSpPr txBox="1"/>
          <p:nvPr/>
        </p:nvSpPr>
        <p:spPr>
          <a:xfrm>
            <a:off x="9616288" y="2468880"/>
            <a:ext cx="1889608" cy="365760"/>
          </a:xfrm>
          <a:prstGeom prst="rect">
            <a:avLst/>
          </a:prstGeom>
          <a:noFill/>
          <a:ln/>
        </p:spPr>
        <p:txBody>
          <a:bodyPr wrap="square" lIns="0" tIns="0" rIns="0" bIns="0" rtlCol="0" anchor="t"/>
          <a:lstStyle/>
          <a:p>
            <a:pPr indent="0" marL="0">
              <a:buNone/>
            </a:pPr>
            <a:r>
              <a:rPr lang="en-US" sz="1250" dirty="0">
                <a:solidFill>
                  <a:schemeClr val="tx2"/>
                </a:solidFill>
              </a:rPr>
              <a:t>speed on public holidays</a:t>
            </a:r>
            <a:endParaRPr lang="en-US" sz="1250" dirty="0"/>
          </a:p>
        </p:txBody>
      </p:sp>
      <p:sp>
        <p:nvSpPr>
          <p:cNvPr id="12" name="text_221"/>
          <p:cNvSpPr txBox="1"/>
          <p:nvPr/>
        </p:nvSpPr>
        <p:spPr>
          <a:xfrm>
            <a:off x="6949440" y="3429000"/>
            <a:ext cx="4693615" cy="320040"/>
          </a:xfrm>
          <a:prstGeom prst="rect">
            <a:avLst/>
          </a:prstGeom>
          <a:noFill/>
          <a:ln/>
        </p:spPr>
        <p:txBody>
          <a:bodyPr wrap="square" lIns="0" tIns="0" rIns="0" bIns="0" rtlCol="0" anchor="t"/>
          <a:lstStyle/>
          <a:p>
            <a:pPr indent="0" marL="0">
              <a:buNone/>
            </a:pPr>
            <a:r>
              <a:rPr lang="en-US" sz="1400" b="1" dirty="0">
                <a:solidFill>
                  <a:schemeClr val="tx1"/>
                </a:solidFill>
              </a:rPr>
              <a:t>Diagnostics, model (7)</a:t>
            </a:r>
            <a:endParaRPr lang="en-US" sz="1400" dirty="0"/>
          </a:p>
        </p:txBody>
      </p:sp>
      <p:graphicFrame>
        <p:nvGraphicFramePr>
          <p:cNvPr id="18" name="table_diag"/>
          <p:cNvGraphicFramePr>
            <a:graphicFrameLocks noGrp="1"/>
          </p:cNvGraphicFramePr>
          <p:nvPr>
            <p:extLst>
              <p:ext uri="{D42A27DB-BD31-4B8C-83A1-F6EECF244321}">
                <p14:modId xmlns:p14="http://schemas.microsoft.com/office/powerpoint/2010/main" val="1579011935"/>
              </p:ext>
            </p:extLst>
          </p:nvPr>
        </p:nvGraphicFramePr>
        <p:xfrm>
          <a:off x="6949440" y="3794760"/>
          <a:ext cx="4693615" cy="914400"/>
        </p:xfrm>
        <a:graphic>
          <a:graphicData uri="http://schemas.openxmlformats.org/drawingml/2006/table">
            <a:tbl>
              <a:tblPr/>
              <a:tblGrid>
                <a:gridCol w="1600200"/>
                <a:gridCol w="3093415"/>
              </a:tblGrid>
              <a:tr h="384048">
                <a:tc>
                  <a:txBody>
                    <a:bodyPr/>
                    <a:lstStyle/>
                    <a:p>
                      <a:pPr indent="0" marL="0">
                        <a:buNone/>
                      </a:pPr>
                      <a:r>
                        <a:rPr lang="en-US" sz="1250" b="1" dirty="0">
                          <a:solidFill>
                            <a:srgbClr val="2B2D31"/>
                          </a:solidFill>
                          <a:latin typeface="Calibri" pitchFamily="34" charset="0"/>
                          <a:ea typeface="Calibri" pitchFamily="34" charset="-122"/>
                          <a:cs typeface="Calibri" pitchFamily="34" charset="-120"/>
                        </a:rPr>
                        <a:t>R²</a:t>
                      </a:r>
                      <a:endParaRPr lang="en-US" sz="125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tcPr>
                </a:tc>
                <a:tc>
                  <a:txBody>
                    <a:bodyPr/>
                    <a:lstStyle/>
                    <a:p>
                      <a:pPr indent="0" marL="0">
                        <a:buNone/>
                      </a:pPr>
                      <a:r>
                        <a:rPr lang="en-US" sz="1250" dirty="0">
                          <a:solidFill>
                            <a:srgbClr val="2B2D31"/>
                          </a:solidFill>
                          <a:latin typeface="Calibri" pitchFamily="34" charset="0"/>
                          <a:ea typeface="Calibri" pitchFamily="34" charset="-122"/>
                          <a:cs typeface="Calibri" pitchFamily="34" charset="-120"/>
                        </a:rPr>
                        <a:t>0.60 trips · 0.74 speed</a:t>
                      </a:r>
                      <a:endParaRPr lang="en-US" sz="125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tcPr>
                </a:tc>
              </a:tr>
              <a:tr h="384048">
                <a:tc>
                  <a:txBody>
                    <a:bodyPr/>
                    <a:lstStyle/>
                    <a:p>
                      <a:pPr indent="0" marL="0">
                        <a:buNone/>
                      </a:pPr>
                      <a:r>
                        <a:rPr lang="en-US" sz="1250" b="1" dirty="0">
                          <a:solidFill>
                            <a:srgbClr val="2B2D31"/>
                          </a:solidFill>
                          <a:latin typeface="Calibri" pitchFamily="34" charset="0"/>
                          <a:ea typeface="Calibri" pitchFamily="34" charset="-122"/>
                          <a:cs typeface="Calibri" pitchFamily="34" charset="-120"/>
                        </a:rPr>
                        <a:t>Durbin–Watson</a:t>
                      </a:r>
                      <a:endParaRPr lang="en-US" sz="125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tcPr>
                </a:tc>
                <a:tc>
                  <a:txBody>
                    <a:bodyPr/>
                    <a:lstStyle/>
                    <a:p>
                      <a:pPr indent="0" marL="0">
                        <a:buNone/>
                      </a:pPr>
                      <a:r>
                        <a:rPr lang="en-US" sz="1250" dirty="0">
                          <a:solidFill>
                            <a:srgbClr val="2B2D31"/>
                          </a:solidFill>
                          <a:latin typeface="Calibri" pitchFamily="34" charset="0"/>
                          <a:ea typeface="Calibri" pitchFamily="34" charset="-122"/>
                          <a:cs typeface="Calibri" pitchFamily="34" charset="-120"/>
                        </a:rPr>
                        <a:t>0.58 → autocorrelated errors</a:t>
                      </a:r>
                      <a:endParaRPr lang="en-US" sz="125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tcPr>
                </a:tc>
              </a:tr>
              <a:tr h="384048">
                <a:tc>
                  <a:txBody>
                    <a:bodyPr/>
                    <a:lstStyle/>
                    <a:p>
                      <a:pPr indent="0" marL="0">
                        <a:buNone/>
                      </a:pPr>
                      <a:r>
                        <a:rPr lang="en-US" sz="1250" b="1" dirty="0">
                          <a:solidFill>
                            <a:srgbClr val="2B2D31"/>
                          </a:solidFill>
                          <a:latin typeface="Calibri" pitchFamily="34" charset="0"/>
                          <a:ea typeface="Calibri" pitchFamily="34" charset="-122"/>
                          <a:cs typeface="Calibri" pitchFamily="34" charset="-120"/>
                        </a:rPr>
                        <a:t>Breusch–Pagan</a:t>
                      </a:r>
                      <a:endParaRPr lang="en-US" sz="125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tcPr>
                </a:tc>
                <a:tc>
                  <a:txBody>
                    <a:bodyPr/>
                    <a:lstStyle/>
                    <a:p>
                      <a:pPr indent="0" marL="0">
                        <a:buNone/>
                      </a:pPr>
                      <a:r>
                        <a:rPr lang="en-US" sz="1250" dirty="0">
                          <a:solidFill>
                            <a:srgbClr val="2B2D31"/>
                          </a:solidFill>
                          <a:latin typeface="Calibri" pitchFamily="34" charset="0"/>
                          <a:ea typeface="Calibri" pitchFamily="34" charset="-122"/>
                          <a:cs typeface="Calibri" pitchFamily="34" charset="-120"/>
                        </a:rPr>
                        <a:t>p &lt; 0.001 → heteroskedastic</a:t>
                      </a:r>
                      <a:endParaRPr lang="en-US" sz="125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tcPr>
                </a:tc>
              </a:tr>
              <a:tr h="384048">
                <a:tc>
                  <a:txBody>
                    <a:bodyPr/>
                    <a:lstStyle/>
                    <a:p>
                      <a:pPr indent="0" marL="0">
                        <a:buNone/>
                      </a:pPr>
                      <a:r>
                        <a:rPr lang="en-US" sz="1250" b="1" dirty="0">
                          <a:solidFill>
                            <a:srgbClr val="2B2D31"/>
                          </a:solidFill>
                          <a:latin typeface="Calibri" pitchFamily="34" charset="0"/>
                          <a:ea typeface="Calibri" pitchFamily="34" charset="-122"/>
                          <a:cs typeface="Calibri" pitchFamily="34" charset="-120"/>
                        </a:rPr>
                        <a:t>Ramsey RESET</a:t>
                      </a:r>
                      <a:endParaRPr lang="en-US" sz="125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tcPr>
                </a:tc>
                <a:tc>
                  <a:txBody>
                    <a:bodyPr/>
                    <a:lstStyle/>
                    <a:p>
                      <a:pPr indent="0" marL="0">
                        <a:buNone/>
                      </a:pPr>
                      <a:r>
                        <a:rPr lang="en-US" sz="1250" dirty="0">
                          <a:solidFill>
                            <a:srgbClr val="2B2D31"/>
                          </a:solidFill>
                          <a:latin typeface="Calibri" pitchFamily="34" charset="0"/>
                          <a:ea typeface="Calibri" pitchFamily="34" charset="-122"/>
                          <a:cs typeface="Calibri" pitchFamily="34" charset="-120"/>
                        </a:rPr>
                        <a:t>p = 0.63 → form adequate</a:t>
                      </a:r>
                      <a:endParaRPr lang="en-US" sz="125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tcPr>
                </a:tc>
              </a:tr>
              <a:tr h="384048">
                <a:tc>
                  <a:txBody>
                    <a:bodyPr/>
                    <a:lstStyle/>
                    <a:p>
                      <a:pPr indent="0" marL="0">
                        <a:buNone/>
                      </a:pPr>
                      <a:r>
                        <a:rPr lang="en-US" sz="1250" b="1" dirty="0">
                          <a:solidFill>
                            <a:srgbClr val="2B2D31"/>
                          </a:solidFill>
                          <a:latin typeface="Calibri" pitchFamily="34" charset="0"/>
                          <a:ea typeface="Calibri" pitchFamily="34" charset="-122"/>
                          <a:cs typeface="Calibri" pitchFamily="34" charset="-120"/>
                        </a:rPr>
                        <a:t>Max VIF</a:t>
                      </a:r>
                      <a:endParaRPr lang="en-US" sz="125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tcPr>
                </a:tc>
                <a:tc>
                  <a:txBody>
                    <a:bodyPr/>
                    <a:lstStyle/>
                    <a:p>
                      <a:pPr indent="0" marL="0">
                        <a:buNone/>
                      </a:pPr>
                      <a:r>
                        <a:rPr lang="en-US" sz="1250" dirty="0">
                          <a:solidFill>
                            <a:srgbClr val="2B2D31"/>
                          </a:solidFill>
                          <a:latin typeface="Calibri" pitchFamily="34" charset="0"/>
                          <a:ea typeface="Calibri" pitchFamily="34" charset="-122"/>
                          <a:cs typeface="Calibri" pitchFamily="34" charset="-120"/>
                        </a:rPr>
                        <a:t>5.7 (temperature)</a:t>
                      </a:r>
                      <a:endParaRPr lang="en-US" sz="1250" dirty="0">
                        <a:latin typeface="Calibri" charset="0"/>
                        <a:ea typeface="Calibri" charset="0"/>
                        <a:cs typeface="Calibri" charset="0"/>
                      </a:endParaRPr>
                    </a:p>
                  </a:txBody>
                  <a:tcPr marL="76200" marR="762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kicker_222"/>
          <p:cNvSpPr/>
          <p:nvPr/>
        </p:nvSpPr>
        <p:spPr>
          <a:xfrm>
            <a:off x="548640" y="384048"/>
            <a:ext cx="2465222" cy="292608"/>
          </a:xfrm>
          <a:prstGeom prst="roundRect">
            <a:avLst>
              <a:gd name="adj" fmla="val 40625"/>
            </a:avLst>
          </a:prstGeom>
          <a:solidFill>
            <a:schemeClr val="accent1"/>
          </a:solidFill>
          <a:ln/>
        </p:spPr>
        <p:txBody>
          <a:bodyPr wrap="square" lIns="0" tIns="0" rIns="0" bIns="0" rtlCol="0" anchor="ctr"/>
          <a:lstStyle/>
          <a:p>
            <a:pPr algn="ctr" indent="0" marL="0">
              <a:buNone/>
            </a:pPr>
            <a:r>
              <a:rPr lang="en-US" sz="1050" b="1" spc="150" kern="0" dirty="0">
                <a:solidFill>
                  <a:schemeClr val="tx1"/>
                </a:solidFill>
              </a:rPr>
              <a:t>C · CHECKING THE REGRESSION</a:t>
            </a:r>
            <a:endParaRPr lang="en-US" sz="1050" dirty="0"/>
          </a:p>
        </p:txBody>
      </p:sp>
      <p:sp>
        <p:nvSpPr>
          <p:cNvPr id="3" name="Text 1"/>
          <p:cNvSpPr/>
          <p:nvPr>
            <p:ph idx="101" type="title" hasCustomPrompt="1"/>
          </p:nvPr>
        </p:nvSpPr>
        <p:spPr>
          <a:xfrm>
            <a:off x="548640" y="868680"/>
            <a:ext cx="11094415" cy="77724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Weather effects are robust; errors need Newey–West</a:t>
            </a:r>
            <a:endParaRPr lang="en-US" sz="3000" dirty="0"/>
          </a:p>
        </p:txBody>
      </p:sp>
      <p:pic>
        <p:nvPicPr>
          <p:cNvPr id="5" name="chart_img_223" descr="Correlation heatmaps raw and after removing weekday and month effects">    </p:cNvPr>
          <p:cNvPicPr>
            <a:picLocks noChangeAspect="1"/>
          </p:cNvPicPr>
          <p:nvPr/>
        </p:nvPicPr>
        <p:blipFill>
          <a:blip r:embed="rId1"/>
          <a:stretch>
            <a:fillRect/>
          </a:stretch>
        </p:blipFill>
        <p:spPr>
          <a:xfrm>
            <a:off x="1423839" y="1664208"/>
            <a:ext cx="3659650" cy="1527048"/>
          </a:xfrm>
          <a:prstGeom prst="rect">
            <a:avLst/>
          </a:prstGeom>
        </p:spPr>
      </p:pic>
      <p:sp>
        <p:nvSpPr>
          <p:cNvPr id="6" name="text_224"/>
          <p:cNvSpPr txBox="1"/>
          <p:nvPr/>
        </p:nvSpPr>
        <p:spPr>
          <a:xfrm>
            <a:off x="548640" y="3246120"/>
            <a:ext cx="5410048" cy="557784"/>
          </a:xfrm>
          <a:prstGeom prst="rect">
            <a:avLst/>
          </a:prstGeom>
          <a:noFill/>
          <a:ln/>
        </p:spPr>
        <p:txBody>
          <a:bodyPr wrap="square" lIns="0" tIns="0" rIns="0" bIns="0" rtlCol="0" anchor="t"/>
          <a:lstStyle/>
          <a:p>
            <a:pPr indent="0" marL="0">
              <a:buNone/>
            </a:pPr>
            <a:r>
              <a:rPr lang="en-US" sz="1200" b="1" dirty="0">
                <a:solidFill>
                  <a:schemeClr val="tx1"/>
                </a:solidFill>
              </a:rPr>
              <a:t>Correlations.  </a:t>
            </a:r>
            <a:pPr indent="0" marL="0">
              <a:buNone/>
            </a:pPr>
            <a:r>
              <a:rPr lang="en-US" sz="1200" dirty="0">
                <a:solidFill>
                  <a:schemeClr val="tx2"/>
                </a:solidFill>
              </a:rPr>
              <a:t>Busier days are slower (r = −0.69). After removing weekday and month, weather correlations shrink; holidays and snow remain.</a:t>
            </a:r>
            <a:endParaRPr lang="en-US" sz="1200" dirty="0"/>
          </a:p>
        </p:txBody>
      </p:sp>
      <p:pic>
        <p:nvPicPr>
          <p:cNvPr id="7" name="chart_img_225" descr="Trips and speed by rainfall and temperature band">    </p:cNvPr>
          <p:cNvPicPr>
            <a:picLocks noChangeAspect="1"/>
          </p:cNvPicPr>
          <p:nvPr/>
        </p:nvPicPr>
        <p:blipFill>
          <a:blip r:embed="rId2"/>
          <a:stretch>
            <a:fillRect/>
          </a:stretch>
        </p:blipFill>
        <p:spPr>
          <a:xfrm>
            <a:off x="6233008" y="1823628"/>
            <a:ext cx="3387751" cy="1820856"/>
          </a:xfrm>
          <a:prstGeom prst="rect">
            <a:avLst/>
          </a:prstGeom>
        </p:spPr>
      </p:pic>
      <p:sp>
        <p:nvSpPr>
          <p:cNvPr id="8" name="text_226"/>
          <p:cNvSpPr txBox="1"/>
          <p:nvPr/>
        </p:nvSpPr>
        <p:spPr>
          <a:xfrm>
            <a:off x="9803639" y="1709928"/>
            <a:ext cx="1839416" cy="2048256"/>
          </a:xfrm>
          <a:prstGeom prst="rect">
            <a:avLst/>
          </a:prstGeom>
          <a:noFill/>
          <a:ln/>
        </p:spPr>
        <p:txBody>
          <a:bodyPr wrap="square" lIns="0" tIns="0" rIns="0" bIns="0" rtlCol="0" anchor="ctr"/>
          <a:lstStyle/>
          <a:p>
            <a:pPr indent="0" marL="0">
              <a:buNone/>
            </a:pPr>
            <a:r>
              <a:rPr lang="en-US" sz="1200" b="1" dirty="0">
                <a:solidFill>
                  <a:schemeClr val="tx1"/>
                </a:solidFill>
              </a:rPr>
              <a:t>Weather bands.  </a:t>
            </a:r>
            <a:endParaRPr lang="en-US" sz="1200" dirty="0"/>
          </a:p>
          <a:p>
            <a:pPr indent="0" marL="0">
              <a:buNone/>
            </a:pPr>
            <a:r>
              <a:rPr lang="en-US" sz="1200" dirty="0">
                <a:solidFill>
                  <a:schemeClr val="tx2"/>
                </a:solidFill>
              </a:rPr>
              <a:t>Days with over 25 mm of rain are 3–4% slower while trips hold up; temperature has little effect.</a:t>
            </a:r>
            <a:endParaRPr lang="en-US" sz="1200" dirty="0"/>
          </a:p>
        </p:txBody>
      </p:sp>
      <p:pic>
        <p:nvPicPr>
          <p:cNvPr id="9" name="chart_img_227" descr="Weather coefficients across seven specifications">    </p:cNvPr>
          <p:cNvPicPr>
            <a:picLocks noChangeAspect="1"/>
          </p:cNvPicPr>
          <p:nvPr/>
        </p:nvPicPr>
        <p:blipFill>
          <a:blip r:embed="rId3"/>
          <a:stretch>
            <a:fillRect/>
          </a:stretch>
        </p:blipFill>
        <p:spPr>
          <a:xfrm>
            <a:off x="1418955" y="4005072"/>
            <a:ext cx="3669418" cy="1527048"/>
          </a:xfrm>
          <a:prstGeom prst="rect">
            <a:avLst/>
          </a:prstGeom>
        </p:spPr>
      </p:pic>
      <p:sp>
        <p:nvSpPr>
          <p:cNvPr id="10" name="text_228"/>
          <p:cNvSpPr txBox="1"/>
          <p:nvPr/>
        </p:nvSpPr>
        <p:spPr>
          <a:xfrm>
            <a:off x="548640" y="5586984"/>
            <a:ext cx="5410048" cy="557784"/>
          </a:xfrm>
          <a:prstGeom prst="rect">
            <a:avLst/>
          </a:prstGeom>
          <a:noFill/>
          <a:ln/>
        </p:spPr>
        <p:txBody>
          <a:bodyPr wrap="square" lIns="0" tIns="0" rIns="0" bIns="0" rtlCol="0" anchor="t"/>
          <a:lstStyle/>
          <a:p>
            <a:pPr indent="0" marL="0">
              <a:buNone/>
            </a:pPr>
            <a:r>
              <a:rPr lang="en-US" sz="1200" b="1" dirty="0">
                <a:solidFill>
                  <a:schemeClr val="tx1"/>
                </a:solidFill>
              </a:rPr>
              <a:t>Stability.  </a:t>
            </a:r>
            <a:pPr indent="0" marL="0">
              <a:buNone/>
            </a:pPr>
            <a:r>
              <a:rPr lang="en-US" sz="1200" dirty="0">
                <a:solidFill>
                  <a:schemeClr val="tx2"/>
                </a:solidFill>
              </a:rPr>
              <a:t>Snowfall stays at −2.4% to −2.8% per cm across specifications; snow depth shrinks once month effects are added.</a:t>
            </a:r>
            <a:endParaRPr lang="en-US" sz="1200" dirty="0"/>
          </a:p>
        </p:txBody>
      </p:sp>
      <p:pic>
        <p:nvPicPr>
          <p:cNvPr id="11" name="chart_img_229" descr="Residual diagnostics: residuals vs fitted, Q-Q, autocorrelation, residuals over time">    </p:cNvPr>
          <p:cNvPicPr>
            <a:picLocks noChangeAspect="1"/>
          </p:cNvPicPr>
          <p:nvPr/>
        </p:nvPicPr>
        <p:blipFill>
          <a:blip r:embed="rId4"/>
          <a:stretch>
            <a:fillRect/>
          </a:stretch>
        </p:blipFill>
        <p:spPr>
          <a:xfrm>
            <a:off x="6233008" y="4034379"/>
            <a:ext cx="3387751" cy="2081082"/>
          </a:xfrm>
          <a:prstGeom prst="rect">
            <a:avLst/>
          </a:prstGeom>
        </p:spPr>
      </p:pic>
      <p:sp>
        <p:nvSpPr>
          <p:cNvPr id="12" name="text_230"/>
          <p:cNvSpPr txBox="1"/>
          <p:nvPr/>
        </p:nvSpPr>
        <p:spPr>
          <a:xfrm>
            <a:off x="9803639" y="4050792"/>
            <a:ext cx="1839416" cy="2048256"/>
          </a:xfrm>
          <a:prstGeom prst="rect">
            <a:avLst/>
          </a:prstGeom>
          <a:noFill/>
          <a:ln/>
        </p:spPr>
        <p:txBody>
          <a:bodyPr wrap="square" lIns="0" tIns="0" rIns="0" bIns="0" rtlCol="0" anchor="ctr"/>
          <a:lstStyle/>
          <a:p>
            <a:pPr indent="0" marL="0">
              <a:buNone/>
            </a:pPr>
            <a:r>
              <a:rPr lang="en-US" sz="1200" b="1" dirty="0">
                <a:solidFill>
                  <a:schemeClr val="tx1"/>
                </a:solidFill>
              </a:rPr>
              <a:t>Residuals.  </a:t>
            </a:r>
            <a:endParaRPr lang="en-US" sz="1200" dirty="0"/>
          </a:p>
          <a:p>
            <a:pPr indent="0" marL="0">
              <a:buNone/>
            </a:pPr>
            <a:r>
              <a:rPr lang="en-US" sz="1200" dirty="0">
                <a:solidFill>
                  <a:schemeClr val="tx2"/>
                </a:solidFill>
              </a:rPr>
              <a:t>Strong autocorrelation (DW 0.58) and a heavy left tail, so we use Newey–West errors; RESET p = 0.63.</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kicker_231"/>
          <p:cNvSpPr/>
          <p:nvPr/>
        </p:nvSpPr>
        <p:spPr>
          <a:xfrm>
            <a:off x="548640" y="384048"/>
            <a:ext cx="1580083" cy="292608"/>
          </a:xfrm>
          <a:prstGeom prst="roundRect">
            <a:avLst>
              <a:gd name="adj" fmla="val 40625"/>
            </a:avLst>
          </a:prstGeom>
          <a:solidFill>
            <a:schemeClr val="accent1"/>
          </a:solidFill>
          <a:ln/>
        </p:spPr>
        <p:txBody>
          <a:bodyPr wrap="square" lIns="0" tIns="0" rIns="0" bIns="0" rtlCol="0" anchor="ctr"/>
          <a:lstStyle/>
          <a:p>
            <a:pPr algn="ctr" indent="0" marL="0">
              <a:buNone/>
            </a:pPr>
            <a:r>
              <a:rPr lang="en-US" sz="1050" b="1" spc="150" kern="0" dirty="0">
                <a:solidFill>
                  <a:schemeClr val="tx1"/>
                </a:solidFill>
              </a:rPr>
              <a:t>D · RQ3 · SPEEDS</a:t>
            </a:r>
            <a:endParaRPr lang="en-US" sz="1050" dirty="0"/>
          </a:p>
        </p:txBody>
      </p:sp>
      <p:sp>
        <p:nvSpPr>
          <p:cNvPr id="3" name="Text 1"/>
          <p:cNvSpPr/>
          <p:nvPr>
            <p:ph idx="101" type="title" hasCustomPrompt="1"/>
          </p:nvPr>
        </p:nvSpPr>
        <p:spPr>
          <a:xfrm>
            <a:off x="548640" y="868680"/>
            <a:ext cx="11094415" cy="77724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Zone speeds rose about 1–3% relative to the control</a:t>
            </a:r>
            <a:endParaRPr lang="en-US" sz="3000" dirty="0"/>
          </a:p>
        </p:txBody>
      </p:sp>
      <p:graphicFrame>
        <p:nvGraphicFramePr>
          <p:cNvPr id="5" name="chart_speed" descr=""/>
          <p:cNvGraphicFramePr/>
          <p:nvPr/>
        </p:nvGraphicFramePr>
        <p:xfrm>
          <a:off x="548640" y="1737360"/>
          <a:ext cx="7040880" cy="4297680"/>
        </p:xfrm>
        <a:graphic xmlns:a="http://schemas.openxmlformats.org/drawingml/2006/main">
          <a:graphicData uri="http://schemas.openxmlformats.org/drawingml/2006/chart">
            <c:chart xmlns:c="http://schemas.openxmlformats.org/drawingml/2006/chart" r:id="rId1"/>
          </a:graphicData>
        </a:graphic>
      </p:graphicFrame>
      <p:sp>
        <p:nvSpPr>
          <p:cNvPr id="6" name="card_232"/>
          <p:cNvSpPr/>
          <p:nvPr/>
        </p:nvSpPr>
        <p:spPr>
          <a:xfrm>
            <a:off x="8001000" y="1783080"/>
            <a:ext cx="3642055" cy="1737360"/>
          </a:xfrm>
          <a:prstGeom prst="roundRect">
            <a:avLst>
              <a:gd name="adj" fmla="val 6316"/>
            </a:avLst>
          </a:prstGeom>
          <a:solidFill>
            <a:schemeClr val="tx1"/>
          </a:solidFill>
          <a:ln/>
        </p:spPr>
      </p:sp>
      <p:sp>
        <p:nvSpPr>
          <p:cNvPr id="7" name="text_233"/>
          <p:cNvSpPr txBox="1"/>
          <p:nvPr/>
        </p:nvSpPr>
        <p:spPr>
          <a:xfrm>
            <a:off x="8275320" y="1920240"/>
            <a:ext cx="3093415" cy="731520"/>
          </a:xfrm>
          <a:prstGeom prst="rect">
            <a:avLst/>
          </a:prstGeom>
          <a:noFill/>
          <a:ln/>
        </p:spPr>
        <p:txBody>
          <a:bodyPr wrap="square" lIns="0" tIns="0" rIns="0" bIns="0" rtlCol="0" anchor="ctr"/>
          <a:lstStyle/>
          <a:p>
            <a:pPr indent="0" marL="0">
              <a:buNone/>
            </a:pPr>
            <a:r>
              <a:rPr lang="en-US" sz="3800" b="1" dirty="0">
                <a:solidFill>
                  <a:schemeClr val="accent1"/>
                </a:solidFill>
                <a:latin typeface="Arial" pitchFamily="34" charset="0"/>
                <a:ea typeface="Arial" pitchFamily="34" charset="-122"/>
                <a:cs typeface="Arial" pitchFamily="34" charset="-120"/>
              </a:rPr>
              <a:t>+1 to +3%</a:t>
            </a:r>
            <a:endParaRPr lang="en-US" sz="3800" dirty="0"/>
          </a:p>
        </p:txBody>
      </p:sp>
      <p:sp>
        <p:nvSpPr>
          <p:cNvPr id="8" name="text_234"/>
          <p:cNvSpPr txBox="1"/>
          <p:nvPr/>
        </p:nvSpPr>
        <p:spPr>
          <a:xfrm>
            <a:off x="8275320" y="2697480"/>
            <a:ext cx="3093415" cy="685800"/>
          </a:xfrm>
          <a:prstGeom prst="rect">
            <a:avLst/>
          </a:prstGeom>
          <a:noFill/>
          <a:ln/>
        </p:spPr>
        <p:txBody>
          <a:bodyPr wrap="square" lIns="0" tIns="0" rIns="0" bIns="0" rtlCol="0" anchor="t"/>
          <a:lstStyle/>
          <a:p>
            <a:pPr indent="0" marL="0">
              <a:buNone/>
            </a:pPr>
            <a:r>
              <a:rPr lang="en-US" sz="1300" dirty="0">
                <a:solidFill>
                  <a:schemeClr val="bg1"/>
                </a:solidFill>
              </a:rPr>
              <a:t>credible range: a lower bound, since the control partly benefited</a:t>
            </a:r>
            <a:endParaRPr lang="en-US" sz="1300" dirty="0"/>
          </a:p>
        </p:txBody>
      </p:sp>
      <p:sp>
        <p:nvSpPr>
          <p:cNvPr id="9" name="text_235"/>
          <p:cNvSpPr txBox="1"/>
          <p:nvPr/>
        </p:nvSpPr>
        <p:spPr>
          <a:xfrm>
            <a:off x="8001000" y="3749040"/>
            <a:ext cx="3642055" cy="21945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2"/>
                </a:solidFill>
              </a:rPr>
              <a:t>Yellow bars: specifications whose baseline or adjustment best handles the pre-trend.</a:t>
            </a:r>
            <a:endParaRPr lang="en-US" sz="1300" dirty="0"/>
          </a:p>
          <a:p>
            <a:pPr marL="342900" indent="-342900">
              <a:spcAft>
                <a:spcPts val="800"/>
              </a:spcAft>
              <a:buSzPct val="100000"/>
              <a:buChar char="•"/>
            </a:pPr>
            <a:r>
              <a:rPr lang="en-US" sz="1300" dirty="0">
                <a:solidFill>
                  <a:schemeClr val="tx2"/>
                </a:solidFill>
              </a:rPr>
              <a:t>Grey bars: bounds. The zone was slowing 3.8% a year before the toll; ignoring this understates the effect, extrapolating it overstates it.</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kicker_236"/>
          <p:cNvSpPr/>
          <p:nvPr/>
        </p:nvSpPr>
        <p:spPr>
          <a:xfrm>
            <a:off x="548640" y="384048"/>
            <a:ext cx="2304288" cy="292608"/>
          </a:xfrm>
          <a:prstGeom prst="roundRect">
            <a:avLst>
              <a:gd name="adj" fmla="val 40625"/>
            </a:avLst>
          </a:prstGeom>
          <a:solidFill>
            <a:schemeClr val="accent1"/>
          </a:solidFill>
          <a:ln/>
        </p:spPr>
        <p:txBody>
          <a:bodyPr wrap="square" lIns="0" tIns="0" rIns="0" bIns="0" rtlCol="0" anchor="ctr"/>
          <a:lstStyle/>
          <a:p>
            <a:pPr algn="ctr" indent="0" marL="0">
              <a:buNone/>
            </a:pPr>
            <a:r>
              <a:rPr lang="en-US" sz="1050" b="1" spc="150" kern="0" dirty="0">
                <a:solidFill>
                  <a:schemeClr val="tx1"/>
                </a:solidFill>
              </a:rPr>
              <a:t>D · RQ3 · LONGER BASELINE</a:t>
            </a:r>
            <a:endParaRPr lang="en-US" sz="1050" dirty="0"/>
          </a:p>
        </p:txBody>
      </p:sp>
      <p:sp>
        <p:nvSpPr>
          <p:cNvPr id="3" name="Text 1"/>
          <p:cNvSpPr/>
          <p:nvPr>
            <p:ph idx="101" type="title" hasCustomPrompt="1"/>
          </p:nvPr>
        </p:nvSpPr>
        <p:spPr>
          <a:xfrm>
            <a:off x="548640" y="868680"/>
            <a:ext cx="11094415" cy="77724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Against 2023–24, speeds jumped 3–4% right after the toll</a:t>
            </a:r>
            <a:endParaRPr lang="en-US" sz="3000" dirty="0"/>
          </a:p>
        </p:txBody>
      </p:sp>
      <p:pic>
        <p:nvPicPr>
          <p:cNvPr id="5" name="chart_img_237" descr="Monthly speed and pickup gaps relative to the 2023–24 pattern, 2022–2025">    </p:cNvPr>
          <p:cNvPicPr>
            <a:picLocks noChangeAspect="1"/>
          </p:cNvPicPr>
          <p:nvPr/>
        </p:nvPicPr>
        <p:blipFill>
          <a:blip r:embed="rId1"/>
          <a:stretch>
            <a:fillRect/>
          </a:stretch>
        </p:blipFill>
        <p:spPr>
          <a:xfrm>
            <a:off x="548640" y="1894197"/>
            <a:ext cx="6766560" cy="3892565"/>
          </a:xfrm>
          <a:prstGeom prst="rect">
            <a:avLst/>
          </a:prstGeom>
        </p:spPr>
      </p:pic>
      <p:sp>
        <p:nvSpPr>
          <p:cNvPr id="6" name="card_238"/>
          <p:cNvSpPr/>
          <p:nvPr/>
        </p:nvSpPr>
        <p:spPr>
          <a:xfrm>
            <a:off x="7635240" y="1737360"/>
            <a:ext cx="4007815" cy="4251960"/>
          </a:xfrm>
          <a:prstGeom prst="roundRect">
            <a:avLst>
              <a:gd name="adj" fmla="val 2738"/>
            </a:avLst>
          </a:prstGeom>
          <a:solidFill>
            <a:schemeClr val="bg2"/>
          </a:solidFill>
          <a:ln/>
        </p:spPr>
      </p:sp>
      <p:sp>
        <p:nvSpPr>
          <p:cNvPr id="7" name="text_239"/>
          <p:cNvSpPr txBox="1"/>
          <p:nvPr/>
        </p:nvSpPr>
        <p:spPr>
          <a:xfrm>
            <a:off x="7909560" y="1938528"/>
            <a:ext cx="3459175" cy="274320"/>
          </a:xfrm>
          <a:prstGeom prst="rect">
            <a:avLst/>
          </a:prstGeom>
          <a:noFill/>
          <a:ln/>
        </p:spPr>
        <p:txBody>
          <a:bodyPr wrap="square" lIns="0" tIns="0" rIns="0" bIns="0" rtlCol="0" anchor="t"/>
          <a:lstStyle/>
          <a:p>
            <a:pPr indent="0" marL="0">
              <a:buNone/>
            </a:pPr>
            <a:r>
              <a:rPr lang="en-US" sz="1100" b="1" spc="150" kern="0" dirty="0">
                <a:solidFill>
                  <a:schemeClr val="accent4"/>
                </a:solidFill>
              </a:rPr>
              <a:t>WHAT WE DERIVE</a:t>
            </a:r>
            <a:endParaRPr lang="en-US" sz="1100" dirty="0"/>
          </a:p>
        </p:txBody>
      </p:sp>
      <p:sp>
        <p:nvSpPr>
          <p:cNvPr id="8" name="num_240"/>
          <p:cNvSpPr/>
          <p:nvPr/>
        </p:nvSpPr>
        <p:spPr>
          <a:xfrm>
            <a:off x="7909560" y="2331720"/>
            <a:ext cx="310896" cy="310896"/>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9" name="text_241"/>
          <p:cNvSpPr txBox="1"/>
          <p:nvPr/>
        </p:nvSpPr>
        <p:spPr>
          <a:xfrm>
            <a:off x="8366760" y="2286000"/>
            <a:ext cx="3047695" cy="1143000"/>
          </a:xfrm>
          <a:prstGeom prst="rect">
            <a:avLst/>
          </a:prstGeom>
          <a:noFill/>
          <a:ln/>
        </p:spPr>
        <p:txBody>
          <a:bodyPr wrap="square" lIns="0" tIns="0" rIns="0" bIns="0" rtlCol="0" anchor="t"/>
          <a:lstStyle/>
          <a:p>
            <a:pPr indent="0" marL="0">
              <a:buNone/>
            </a:pPr>
            <a:r>
              <a:rPr lang="en-US" sz="1300" dirty="0">
                <a:solidFill>
                  <a:schemeClr val="tx2"/>
                </a:solidFill>
              </a:rPr>
              <a:t>Speeds in the zone were 3–4% above the 2023–24 pattern in January–April 2025, then returned to about zero by mid-year.</a:t>
            </a:r>
            <a:endParaRPr lang="en-US" sz="1300" dirty="0"/>
          </a:p>
        </p:txBody>
      </p:sp>
      <p:sp>
        <p:nvSpPr>
          <p:cNvPr id="10" name="num_242"/>
          <p:cNvSpPr/>
          <p:nvPr/>
        </p:nvSpPr>
        <p:spPr>
          <a:xfrm>
            <a:off x="7909560" y="3520440"/>
            <a:ext cx="310896" cy="310896"/>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1" name="text_243"/>
          <p:cNvSpPr txBox="1"/>
          <p:nvPr/>
        </p:nvSpPr>
        <p:spPr>
          <a:xfrm>
            <a:off x="8366760" y="3474720"/>
            <a:ext cx="3047695" cy="1143000"/>
          </a:xfrm>
          <a:prstGeom prst="rect">
            <a:avLst/>
          </a:prstGeom>
          <a:noFill/>
          <a:ln/>
        </p:spPr>
        <p:txBody>
          <a:bodyPr wrap="square" lIns="0" tIns="0" rIns="0" bIns="0" rtlCol="0" anchor="t"/>
          <a:lstStyle/>
          <a:p>
            <a:pPr indent="0" marL="0">
              <a:buNone/>
            </a:pPr>
            <a:r>
              <a:rPr lang="en-US" sz="1300" dirty="0">
                <a:solidFill>
                  <a:schemeClr val="tx2"/>
                </a:solidFill>
              </a:rPr>
              <a:t>Pickups held up at first, then fell to 5–11% below the pattern in the second half of 2025.</a:t>
            </a:r>
            <a:endParaRPr lang="en-US" sz="1300" dirty="0"/>
          </a:p>
        </p:txBody>
      </p:sp>
      <p:sp>
        <p:nvSpPr>
          <p:cNvPr id="12" name="num_244"/>
          <p:cNvSpPr/>
          <p:nvPr/>
        </p:nvSpPr>
        <p:spPr>
          <a:xfrm>
            <a:off x="7909560" y="4709160"/>
            <a:ext cx="310896" cy="310896"/>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3" name="text_245"/>
          <p:cNvSpPr txBox="1"/>
          <p:nvPr/>
        </p:nvSpPr>
        <p:spPr>
          <a:xfrm>
            <a:off x="8366760" y="4663440"/>
            <a:ext cx="3047695" cy="1143000"/>
          </a:xfrm>
          <a:prstGeom prst="rect">
            <a:avLst/>
          </a:prstGeom>
          <a:noFill/>
          <a:ln/>
        </p:spPr>
        <p:txBody>
          <a:bodyPr wrap="square" lIns="0" tIns="0" rIns="0" bIns="0" rtlCol="0" anchor="t"/>
          <a:lstStyle/>
          <a:p>
            <a:pPr indent="0" marL="0">
              <a:buNone/>
            </a:pPr>
            <a:r>
              <a:rPr lang="en-US" sz="1300" dirty="0">
                <a:solidFill>
                  <a:schemeClr val="tx2"/>
                </a:solidFill>
              </a:rPr>
              <a:t>In 2022 the zone was far above the 2023–24 pattern, an earlier divergence, which is why 2022 is not used as a baseline.</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kicker_246"/>
          <p:cNvSpPr/>
          <p:nvPr/>
        </p:nvSpPr>
        <p:spPr>
          <a:xfrm>
            <a:off x="548640" y="384048"/>
            <a:ext cx="2384755" cy="292608"/>
          </a:xfrm>
          <a:prstGeom prst="roundRect">
            <a:avLst>
              <a:gd name="adj" fmla="val 40625"/>
            </a:avLst>
          </a:prstGeom>
          <a:solidFill>
            <a:schemeClr val="accent1"/>
          </a:solidFill>
          <a:ln/>
        </p:spPr>
        <p:txBody>
          <a:bodyPr wrap="square" lIns="0" tIns="0" rIns="0" bIns="0" rtlCol="0" anchor="ctr"/>
          <a:lstStyle/>
          <a:p>
            <a:pPr algn="ctr" indent="0" marL="0">
              <a:buNone/>
            </a:pPr>
            <a:r>
              <a:rPr lang="en-US" sz="1050" b="1" spc="150" kern="0" dirty="0">
                <a:solidFill>
                  <a:schemeClr val="tx1"/>
                </a:solidFill>
              </a:rPr>
              <a:t>D · RQ4 · TIMING IN DETAIL</a:t>
            </a:r>
            <a:endParaRPr lang="en-US" sz="1050" dirty="0"/>
          </a:p>
        </p:txBody>
      </p:sp>
      <p:sp>
        <p:nvSpPr>
          <p:cNvPr id="3" name="Text 1"/>
          <p:cNvSpPr/>
          <p:nvPr>
            <p:ph idx="101" type="title" hasCustomPrompt="1"/>
          </p:nvPr>
        </p:nvSpPr>
        <p:spPr>
          <a:xfrm>
            <a:off x="548640" y="868680"/>
            <a:ext cx="11094415" cy="77724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The speed gain was concentrated in the first half of 2025</a:t>
            </a:r>
            <a:endParaRPr lang="en-US" sz="3000" dirty="0"/>
          </a:p>
        </p:txBody>
      </p:sp>
      <p:pic>
        <p:nvPicPr>
          <p:cNvPr id="5" name="chart_img_247" descr="Monthly gap in speed and pickups between zone and control, 2024–2025">    </p:cNvPr>
          <p:cNvPicPr>
            <a:picLocks noChangeAspect="1"/>
          </p:cNvPicPr>
          <p:nvPr/>
        </p:nvPicPr>
        <p:blipFill>
          <a:blip r:embed="rId1"/>
          <a:stretch>
            <a:fillRect/>
          </a:stretch>
        </p:blipFill>
        <p:spPr>
          <a:xfrm>
            <a:off x="548640" y="1664208"/>
            <a:ext cx="5410048" cy="2211785"/>
          </a:xfrm>
          <a:prstGeom prst="rect">
            <a:avLst/>
          </a:prstGeom>
        </p:spPr>
      </p:pic>
      <p:sp>
        <p:nvSpPr>
          <p:cNvPr id="6" name="text_248"/>
          <p:cNvSpPr txBox="1"/>
          <p:nvPr/>
        </p:nvSpPr>
        <p:spPr>
          <a:xfrm>
            <a:off x="548640" y="3930857"/>
            <a:ext cx="5410048" cy="2213911"/>
          </a:xfrm>
          <a:prstGeom prst="rect">
            <a:avLst/>
          </a:prstGeom>
          <a:noFill/>
          <a:ln/>
        </p:spPr>
        <p:txBody>
          <a:bodyPr wrap="square" lIns="0" tIns="0" rIns="0" bIns="0" rtlCol="0" anchor="t"/>
          <a:lstStyle/>
          <a:p>
            <a:pPr indent="0" marL="0">
              <a:buNone/>
            </a:pPr>
            <a:r>
              <a:rPr lang="en-US" sz="1200" b="1" dirty="0">
                <a:solidFill>
                  <a:schemeClr val="tx1"/>
                </a:solidFill>
              </a:rPr>
              <a:t>Month by month, 2024 baseline.  </a:t>
            </a:r>
            <a:pPr indent="0" marL="0">
              <a:buNone/>
            </a:pPr>
            <a:r>
              <a:rPr lang="en-US" sz="1200" dirty="0">
                <a:solidFill>
                  <a:schemeClr val="tx2"/>
                </a:solidFill>
              </a:rPr>
              <a:t>Speeds ran 2–6% below the expected gap in 2024 and moved to about zero after the toll; pickups fell below the control from mid-2025.</a:t>
            </a:r>
            <a:endParaRPr lang="en-US" sz="1200" dirty="0"/>
          </a:p>
        </p:txBody>
      </p:sp>
      <p:graphicFrame>
        <p:nvGraphicFramePr>
          <p:cNvPr id="7" name="chart_halves" descr=""/>
          <p:cNvGraphicFramePr/>
          <p:nvPr/>
        </p:nvGraphicFramePr>
        <p:xfrm>
          <a:off x="6233008" y="1664208"/>
          <a:ext cx="5410048" cy="3611880"/>
        </p:xfrm>
        <a:graphic xmlns:a="http://schemas.openxmlformats.org/drawingml/2006/main">
          <a:graphicData uri="http://schemas.openxmlformats.org/drawingml/2006/chart">
            <c:chart xmlns:c="http://schemas.openxmlformats.org/drawingml/2006/chart" r:id="rId2"/>
          </a:graphicData>
        </a:graphic>
      </p:graphicFrame>
      <p:sp>
        <p:nvSpPr>
          <p:cNvPr id="8" name="text_249"/>
          <p:cNvSpPr txBox="1"/>
          <p:nvPr/>
        </p:nvSpPr>
        <p:spPr>
          <a:xfrm>
            <a:off x="6233008" y="5330952"/>
            <a:ext cx="5410048" cy="813816"/>
          </a:xfrm>
          <a:prstGeom prst="rect">
            <a:avLst/>
          </a:prstGeom>
          <a:noFill/>
          <a:ln/>
        </p:spPr>
        <p:txBody>
          <a:bodyPr wrap="square" lIns="0" tIns="0" rIns="0" bIns="0" rtlCol="0" anchor="t"/>
          <a:lstStyle/>
          <a:p>
            <a:pPr indent="0" marL="0">
              <a:buNone/>
            </a:pPr>
            <a:r>
              <a:rPr lang="en-US" sz="1200" b="1" dirty="0">
                <a:solidFill>
                  <a:schemeClr val="tx1"/>
                </a:solidFill>
              </a:rPr>
              <a:t>First vs second half.  </a:t>
            </a:r>
            <a:pPr indent="0" marL="0">
              <a:buNone/>
            </a:pPr>
            <a:r>
              <a:rPr lang="en-US" sz="1200" dirty="0">
                <a:solidFill>
                  <a:schemeClr val="tx2"/>
                </a:solidFill>
              </a:rPr>
              <a:t>4.7% in January–June against 0.3% in July–December (2024 baseline). London’s gains also faded; Stockholm’s lasted.</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kicker_250"/>
          <p:cNvSpPr/>
          <p:nvPr/>
        </p:nvSpPr>
        <p:spPr>
          <a:xfrm>
            <a:off x="548640" y="384048"/>
            <a:ext cx="2948026" cy="292608"/>
          </a:xfrm>
          <a:prstGeom prst="roundRect">
            <a:avLst>
              <a:gd name="adj" fmla="val 40625"/>
            </a:avLst>
          </a:prstGeom>
          <a:solidFill>
            <a:schemeClr val="accent1"/>
          </a:solidFill>
          <a:ln/>
        </p:spPr>
        <p:txBody>
          <a:bodyPr wrap="square" lIns="0" tIns="0" rIns="0" bIns="0" rtlCol="0" anchor="ctr"/>
          <a:lstStyle/>
          <a:p>
            <a:pPr algn="ctr" indent="0" marL="0">
              <a:buNone/>
            </a:pPr>
            <a:r>
              <a:rPr lang="en-US" sz="1050" b="1" spc="150" kern="0" dirty="0">
                <a:solidFill>
                  <a:schemeClr val="tx1"/>
                </a:solidFill>
              </a:rPr>
              <a:t>D · RQ3–4 · PICKUPS AND SPILLOVER</a:t>
            </a:r>
            <a:endParaRPr lang="en-US" sz="1050" dirty="0"/>
          </a:p>
        </p:txBody>
      </p:sp>
      <p:sp>
        <p:nvSpPr>
          <p:cNvPr id="3" name="Text 1"/>
          <p:cNvSpPr/>
          <p:nvPr>
            <p:ph idx="101" type="title" hasCustomPrompt="1"/>
          </p:nvPr>
        </p:nvSpPr>
        <p:spPr>
          <a:xfrm>
            <a:off x="548640" y="868680"/>
            <a:ext cx="11094415" cy="77724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Pickups fell most just outside the boundary</a:t>
            </a:r>
            <a:endParaRPr lang="en-US" sz="3000" dirty="0"/>
          </a:p>
        </p:txBody>
      </p:sp>
      <p:graphicFrame>
        <p:nvGraphicFramePr>
          <p:cNvPr id="5" name="chart_pickups" descr=""/>
          <p:cNvGraphicFramePr/>
          <p:nvPr/>
        </p:nvGraphicFramePr>
        <p:xfrm>
          <a:off x="548640" y="1737360"/>
          <a:ext cx="6949440" cy="4297680"/>
        </p:xfrm>
        <a:graphic xmlns:a="http://schemas.openxmlformats.org/drawingml/2006/main">
          <a:graphicData uri="http://schemas.openxmlformats.org/drawingml/2006/chart">
            <c:chart xmlns:c="http://schemas.openxmlformats.org/drawingml/2006/chart" r:id="rId1"/>
          </a:graphicData>
        </a:graphic>
      </p:graphicFrame>
      <p:sp>
        <p:nvSpPr>
          <p:cNvPr id="6" name="card_251"/>
          <p:cNvSpPr/>
          <p:nvPr/>
        </p:nvSpPr>
        <p:spPr>
          <a:xfrm>
            <a:off x="7955280" y="1783080"/>
            <a:ext cx="3687775" cy="1874520"/>
          </a:xfrm>
          <a:prstGeom prst="roundRect">
            <a:avLst>
              <a:gd name="adj" fmla="val 5854"/>
            </a:avLst>
          </a:prstGeom>
          <a:solidFill>
            <a:schemeClr val="bg2"/>
          </a:solidFill>
          <a:ln/>
        </p:spPr>
      </p:sp>
      <p:sp>
        <p:nvSpPr>
          <p:cNvPr id="7" name="text_252"/>
          <p:cNvSpPr txBox="1"/>
          <p:nvPr/>
        </p:nvSpPr>
        <p:spPr>
          <a:xfrm>
            <a:off x="8229600" y="1783080"/>
            <a:ext cx="3139135" cy="640080"/>
          </a:xfrm>
          <a:prstGeom prst="rect">
            <a:avLst/>
          </a:prstGeom>
          <a:noFill/>
          <a:ln/>
        </p:spPr>
        <p:txBody>
          <a:bodyPr wrap="square" lIns="0" tIns="0" rIns="0" bIns="0" rtlCol="0" anchor="b"/>
          <a:lstStyle/>
          <a:p>
            <a:pPr indent="0" marL="0">
              <a:buNone/>
            </a:pPr>
            <a:r>
              <a:rPr lang="en-US" sz="3400" b="1" dirty="0">
                <a:solidFill>
                  <a:schemeClr val="tx1"/>
                </a:solidFill>
                <a:latin typeface="Arial" pitchFamily="34" charset="0"/>
                <a:ea typeface="Arial" pitchFamily="34" charset="-122"/>
                <a:cs typeface="Arial" pitchFamily="34" charset="-120"/>
              </a:rPr>
              <a:t>−2 to −5%</a:t>
            </a:r>
            <a:endParaRPr lang="en-US" sz="3400" dirty="0"/>
          </a:p>
        </p:txBody>
      </p:sp>
      <p:sp>
        <p:nvSpPr>
          <p:cNvPr id="8" name="text_253"/>
          <p:cNvSpPr txBox="1"/>
          <p:nvPr/>
        </p:nvSpPr>
        <p:spPr>
          <a:xfrm>
            <a:off x="8229600" y="2468880"/>
            <a:ext cx="3139135" cy="731520"/>
          </a:xfrm>
          <a:prstGeom prst="rect">
            <a:avLst/>
          </a:prstGeom>
          <a:noFill/>
          <a:ln/>
        </p:spPr>
        <p:txBody>
          <a:bodyPr wrap="square" lIns="0" tIns="0" rIns="0" bIns="0" rtlCol="0" anchor="t"/>
          <a:lstStyle/>
          <a:p>
            <a:pPr indent="0" marL="0">
              <a:buNone/>
            </a:pPr>
            <a:r>
              <a:rPr lang="en-US" sz="1250" dirty="0">
                <a:solidFill>
                  <a:schemeClr val="tx2"/>
                </a:solidFill>
              </a:rPr>
              <a:t>pickups in the charging zone</a:t>
            </a:r>
            <a:endParaRPr lang="en-US" sz="1250" dirty="0"/>
          </a:p>
        </p:txBody>
      </p:sp>
      <p:sp>
        <p:nvSpPr>
          <p:cNvPr id="9" name="card_254"/>
          <p:cNvSpPr/>
          <p:nvPr/>
        </p:nvSpPr>
        <p:spPr>
          <a:xfrm>
            <a:off x="7955280" y="3886200"/>
            <a:ext cx="3687775" cy="1874520"/>
          </a:xfrm>
          <a:prstGeom prst="roundRect">
            <a:avLst>
              <a:gd name="adj" fmla="val 5854"/>
            </a:avLst>
          </a:prstGeom>
          <a:solidFill>
            <a:schemeClr val="bg2"/>
          </a:solidFill>
          <a:ln/>
        </p:spPr>
      </p:sp>
      <p:sp>
        <p:nvSpPr>
          <p:cNvPr id="10" name="text_255"/>
          <p:cNvSpPr txBox="1"/>
          <p:nvPr/>
        </p:nvSpPr>
        <p:spPr>
          <a:xfrm>
            <a:off x="8229600" y="3886200"/>
            <a:ext cx="3139135" cy="640080"/>
          </a:xfrm>
          <a:prstGeom prst="rect">
            <a:avLst/>
          </a:prstGeom>
          <a:noFill/>
          <a:ln/>
        </p:spPr>
        <p:txBody>
          <a:bodyPr wrap="square" lIns="0" tIns="0" rIns="0" bIns="0" rtlCol="0" anchor="b"/>
          <a:lstStyle/>
          <a:p>
            <a:pPr indent="0" marL="0">
              <a:buNone/>
            </a:pPr>
            <a:r>
              <a:rPr lang="en-US" sz="3400" b="1" dirty="0">
                <a:solidFill>
                  <a:schemeClr val="tx1"/>
                </a:solidFill>
                <a:latin typeface="Arial" pitchFamily="34" charset="0"/>
                <a:ea typeface="Arial" pitchFamily="34" charset="-122"/>
                <a:cs typeface="Arial" pitchFamily="34" charset="-120"/>
              </a:rPr>
              <a:t>−6 to −8%</a:t>
            </a:r>
            <a:endParaRPr lang="en-US" sz="3400" dirty="0"/>
          </a:p>
        </p:txBody>
      </p:sp>
      <p:sp>
        <p:nvSpPr>
          <p:cNvPr id="11" name="text_256"/>
          <p:cNvSpPr txBox="1"/>
          <p:nvPr/>
        </p:nvSpPr>
        <p:spPr>
          <a:xfrm>
            <a:off x="8229600" y="4572000"/>
            <a:ext cx="3139135" cy="731520"/>
          </a:xfrm>
          <a:prstGeom prst="rect">
            <a:avLst/>
          </a:prstGeom>
          <a:noFill/>
          <a:ln/>
        </p:spPr>
        <p:txBody>
          <a:bodyPr wrap="square" lIns="0" tIns="0" rIns="0" bIns="0" rtlCol="0" anchor="t"/>
          <a:lstStyle/>
          <a:p>
            <a:pPr indent="0" marL="0">
              <a:buNone/>
            </a:pPr>
            <a:r>
              <a:rPr lang="en-US" sz="1250" dirty="0">
                <a:solidFill>
                  <a:schemeClr val="tx2"/>
                </a:solidFill>
              </a:rPr>
              <a:t>pickups in the buffer strip; parallel pre-trends (p = 0.86)</a:t>
            </a:r>
            <a:endParaRPr lang="en-US" sz="1250" dirty="0"/>
          </a:p>
        </p:txBody>
      </p:sp>
      <p:sp>
        <p:nvSpPr>
          <p:cNvPr id="12" name="text_257"/>
          <p:cNvSpPr txBox="1"/>
          <p:nvPr/>
        </p:nvSpPr>
        <p:spPr>
          <a:xfrm>
            <a:off x="548640" y="6053328"/>
            <a:ext cx="11094415" cy="274320"/>
          </a:xfrm>
          <a:prstGeom prst="rect">
            <a:avLst/>
          </a:prstGeom>
          <a:noFill/>
          <a:ln/>
        </p:spPr>
        <p:txBody>
          <a:bodyPr wrap="square" lIns="0" tIns="0" rIns="0" bIns="0" rtlCol="0" anchor="t"/>
          <a:lstStyle/>
          <a:p>
            <a:pPr indent="0" marL="0">
              <a:buNone/>
            </a:pPr>
            <a:r>
              <a:rPr lang="en-US" sz="1000" i="1" dirty="0">
                <a:solidFill>
                  <a:schemeClr val="accent3"/>
                </a:solidFill>
              </a:rPr>
              <a:t>ML forecast estimated for the charging zone only.</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kicker_258"/>
          <p:cNvSpPr/>
          <p:nvPr/>
        </p:nvSpPr>
        <p:spPr>
          <a:xfrm>
            <a:off x="548640" y="384048"/>
            <a:ext cx="1821485" cy="292608"/>
          </a:xfrm>
          <a:prstGeom prst="roundRect">
            <a:avLst>
              <a:gd name="adj" fmla="val 40625"/>
            </a:avLst>
          </a:prstGeom>
          <a:solidFill>
            <a:schemeClr val="accent1"/>
          </a:solidFill>
          <a:ln/>
        </p:spPr>
        <p:txBody>
          <a:bodyPr wrap="square" lIns="0" tIns="0" rIns="0" bIns="0" rtlCol="0" anchor="ctr"/>
          <a:lstStyle/>
          <a:p>
            <a:pPr algn="ctr" indent="0" marL="0">
              <a:buNone/>
            </a:pPr>
            <a:r>
              <a:rPr lang="en-US" sz="1050" b="1" spc="150" kern="0" dirty="0">
                <a:solidFill>
                  <a:schemeClr val="tx1"/>
                </a:solidFill>
              </a:rPr>
              <a:t>D · RQ4 · MECHANISM</a:t>
            </a:r>
            <a:endParaRPr lang="en-US" sz="1050" dirty="0"/>
          </a:p>
        </p:txBody>
      </p:sp>
      <p:sp>
        <p:nvSpPr>
          <p:cNvPr id="3" name="Text 1"/>
          <p:cNvSpPr/>
          <p:nvPr>
            <p:ph idx="101" type="title" hasCustomPrompt="1"/>
          </p:nvPr>
        </p:nvSpPr>
        <p:spPr>
          <a:xfrm>
            <a:off x="548640" y="868680"/>
            <a:ext cx="11094415" cy="77724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Speeds rose most when the toll was highest</a:t>
            </a:r>
            <a:endParaRPr lang="en-US" sz="3000" dirty="0"/>
          </a:p>
        </p:txBody>
      </p:sp>
      <p:graphicFrame>
        <p:nvGraphicFramePr>
          <p:cNvPr id="5" name="chart_mech" descr=""/>
          <p:cNvGraphicFramePr/>
          <p:nvPr/>
        </p:nvGraphicFramePr>
        <p:xfrm>
          <a:off x="548640" y="1737360"/>
          <a:ext cx="6583680" cy="4297680"/>
        </p:xfrm>
        <a:graphic xmlns:a="http://schemas.openxmlformats.org/drawingml/2006/main">
          <a:graphicData uri="http://schemas.openxmlformats.org/drawingml/2006/chart">
            <c:chart xmlns:c="http://schemas.openxmlformats.org/drawingml/2006/chart" r:id="rId1"/>
          </a:graphicData>
        </a:graphic>
      </p:graphicFrame>
      <p:sp>
        <p:nvSpPr>
          <p:cNvPr id="6" name="card_259"/>
          <p:cNvSpPr/>
          <p:nvPr/>
        </p:nvSpPr>
        <p:spPr>
          <a:xfrm>
            <a:off x="7589520" y="1783080"/>
            <a:ext cx="4053535" cy="1874520"/>
          </a:xfrm>
          <a:prstGeom prst="roundRect">
            <a:avLst>
              <a:gd name="adj" fmla="val 5854"/>
            </a:avLst>
          </a:prstGeom>
          <a:solidFill>
            <a:schemeClr val="tx1"/>
          </a:solidFill>
          <a:ln/>
        </p:spPr>
      </p:sp>
      <p:sp>
        <p:nvSpPr>
          <p:cNvPr id="7" name="text_260"/>
          <p:cNvSpPr txBox="1"/>
          <p:nvPr/>
        </p:nvSpPr>
        <p:spPr>
          <a:xfrm>
            <a:off x="7863840" y="1965960"/>
            <a:ext cx="3504895" cy="685800"/>
          </a:xfrm>
          <a:prstGeom prst="rect">
            <a:avLst/>
          </a:prstGeom>
          <a:noFill/>
          <a:ln/>
        </p:spPr>
        <p:txBody>
          <a:bodyPr wrap="square" lIns="0" tIns="0" rIns="0" bIns="0" rtlCol="0" anchor="ctr"/>
          <a:lstStyle/>
          <a:p>
            <a:pPr indent="0" marL="0">
              <a:buNone/>
            </a:pPr>
            <a:r>
              <a:rPr lang="en-US" sz="3600" b="1" dirty="0">
                <a:solidFill>
                  <a:schemeClr val="accent1"/>
                </a:solidFill>
                <a:latin typeface="Arial" pitchFamily="34" charset="0"/>
                <a:ea typeface="Arial" pitchFamily="34" charset="-122"/>
                <a:cs typeface="Arial" pitchFamily="34" charset="-120"/>
              </a:rPr>
              <a:t>+3.9 pp</a:t>
            </a:r>
            <a:endParaRPr lang="en-US" sz="3600" dirty="0"/>
          </a:p>
        </p:txBody>
      </p:sp>
      <p:sp>
        <p:nvSpPr>
          <p:cNvPr id="8" name="text_261"/>
          <p:cNvSpPr txBox="1"/>
          <p:nvPr/>
        </p:nvSpPr>
        <p:spPr>
          <a:xfrm>
            <a:off x="7863840" y="2697480"/>
            <a:ext cx="3504895" cy="822960"/>
          </a:xfrm>
          <a:prstGeom prst="rect">
            <a:avLst/>
          </a:prstGeom>
          <a:noFill/>
          <a:ln/>
        </p:spPr>
        <p:txBody>
          <a:bodyPr wrap="square" lIns="0" tIns="0" rIns="0" bIns="0" rtlCol="0" anchor="t"/>
          <a:lstStyle/>
          <a:p>
            <a:pPr indent="0" marL="0">
              <a:buNone/>
            </a:pPr>
            <a:r>
              <a:rPr lang="en-US" sz="1300" dirty="0">
                <a:solidFill>
                  <a:schemeClr val="bg1"/>
                </a:solidFill>
              </a:rPr>
              <a:t>peak − overnight, 2022–24 baseline</a:t>
            </a:r>
            <a:endParaRPr lang="en-US" sz="1300" dirty="0"/>
          </a:p>
          <a:p>
            <a:pPr indent="0" marL="0">
              <a:buNone/>
            </a:pPr>
            <a:r>
              <a:rPr lang="en-US" sz="1300" b="1" dirty="0">
                <a:solidFill>
                  <a:schemeClr val="bg1"/>
                </a:solidFill>
              </a:rPr>
              <a:t>p = 0.004 · placebo p = 0.45</a:t>
            </a:r>
            <a:endParaRPr lang="en-US" sz="1300" dirty="0"/>
          </a:p>
        </p:txBody>
      </p:sp>
      <p:sp>
        <p:nvSpPr>
          <p:cNvPr id="9" name="card_262"/>
          <p:cNvSpPr/>
          <p:nvPr/>
        </p:nvSpPr>
        <p:spPr>
          <a:xfrm>
            <a:off x="7589520" y="3886200"/>
            <a:ext cx="4053535" cy="1874520"/>
          </a:xfrm>
          <a:prstGeom prst="roundRect">
            <a:avLst>
              <a:gd name="adj" fmla="val 5854"/>
            </a:avLst>
          </a:prstGeom>
          <a:solidFill>
            <a:schemeClr val="bg2"/>
          </a:solidFill>
          <a:ln/>
        </p:spPr>
      </p:sp>
      <p:sp>
        <p:nvSpPr>
          <p:cNvPr id="10" name="text_263"/>
          <p:cNvSpPr txBox="1"/>
          <p:nvPr/>
        </p:nvSpPr>
        <p:spPr>
          <a:xfrm>
            <a:off x="7863840" y="4069080"/>
            <a:ext cx="3504895" cy="685800"/>
          </a:xfrm>
          <a:prstGeom prst="rect">
            <a:avLst/>
          </a:prstGeom>
          <a:noFill/>
          <a:ln/>
        </p:spPr>
        <p:txBody>
          <a:bodyPr wrap="square" lIns="0" tIns="0" rIns="0" bIns="0" rtlCol="0" anchor="ctr"/>
          <a:lstStyle/>
          <a:p>
            <a:pPr indent="0" marL="0">
              <a:buNone/>
            </a:pPr>
            <a:r>
              <a:rPr lang="en-US" sz="3600" b="1" dirty="0">
                <a:solidFill>
                  <a:schemeClr val="tx1"/>
                </a:solidFill>
                <a:latin typeface="Arial" pitchFamily="34" charset="0"/>
                <a:ea typeface="Arial" pitchFamily="34" charset="-122"/>
                <a:cs typeface="Arial" pitchFamily="34" charset="-120"/>
              </a:rPr>
              <a:t>+4.5 pp</a:t>
            </a:r>
            <a:endParaRPr lang="en-US" sz="3600" dirty="0"/>
          </a:p>
        </p:txBody>
      </p:sp>
      <p:sp>
        <p:nvSpPr>
          <p:cNvPr id="11" name="text_264"/>
          <p:cNvSpPr txBox="1"/>
          <p:nvPr/>
        </p:nvSpPr>
        <p:spPr>
          <a:xfrm>
            <a:off x="7863840" y="4800600"/>
            <a:ext cx="3504895" cy="822960"/>
          </a:xfrm>
          <a:prstGeom prst="rect">
            <a:avLst/>
          </a:prstGeom>
          <a:noFill/>
          <a:ln/>
        </p:spPr>
        <p:txBody>
          <a:bodyPr wrap="square" lIns="0" tIns="0" rIns="0" bIns="0" rtlCol="0" anchor="t"/>
          <a:lstStyle/>
          <a:p>
            <a:pPr indent="0" marL="0">
              <a:buNone/>
            </a:pPr>
            <a:r>
              <a:rPr lang="en-US" sz="1300" dirty="0">
                <a:solidFill>
                  <a:schemeClr val="tx2"/>
                </a:solidFill>
              </a:rPr>
              <a:t>peak − overnight, 2023–24 baseline</a:t>
            </a:r>
            <a:endParaRPr lang="en-US" sz="1300" dirty="0"/>
          </a:p>
          <a:p>
            <a:pPr indent="0" marL="0">
              <a:buNone/>
            </a:pPr>
            <a:r>
              <a:rPr lang="en-US" sz="1300" b="1" dirty="0">
                <a:solidFill>
                  <a:schemeClr val="tx2"/>
                </a:solidFill>
              </a:rPr>
              <a:t>p = 0.014 · placebo p = 0.34</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kicker_265"/>
          <p:cNvSpPr/>
          <p:nvPr/>
        </p:nvSpPr>
        <p:spPr>
          <a:xfrm>
            <a:off x="548640" y="384048"/>
            <a:ext cx="2062886" cy="292608"/>
          </a:xfrm>
          <a:prstGeom prst="roundRect">
            <a:avLst>
              <a:gd name="adj" fmla="val 40625"/>
            </a:avLst>
          </a:prstGeom>
          <a:solidFill>
            <a:schemeClr val="accent1"/>
          </a:solidFill>
          <a:ln/>
        </p:spPr>
        <p:txBody>
          <a:bodyPr wrap="square" lIns="0" tIns="0" rIns="0" bIns="0" rtlCol="0" anchor="ctr"/>
          <a:lstStyle/>
          <a:p>
            <a:pPr algn="ctr" indent="0" marL="0">
              <a:buNone/>
            </a:pPr>
            <a:r>
              <a:rPr lang="en-US" sz="1050" b="1" spc="150" kern="0" dirty="0">
                <a:solidFill>
                  <a:schemeClr val="tx1"/>
                </a:solidFill>
              </a:rPr>
              <a:t>D · RQ4 · HOUR BY HOUR</a:t>
            </a:r>
            <a:endParaRPr lang="en-US" sz="1050" dirty="0"/>
          </a:p>
        </p:txBody>
      </p:sp>
      <p:sp>
        <p:nvSpPr>
          <p:cNvPr id="3" name="Text 1"/>
          <p:cNvSpPr/>
          <p:nvPr>
            <p:ph idx="101" type="title" hasCustomPrompt="1"/>
          </p:nvPr>
        </p:nvSpPr>
        <p:spPr>
          <a:xfrm>
            <a:off x="548640" y="868680"/>
            <a:ext cx="11094415" cy="77724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With hour-specific trends, gains peak in the afternoon rush</a:t>
            </a:r>
            <a:endParaRPr lang="en-US" sz="3000" dirty="0"/>
          </a:p>
        </p:txBody>
      </p:sp>
      <p:pic>
        <p:nvPicPr>
          <p:cNvPr id="5" name="chart_img_266" descr="Weekday speed effect by hour, without trends">    </p:cNvPr>
          <p:cNvPicPr>
            <a:picLocks noChangeAspect="1"/>
          </p:cNvPicPr>
          <p:nvPr/>
        </p:nvPicPr>
        <p:blipFill>
          <a:blip r:embed="rId1"/>
          <a:stretch>
            <a:fillRect/>
          </a:stretch>
        </p:blipFill>
        <p:spPr>
          <a:xfrm>
            <a:off x="548640" y="1691640"/>
            <a:ext cx="4053568" cy="2683612"/>
          </a:xfrm>
          <a:prstGeom prst="rect">
            <a:avLst/>
          </a:prstGeom>
        </p:spPr>
      </p:pic>
      <p:pic>
        <p:nvPicPr>
          <p:cNvPr id="6" name="chart_img_267" descr="Weekday speed effect by hour with hour-specific pre-trends, 2023–24 baseline">    </p:cNvPr>
          <p:cNvPicPr>
            <a:picLocks noChangeAspect="1"/>
          </p:cNvPicPr>
          <p:nvPr/>
        </p:nvPicPr>
        <p:blipFill>
          <a:blip r:embed="rId2"/>
          <a:stretch>
            <a:fillRect/>
          </a:stretch>
        </p:blipFill>
        <p:spPr>
          <a:xfrm>
            <a:off x="4830808" y="1691640"/>
            <a:ext cx="6812247" cy="2683612"/>
          </a:xfrm>
          <a:prstGeom prst="rect">
            <a:avLst/>
          </a:prstGeom>
        </p:spPr>
      </p:pic>
      <p:sp>
        <p:nvSpPr>
          <p:cNvPr id="7" name="card_268"/>
          <p:cNvSpPr/>
          <p:nvPr/>
        </p:nvSpPr>
        <p:spPr>
          <a:xfrm>
            <a:off x="548640" y="4558132"/>
            <a:ext cx="11094415" cy="1476908"/>
          </a:xfrm>
          <a:prstGeom prst="roundRect">
            <a:avLst>
              <a:gd name="adj" fmla="val 7430"/>
            </a:avLst>
          </a:prstGeom>
          <a:solidFill>
            <a:schemeClr val="bg2"/>
          </a:solidFill>
          <a:ln/>
        </p:spPr>
      </p:sp>
      <p:sp>
        <p:nvSpPr>
          <p:cNvPr id="8" name="text_269"/>
          <p:cNvSpPr txBox="1"/>
          <p:nvPr/>
        </p:nvSpPr>
        <p:spPr>
          <a:xfrm>
            <a:off x="822960" y="4741012"/>
            <a:ext cx="2743200" cy="274320"/>
          </a:xfrm>
          <a:prstGeom prst="rect">
            <a:avLst/>
          </a:prstGeom>
          <a:noFill/>
          <a:ln/>
        </p:spPr>
        <p:txBody>
          <a:bodyPr wrap="square" lIns="0" tIns="0" rIns="0" bIns="0" rtlCol="0" anchor="t"/>
          <a:lstStyle/>
          <a:p>
            <a:pPr indent="0" marL="0">
              <a:buNone/>
            </a:pPr>
            <a:r>
              <a:rPr lang="en-US" sz="1100" b="1" spc="150" kern="0" dirty="0">
                <a:solidFill>
                  <a:schemeClr val="accent4"/>
                </a:solidFill>
              </a:rPr>
              <a:t>WHAT WE DERIVE</a:t>
            </a:r>
            <a:endParaRPr lang="en-US" sz="1100" dirty="0"/>
          </a:p>
        </p:txBody>
      </p:sp>
      <p:sp>
        <p:nvSpPr>
          <p:cNvPr id="9" name="num_270"/>
          <p:cNvSpPr/>
          <p:nvPr/>
        </p:nvSpPr>
        <p:spPr>
          <a:xfrm>
            <a:off x="822960" y="5106772"/>
            <a:ext cx="310896" cy="310896"/>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10" name="text_271"/>
          <p:cNvSpPr txBox="1"/>
          <p:nvPr/>
        </p:nvSpPr>
        <p:spPr>
          <a:xfrm>
            <a:off x="1261872" y="5033620"/>
            <a:ext cx="2920898" cy="928268"/>
          </a:xfrm>
          <a:prstGeom prst="rect">
            <a:avLst/>
          </a:prstGeom>
          <a:noFill/>
          <a:ln/>
        </p:spPr>
        <p:txBody>
          <a:bodyPr wrap="square" lIns="0" tIns="0" rIns="0" bIns="0" rtlCol="0" anchor="t"/>
          <a:lstStyle/>
          <a:p>
            <a:pPr indent="0" marL="0">
              <a:buNone/>
            </a:pPr>
            <a:r>
              <a:rPr lang="en-US" sz="1200" dirty="0">
                <a:solidFill>
                  <a:schemeClr val="tx2"/>
                </a:solidFill>
              </a:rPr>
              <a:t>Left, no trends: gains appear only overnight, because toll hours had been slowing faster before the toll.</a:t>
            </a:r>
            <a:endParaRPr lang="en-US" sz="1200" dirty="0"/>
          </a:p>
        </p:txBody>
      </p:sp>
      <p:sp>
        <p:nvSpPr>
          <p:cNvPr id="11" name="num_272"/>
          <p:cNvSpPr/>
          <p:nvPr/>
        </p:nvSpPr>
        <p:spPr>
          <a:xfrm>
            <a:off x="4429658" y="5106772"/>
            <a:ext cx="310896" cy="310896"/>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2" name="text_273"/>
          <p:cNvSpPr txBox="1"/>
          <p:nvPr/>
        </p:nvSpPr>
        <p:spPr>
          <a:xfrm>
            <a:off x="4868570" y="5033620"/>
            <a:ext cx="2920898" cy="928268"/>
          </a:xfrm>
          <a:prstGeom prst="rect">
            <a:avLst/>
          </a:prstGeom>
          <a:noFill/>
          <a:ln/>
        </p:spPr>
        <p:txBody>
          <a:bodyPr wrap="square" lIns="0" tIns="0" rIns="0" bIns="0" rtlCol="0" anchor="t"/>
          <a:lstStyle/>
          <a:p>
            <a:pPr indent="0" marL="0">
              <a:buNone/>
            </a:pPr>
            <a:r>
              <a:rPr lang="en-US" sz="1200" dirty="0">
                <a:solidFill>
                  <a:schemeClr val="tx2"/>
                </a:solidFill>
              </a:rPr>
              <a:t>Right, hour-specific trends: the effect rises through the toll period to about +10–13% at 3–5 pm.</a:t>
            </a:r>
            <a:endParaRPr lang="en-US" sz="1200" dirty="0"/>
          </a:p>
        </p:txBody>
      </p:sp>
      <p:sp>
        <p:nvSpPr>
          <p:cNvPr id="13" name="num_274"/>
          <p:cNvSpPr/>
          <p:nvPr/>
        </p:nvSpPr>
        <p:spPr>
          <a:xfrm>
            <a:off x="8036357" y="5106772"/>
            <a:ext cx="310896" cy="310896"/>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4" name="text_275"/>
          <p:cNvSpPr txBox="1"/>
          <p:nvPr/>
        </p:nvSpPr>
        <p:spPr>
          <a:xfrm>
            <a:off x="8475269" y="5033620"/>
            <a:ext cx="2920898" cy="928268"/>
          </a:xfrm>
          <a:prstGeom prst="rect">
            <a:avLst/>
          </a:prstGeom>
          <a:noFill/>
          <a:ln/>
        </p:spPr>
        <p:txBody>
          <a:bodyPr wrap="square" lIns="0" tIns="0" rIns="0" bIns="0" rtlCol="0" anchor="t"/>
          <a:lstStyle/>
          <a:p>
            <a:pPr indent="0" marL="0">
              <a:buNone/>
            </a:pPr>
            <a:r>
              <a:rPr lang="en-US" sz="1200" dirty="0">
                <a:solidFill>
                  <a:schemeClr val="tx2"/>
                </a:solidFill>
              </a:rPr>
              <a:t>Outside toll hours effects are small or negative, matching the toll schedule: the clearest picture of the mechanism.</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kicker_276"/>
          <p:cNvSpPr/>
          <p:nvPr/>
        </p:nvSpPr>
        <p:spPr>
          <a:xfrm>
            <a:off x="548640" y="384048"/>
            <a:ext cx="2867558" cy="292608"/>
          </a:xfrm>
          <a:prstGeom prst="roundRect">
            <a:avLst>
              <a:gd name="adj" fmla="val 40625"/>
            </a:avLst>
          </a:prstGeom>
          <a:solidFill>
            <a:schemeClr val="accent1"/>
          </a:solidFill>
          <a:ln/>
        </p:spPr>
        <p:txBody>
          <a:bodyPr wrap="square" lIns="0" tIns="0" rIns="0" bIns="0" rtlCol="0" anchor="ctr"/>
          <a:lstStyle/>
          <a:p>
            <a:pPr algn="ctr" indent="0" marL="0">
              <a:buNone/>
            </a:pPr>
            <a:r>
              <a:rPr lang="en-US" sz="1050" b="1" spc="150" kern="0" dirty="0">
                <a:solidFill>
                  <a:schemeClr val="tx1"/>
                </a:solidFill>
              </a:rPr>
              <a:t>D · RQ4 · KINDS OF NEIGHBOURHOOD</a:t>
            </a:r>
            <a:endParaRPr lang="en-US" sz="1050" dirty="0"/>
          </a:p>
        </p:txBody>
      </p:sp>
      <p:sp>
        <p:nvSpPr>
          <p:cNvPr id="3" name="Text 1"/>
          <p:cNvSpPr/>
          <p:nvPr>
            <p:ph idx="101" type="title" hasCustomPrompt="1"/>
          </p:nvPr>
        </p:nvSpPr>
        <p:spPr>
          <a:xfrm>
            <a:off x="548640" y="868680"/>
            <a:ext cx="11094415" cy="77724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Four kinds of taxi neighbourhood, each with its own rhythm</a:t>
            </a:r>
            <a:endParaRPr lang="en-US" sz="3000" dirty="0"/>
          </a:p>
        </p:txBody>
      </p:sp>
      <p:sp>
        <p:nvSpPr>
          <p:cNvPr id="5" name="card_277"/>
          <p:cNvSpPr/>
          <p:nvPr/>
        </p:nvSpPr>
        <p:spPr>
          <a:xfrm>
            <a:off x="548640" y="1664208"/>
            <a:ext cx="2613584" cy="1874520"/>
          </a:xfrm>
          <a:prstGeom prst="roundRect">
            <a:avLst>
              <a:gd name="adj" fmla="val 5854"/>
            </a:avLst>
          </a:prstGeom>
          <a:solidFill>
            <a:schemeClr val="bg2"/>
          </a:solidFill>
          <a:ln/>
        </p:spPr>
      </p:sp>
      <p:sp>
        <p:nvSpPr>
          <p:cNvPr id="6" name="num_278"/>
          <p:cNvSpPr/>
          <p:nvPr/>
        </p:nvSpPr>
        <p:spPr>
          <a:xfrm>
            <a:off x="731520" y="1847088"/>
            <a:ext cx="310896" cy="310896"/>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7" name="text_279"/>
          <p:cNvSpPr txBox="1"/>
          <p:nvPr/>
        </p:nvSpPr>
        <p:spPr>
          <a:xfrm>
            <a:off x="731520" y="2231136"/>
            <a:ext cx="2293544" cy="1234440"/>
          </a:xfrm>
          <a:prstGeom prst="rect">
            <a:avLst/>
          </a:prstGeom>
          <a:noFill/>
          <a:ln/>
        </p:spPr>
        <p:txBody>
          <a:bodyPr wrap="square" lIns="0" tIns="0" rIns="0" bIns="0" rtlCol="0" anchor="t"/>
          <a:lstStyle/>
          <a:p>
            <a:pPr indent="0" marL="0">
              <a:buNone/>
            </a:pPr>
            <a:r>
              <a:rPr lang="en-US" sz="1500" b="1" dirty="0">
                <a:solidFill>
                  <a:schemeClr val="tx1"/>
                </a:solidFill>
              </a:rPr>
              <a:t>Nightlife</a:t>
            </a:r>
            <a:endParaRPr lang="en-US" sz="1400" dirty="0"/>
          </a:p>
          <a:p>
            <a:pPr indent="0" marL="0">
              <a:buNone/>
            </a:pPr>
            <a:r>
              <a:rPr lang="en-US" sz="1150" b="1" dirty="0">
                <a:solidFill>
                  <a:schemeClr val="accent4"/>
                </a:solidFill>
              </a:rPr>
              <a:t>17 zones · 162 pickups/day</a:t>
            </a:r>
            <a:endParaRPr lang="en-US" sz="1400" dirty="0"/>
          </a:p>
          <a:p>
            <a:pPr indent="0" marL="0">
              <a:buNone/>
            </a:pPr>
            <a:r>
              <a:rPr lang="en-US" sz="1150" dirty="0">
                <a:solidFill>
                  <a:schemeClr val="tx2"/>
                </a:solidFill>
              </a:rPr>
              <a:t>48% of trips at night</a:t>
            </a:r>
            <a:endParaRPr lang="en-US" sz="1400" dirty="0"/>
          </a:p>
        </p:txBody>
      </p:sp>
      <p:sp>
        <p:nvSpPr>
          <p:cNvPr id="8" name="card_280"/>
          <p:cNvSpPr/>
          <p:nvPr/>
        </p:nvSpPr>
        <p:spPr>
          <a:xfrm>
            <a:off x="3345104" y="1664208"/>
            <a:ext cx="2613584" cy="1874520"/>
          </a:xfrm>
          <a:prstGeom prst="roundRect">
            <a:avLst>
              <a:gd name="adj" fmla="val 5854"/>
            </a:avLst>
          </a:prstGeom>
          <a:solidFill>
            <a:schemeClr val="bg2"/>
          </a:solidFill>
          <a:ln/>
        </p:spPr>
      </p:sp>
      <p:sp>
        <p:nvSpPr>
          <p:cNvPr id="9" name="num_281"/>
          <p:cNvSpPr/>
          <p:nvPr/>
        </p:nvSpPr>
        <p:spPr>
          <a:xfrm>
            <a:off x="3527984" y="1847088"/>
            <a:ext cx="310896" cy="310896"/>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0" name="text_282"/>
          <p:cNvSpPr txBox="1"/>
          <p:nvPr/>
        </p:nvSpPr>
        <p:spPr>
          <a:xfrm>
            <a:off x="3527984" y="2231136"/>
            <a:ext cx="2293544" cy="1234440"/>
          </a:xfrm>
          <a:prstGeom prst="rect">
            <a:avLst/>
          </a:prstGeom>
          <a:noFill/>
          <a:ln/>
        </p:spPr>
        <p:txBody>
          <a:bodyPr wrap="square" lIns="0" tIns="0" rIns="0" bIns="0" rtlCol="0" anchor="t"/>
          <a:lstStyle/>
          <a:p>
            <a:pPr indent="0" marL="0">
              <a:buNone/>
            </a:pPr>
            <a:r>
              <a:rPr lang="en-US" sz="1500" b="1" dirty="0">
                <a:solidFill>
                  <a:schemeClr val="tx1"/>
                </a:solidFill>
              </a:rPr>
              <a:t>Residential</a:t>
            </a:r>
            <a:endParaRPr lang="en-US" sz="1400" dirty="0"/>
          </a:p>
          <a:p>
            <a:pPr indent="0" marL="0">
              <a:buNone/>
            </a:pPr>
            <a:r>
              <a:rPr lang="en-US" sz="1150" b="1" dirty="0">
                <a:solidFill>
                  <a:schemeClr val="accent4"/>
                </a:solidFill>
              </a:rPr>
              <a:t>13 zones · 30 pickups/day</a:t>
            </a:r>
            <a:endParaRPr lang="en-US" sz="1400" dirty="0"/>
          </a:p>
          <a:p>
            <a:pPr indent="0" marL="0">
              <a:buNone/>
            </a:pPr>
            <a:r>
              <a:rPr lang="en-US" sz="1150" dirty="0">
                <a:solidFill>
                  <a:schemeClr val="tx2"/>
                </a:solidFill>
              </a:rPr>
              <a:t>23% at 7–10 am</a:t>
            </a:r>
            <a:endParaRPr lang="en-US" sz="1400" dirty="0"/>
          </a:p>
        </p:txBody>
      </p:sp>
      <p:sp>
        <p:nvSpPr>
          <p:cNvPr id="11" name="card_283"/>
          <p:cNvSpPr/>
          <p:nvPr/>
        </p:nvSpPr>
        <p:spPr>
          <a:xfrm>
            <a:off x="548640" y="3721608"/>
            <a:ext cx="2613584" cy="1874520"/>
          </a:xfrm>
          <a:prstGeom prst="roundRect">
            <a:avLst>
              <a:gd name="adj" fmla="val 5854"/>
            </a:avLst>
          </a:prstGeom>
          <a:solidFill>
            <a:schemeClr val="bg2"/>
          </a:solidFill>
          <a:ln/>
        </p:spPr>
      </p:sp>
      <p:sp>
        <p:nvSpPr>
          <p:cNvPr id="12" name="num_284"/>
          <p:cNvSpPr/>
          <p:nvPr/>
        </p:nvSpPr>
        <p:spPr>
          <a:xfrm>
            <a:off x="731520" y="3904488"/>
            <a:ext cx="310896" cy="310896"/>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3" name="text_285"/>
          <p:cNvSpPr txBox="1"/>
          <p:nvPr/>
        </p:nvSpPr>
        <p:spPr>
          <a:xfrm>
            <a:off x="731520" y="4288536"/>
            <a:ext cx="2293544" cy="1234440"/>
          </a:xfrm>
          <a:prstGeom prst="rect">
            <a:avLst/>
          </a:prstGeom>
          <a:noFill/>
          <a:ln/>
        </p:spPr>
        <p:txBody>
          <a:bodyPr wrap="square" lIns="0" tIns="0" rIns="0" bIns="0" rtlCol="0" anchor="t"/>
          <a:lstStyle/>
          <a:p>
            <a:pPr indent="0" marL="0">
              <a:buNone/>
            </a:pPr>
            <a:r>
              <a:rPr lang="en-US" sz="1500" b="1" dirty="0">
                <a:solidFill>
                  <a:schemeClr val="tx1"/>
                </a:solidFill>
              </a:rPr>
              <a:t>Airports and edges</a:t>
            </a:r>
            <a:endParaRPr lang="en-US" sz="1400" dirty="0"/>
          </a:p>
          <a:p>
            <a:pPr indent="0" marL="0">
              <a:buNone/>
            </a:pPr>
            <a:r>
              <a:rPr lang="en-US" sz="1150" b="1" dirty="0">
                <a:solidFill>
                  <a:schemeClr val="accent4"/>
                </a:solidFill>
              </a:rPr>
              <a:t>28 zones · 34 pickups/day</a:t>
            </a:r>
            <a:endParaRPr lang="en-US" sz="1400" dirty="0"/>
          </a:p>
          <a:p>
            <a:pPr indent="0" marL="0">
              <a:buNone/>
            </a:pPr>
            <a:r>
              <a:rPr lang="en-US" sz="1150" dirty="0">
                <a:solidFill>
                  <a:schemeClr val="tx2"/>
                </a:solidFill>
              </a:rPr>
              <a:t>6.1 mi, 14 mph trips</a:t>
            </a:r>
            <a:endParaRPr lang="en-US" sz="1400" dirty="0"/>
          </a:p>
        </p:txBody>
      </p:sp>
      <p:sp>
        <p:nvSpPr>
          <p:cNvPr id="14" name="card_286"/>
          <p:cNvSpPr/>
          <p:nvPr/>
        </p:nvSpPr>
        <p:spPr>
          <a:xfrm>
            <a:off x="3345104" y="3721608"/>
            <a:ext cx="2613584" cy="1874520"/>
          </a:xfrm>
          <a:prstGeom prst="roundRect">
            <a:avLst>
              <a:gd name="adj" fmla="val 5854"/>
            </a:avLst>
          </a:prstGeom>
          <a:solidFill>
            <a:schemeClr val="tx1"/>
          </a:solidFill>
          <a:ln/>
        </p:spPr>
      </p:sp>
      <p:sp>
        <p:nvSpPr>
          <p:cNvPr id="15" name="num_287"/>
          <p:cNvSpPr/>
          <p:nvPr/>
        </p:nvSpPr>
        <p:spPr>
          <a:xfrm>
            <a:off x="3527984" y="3904488"/>
            <a:ext cx="310896" cy="310896"/>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16" name="text_288"/>
          <p:cNvSpPr txBox="1"/>
          <p:nvPr/>
        </p:nvSpPr>
        <p:spPr>
          <a:xfrm>
            <a:off x="3527984" y="4288536"/>
            <a:ext cx="2293544" cy="1234440"/>
          </a:xfrm>
          <a:prstGeom prst="rect">
            <a:avLst/>
          </a:prstGeom>
          <a:noFill/>
          <a:ln/>
        </p:spPr>
        <p:txBody>
          <a:bodyPr wrap="square" lIns="0" tIns="0" rIns="0" bIns="0" rtlCol="0" anchor="t"/>
          <a:lstStyle/>
          <a:p>
            <a:pPr indent="0" marL="0">
              <a:buNone/>
            </a:pPr>
            <a:r>
              <a:rPr lang="en-US" sz="1500" b="1" dirty="0">
                <a:solidFill>
                  <a:schemeClr val="bg1"/>
                </a:solidFill>
              </a:rPr>
              <a:t>Manhattan core</a:t>
            </a:r>
            <a:endParaRPr lang="en-US" sz="1400" dirty="0"/>
          </a:p>
          <a:p>
            <a:pPr indent="0" marL="0">
              <a:buNone/>
            </a:pPr>
            <a:r>
              <a:rPr lang="en-US" sz="1150" b="1" dirty="0">
                <a:solidFill>
                  <a:schemeClr val="accent1"/>
                </a:solidFill>
              </a:rPr>
              <a:t>52 zones · 1,471 pickups/day</a:t>
            </a:r>
            <a:endParaRPr lang="en-US" sz="1400" dirty="0"/>
          </a:p>
          <a:p>
            <a:pPr indent="0" marL="0">
              <a:buNone/>
            </a:pPr>
            <a:r>
              <a:rPr lang="en-US" sz="1150" dirty="0">
                <a:solidFill>
                  <a:schemeClr val="bg1"/>
                </a:solidFill>
              </a:rPr>
              <a:t>20% at 4–8 pm; 28 in the zone</a:t>
            </a:r>
            <a:endParaRPr lang="en-US" sz="1400" dirty="0"/>
          </a:p>
        </p:txBody>
      </p:sp>
      <p:sp>
        <p:nvSpPr>
          <p:cNvPr id="17" name="text_289"/>
          <p:cNvSpPr txBox="1"/>
          <p:nvPr/>
        </p:nvSpPr>
        <p:spPr>
          <a:xfrm>
            <a:off x="548640" y="5650992"/>
            <a:ext cx="5410048" cy="493776"/>
          </a:xfrm>
          <a:prstGeom prst="rect">
            <a:avLst/>
          </a:prstGeom>
          <a:noFill/>
          <a:ln/>
        </p:spPr>
        <p:txBody>
          <a:bodyPr wrap="square" lIns="0" tIns="0" rIns="0" bIns="0" rtlCol="0" anchor="t"/>
          <a:lstStyle/>
          <a:p>
            <a:pPr indent="0" marL="0">
              <a:buNone/>
            </a:pPr>
            <a:r>
              <a:rPr lang="en-US" sz="1200" b="1" dirty="0">
                <a:solidFill>
                  <a:schemeClr val="tx1"/>
                </a:solidFill>
              </a:rPr>
              <a:t>k-means, k = 4.  </a:t>
            </a:r>
            <a:pPr indent="0" marL="0">
              <a:buNone/>
            </a:pPr>
            <a:r>
              <a:rPr lang="en-US" sz="1200" dirty="0">
                <a:solidFill>
                  <a:schemeClr val="tx2"/>
                </a:solidFill>
              </a:rPr>
              <a:t>Clusters from 2024 hourly profiles, volume, trip length, speed and airport share (silhouette 0.32).</a:t>
            </a:r>
            <a:endParaRPr lang="en-US" sz="1200" dirty="0"/>
          </a:p>
        </p:txBody>
      </p:sp>
      <p:pic>
        <p:nvPicPr>
          <p:cNvPr id="18" name="chart_img_290" descr="Weekday demand profile by cluster and zone map by cluster">    </p:cNvPr>
          <p:cNvPicPr>
            <a:picLocks noChangeAspect="1"/>
          </p:cNvPicPr>
          <p:nvPr/>
        </p:nvPicPr>
        <p:blipFill>
          <a:blip r:embed="rId1"/>
          <a:stretch>
            <a:fillRect/>
          </a:stretch>
        </p:blipFill>
        <p:spPr>
          <a:xfrm>
            <a:off x="6233008" y="1664208"/>
            <a:ext cx="5410048" cy="2187589"/>
          </a:xfrm>
          <a:prstGeom prst="rect">
            <a:avLst/>
          </a:prstGeom>
        </p:spPr>
      </p:pic>
      <p:sp>
        <p:nvSpPr>
          <p:cNvPr id="19" name="text_291"/>
          <p:cNvSpPr txBox="1"/>
          <p:nvPr/>
        </p:nvSpPr>
        <p:spPr>
          <a:xfrm>
            <a:off x="6233008" y="3906661"/>
            <a:ext cx="5410048" cy="2238107"/>
          </a:xfrm>
          <a:prstGeom prst="rect">
            <a:avLst/>
          </a:prstGeom>
          <a:noFill/>
          <a:ln/>
        </p:spPr>
        <p:txBody>
          <a:bodyPr wrap="square" lIns="0" tIns="0" rIns="0" bIns="0" rtlCol="0" anchor="t"/>
          <a:lstStyle/>
          <a:p>
            <a:pPr indent="0" marL="0">
              <a:buNone/>
            </a:pPr>
            <a:r>
              <a:rPr lang="en-US" sz="1200" b="1" dirty="0">
                <a:solidFill>
                  <a:schemeClr val="tx1"/>
                </a:solidFill>
              </a:rPr>
              <a:t>Daily rhythm and map.  </a:t>
            </a:r>
            <a:pPr indent="0" marL="0">
              <a:buNone/>
            </a:pPr>
            <a:r>
              <a:rPr lang="en-US" sz="1200" dirty="0">
                <a:solidFill>
                  <a:schemeClr val="tx2"/>
                </a:solidFill>
              </a:rPr>
              <a:t>Residential zones peak at 7–8 am, nightlife after 9 pm; the core peaks in the evening rush, the $9 toll hours.</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kicker_292"/>
          <p:cNvSpPr/>
          <p:nvPr/>
        </p:nvSpPr>
        <p:spPr>
          <a:xfrm>
            <a:off x="548640" y="384048"/>
            <a:ext cx="2143354" cy="292608"/>
          </a:xfrm>
          <a:prstGeom prst="roundRect">
            <a:avLst>
              <a:gd name="adj" fmla="val 40625"/>
            </a:avLst>
          </a:prstGeom>
          <a:solidFill>
            <a:schemeClr val="accent1"/>
          </a:solidFill>
          <a:ln/>
        </p:spPr>
        <p:txBody>
          <a:bodyPr wrap="square" lIns="0" tIns="0" rIns="0" bIns="0" rtlCol="0" anchor="ctr"/>
          <a:lstStyle/>
          <a:p>
            <a:pPr algn="ctr" indent="0" marL="0">
              <a:buNone/>
            </a:pPr>
            <a:r>
              <a:rPr lang="en-US" sz="1050" b="1" spc="150" kern="0" dirty="0">
                <a:solidFill>
                  <a:schemeClr val="tx1"/>
                </a:solidFill>
              </a:rPr>
              <a:t>D · RQ2 · FARE INCREASE</a:t>
            </a:r>
            <a:endParaRPr lang="en-US" sz="1050" dirty="0"/>
          </a:p>
        </p:txBody>
      </p:sp>
      <p:sp>
        <p:nvSpPr>
          <p:cNvPr id="3" name="Text 1"/>
          <p:cNvSpPr/>
          <p:nvPr>
            <p:ph idx="101" type="title" hasCustomPrompt="1"/>
          </p:nvPr>
        </p:nvSpPr>
        <p:spPr>
          <a:xfrm>
            <a:off x="548640" y="868680"/>
            <a:ext cx="11094415" cy="77724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Higher fares did not measurably cut taxi demand</a:t>
            </a:r>
            <a:endParaRPr lang="en-US" sz="3000" dirty="0"/>
          </a:p>
        </p:txBody>
      </p:sp>
      <p:graphicFrame>
        <p:nvGraphicFramePr>
          <p:cNvPr id="5" name="chart_fares" descr=""/>
          <p:cNvGraphicFramePr/>
          <p:nvPr/>
        </p:nvGraphicFramePr>
        <p:xfrm>
          <a:off x="548640" y="1691640"/>
          <a:ext cx="5120640" cy="3291840"/>
        </p:xfrm>
        <a:graphic xmlns:a="http://schemas.openxmlformats.org/drawingml/2006/main">
          <a:graphicData uri="http://schemas.openxmlformats.org/drawingml/2006/chart">
            <c:chart xmlns:c="http://schemas.openxmlformats.org/drawingml/2006/chart" r:id="rId1"/>
          </a:graphicData>
        </a:graphic>
      </p:graphicFrame>
      <p:pic>
        <p:nvPicPr>
          <p:cNvPr id="6" name="chart_img_293" descr="Scatter of net fare increase against net change in trips for 19 trip segments">    </p:cNvPr>
          <p:cNvPicPr>
            <a:picLocks noChangeAspect="1"/>
          </p:cNvPicPr>
          <p:nvPr/>
        </p:nvPicPr>
        <p:blipFill>
          <a:blip r:embed="rId2"/>
          <a:stretch>
            <a:fillRect/>
          </a:stretch>
        </p:blipFill>
        <p:spPr>
          <a:xfrm>
            <a:off x="6350413" y="1691640"/>
            <a:ext cx="5292642" cy="3291840"/>
          </a:xfrm>
          <a:prstGeom prst="rect">
            <a:avLst/>
          </a:prstGeom>
        </p:spPr>
      </p:pic>
      <p:sp>
        <p:nvSpPr>
          <p:cNvPr id="7" name="text_294"/>
          <p:cNvSpPr txBox="1"/>
          <p:nvPr/>
        </p:nvSpPr>
        <p:spPr>
          <a:xfrm>
            <a:off x="548640" y="5074920"/>
            <a:ext cx="5120640" cy="685800"/>
          </a:xfrm>
          <a:prstGeom prst="rect">
            <a:avLst/>
          </a:prstGeom>
          <a:noFill/>
          <a:ln/>
        </p:spPr>
        <p:txBody>
          <a:bodyPr wrap="square" lIns="0" tIns="0" rIns="0" bIns="0" rtlCol="0" anchor="t"/>
          <a:lstStyle/>
          <a:p>
            <a:pPr indent="0" marL="0">
              <a:buNone/>
            </a:pPr>
            <a:r>
              <a:rPr lang="en-US" sz="1200" b="1" dirty="0">
                <a:solidFill>
                  <a:schemeClr val="tx1"/>
                </a:solidFill>
              </a:rPr>
              <a:t>Raw changes.  </a:t>
            </a:r>
            <a:pPr indent="0" marL="0">
              <a:buNone/>
            </a:pPr>
            <a:r>
              <a:rPr lang="en-US" sz="1200" dirty="0">
                <a:solidFill>
                  <a:schemeClr val="tx2"/>
                </a:solidFill>
              </a:rPr>
              <a:t>Every trip type got 23–35% dearer; trips fell most for JFK, but winter seasonality explains much of the drop.</a:t>
            </a:r>
            <a:endParaRPr lang="en-US" sz="1200" dirty="0"/>
          </a:p>
        </p:txBody>
      </p:sp>
      <p:sp>
        <p:nvSpPr>
          <p:cNvPr id="8" name="text_295"/>
          <p:cNvSpPr txBox="1"/>
          <p:nvPr/>
        </p:nvSpPr>
        <p:spPr>
          <a:xfrm>
            <a:off x="5973775" y="5074920"/>
            <a:ext cx="5669280" cy="685800"/>
          </a:xfrm>
          <a:prstGeom prst="rect">
            <a:avLst/>
          </a:prstGeom>
          <a:noFill/>
          <a:ln/>
        </p:spPr>
        <p:txBody>
          <a:bodyPr wrap="square" lIns="0" tIns="0" rIns="0" bIns="0" rtlCol="0" anchor="t"/>
          <a:lstStyle/>
          <a:p>
            <a:pPr indent="0" marL="0">
              <a:buNone/>
            </a:pPr>
            <a:r>
              <a:rPr lang="en-US" sz="1200" b="1" dirty="0">
                <a:solidFill>
                  <a:schemeClr val="tx1"/>
                </a:solidFill>
              </a:rPr>
              <a:t>Segments, net of a placebo year.  </a:t>
            </a:r>
            <a:pPr indent="0" marL="0">
              <a:buNone/>
            </a:pPr>
            <a:r>
              <a:rPr lang="en-US" sz="1200" dirty="0">
                <a:solidFill>
                  <a:schemeClr val="tx2"/>
                </a:solidFill>
              </a:rPr>
              <a:t>Bigger fare rises did not bring bigger demand falls (slope +0.39, CI 0.04 to 0.80; −0.70 without the placebo).</a:t>
            </a:r>
            <a:endParaRPr lang="en-US" sz="1200" dirty="0"/>
          </a:p>
        </p:txBody>
      </p:sp>
      <p:sp>
        <p:nvSpPr>
          <p:cNvPr id="9" name="card_296"/>
          <p:cNvSpPr/>
          <p:nvPr/>
        </p:nvSpPr>
        <p:spPr>
          <a:xfrm>
            <a:off x="548640" y="5760720"/>
            <a:ext cx="11094415" cy="384048"/>
          </a:xfrm>
          <a:prstGeom prst="roundRect">
            <a:avLst>
              <a:gd name="adj" fmla="val 28571"/>
            </a:avLst>
          </a:prstGeom>
          <a:solidFill>
            <a:schemeClr val="tx1"/>
          </a:solidFill>
          <a:ln/>
        </p:spPr>
      </p:sp>
      <p:sp>
        <p:nvSpPr>
          <p:cNvPr id="10" name="text_297"/>
          <p:cNvSpPr txBox="1"/>
          <p:nvPr/>
        </p:nvSpPr>
        <p:spPr>
          <a:xfrm>
            <a:off x="777240" y="5760720"/>
            <a:ext cx="10637215" cy="384048"/>
          </a:xfrm>
          <a:prstGeom prst="rect">
            <a:avLst/>
          </a:prstGeom>
          <a:noFill/>
          <a:ln/>
        </p:spPr>
        <p:txBody>
          <a:bodyPr wrap="square" lIns="0" tIns="0" rIns="0" bIns="0" rtlCol="0" anchor="ctr"/>
          <a:lstStyle/>
          <a:p>
            <a:pPr indent="0" marL="0">
              <a:buNone/>
            </a:pPr>
            <a:r>
              <a:rPr lang="en-US" sz="1200" b="1" dirty="0">
                <a:solidFill>
                  <a:schemeClr val="accent1"/>
                </a:solidFill>
              </a:rPr>
              <a:t>Verdict  </a:t>
            </a:r>
            <a:pPr indent="0" marL="0">
              <a:buNone/>
            </a:pPr>
            <a:r>
              <a:rPr lang="en-US" sz="1200" dirty="0">
                <a:solidFill>
                  <a:schemeClr val="bg1"/>
                </a:solidFill>
              </a:rPr>
              <a:t>no measurable demand response; revenue rose 29% while trips fell 3%, consistent with inelastic demand (Schaller 1999: −0.22).</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kicker_298"/>
          <p:cNvSpPr/>
          <p:nvPr/>
        </p:nvSpPr>
        <p:spPr>
          <a:xfrm>
            <a:off x="548640" y="384048"/>
            <a:ext cx="3430829" cy="292608"/>
          </a:xfrm>
          <a:prstGeom prst="roundRect">
            <a:avLst>
              <a:gd name="adj" fmla="val 40625"/>
            </a:avLst>
          </a:prstGeom>
          <a:solidFill>
            <a:schemeClr val="accent1"/>
          </a:solidFill>
          <a:ln/>
        </p:spPr>
        <p:txBody>
          <a:bodyPr wrap="square" lIns="0" tIns="0" rIns="0" bIns="0" rtlCol="0" anchor="ctr"/>
          <a:lstStyle/>
          <a:p>
            <a:pPr algn="ctr" indent="0" marL="0">
              <a:buNone/>
            </a:pPr>
            <a:r>
              <a:rPr lang="en-US" sz="1050" b="1" spc="150" kern="0" dirty="0">
                <a:solidFill>
                  <a:schemeClr val="tx1"/>
                </a:solidFill>
              </a:rPr>
              <a:t>D · RQ5 · MACHINE LEARNING AND BIG DATA</a:t>
            </a:r>
            <a:endParaRPr lang="en-US" sz="1050" dirty="0"/>
          </a:p>
        </p:txBody>
      </p:sp>
      <p:sp>
        <p:nvSpPr>
          <p:cNvPr id="3" name="Text 1"/>
          <p:cNvSpPr/>
          <p:nvPr>
            <p:ph idx="101" type="title" hasCustomPrompt="1"/>
          </p:nvPr>
        </p:nvSpPr>
        <p:spPr>
          <a:xfrm>
            <a:off x="548640" y="868680"/>
            <a:ext cx="11094415" cy="77724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Machine learning and Spark reach the same answer</a:t>
            </a:r>
            <a:endParaRPr lang="en-US" sz="3000" dirty="0"/>
          </a:p>
        </p:txBody>
      </p:sp>
      <p:graphicFrame>
        <p:nvGraphicFramePr>
          <p:cNvPr id="28" name="table_ml"/>
          <p:cNvGraphicFramePr>
            <a:graphicFrameLocks noGrp="1"/>
          </p:cNvGraphicFramePr>
          <p:nvPr>
            <p:extLst>
              <p:ext uri="{D42A27DB-BD31-4B8C-83A1-F6EECF244321}">
                <p14:modId xmlns:p14="http://schemas.microsoft.com/office/powerpoint/2010/main" val="1579011935"/>
              </p:ext>
            </p:extLst>
          </p:nvPr>
        </p:nvGraphicFramePr>
        <p:xfrm>
          <a:off x="548640" y="1828800"/>
          <a:ext cx="6766560" cy="914400"/>
        </p:xfrm>
        <a:graphic>
          <a:graphicData uri="http://schemas.openxmlformats.org/drawingml/2006/table">
            <a:tbl>
              <a:tblPr/>
              <a:tblGrid>
                <a:gridCol w="2377440"/>
                <a:gridCol w="1280160"/>
                <a:gridCol w="1554480"/>
                <a:gridCol w="1554480"/>
              </a:tblGrid>
              <a:tr h="45720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Model</a:t>
                      </a:r>
                      <a:endParaRPr lang="en-US" sz="1250" dirty="0">
                        <a:latin typeface="Calibri" charset="0"/>
                        <a:ea typeface="Calibri" charset="0"/>
                        <a:cs typeface="Calibri" charset="0"/>
                      </a:endParaRPr>
                    </a:p>
                  </a:txBody>
                  <a:tcPr marL="101600" marR="1016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111111"/>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Test R² (speed)</a:t>
                      </a:r>
                      <a:endParaRPr lang="en-US" sz="1250" dirty="0">
                        <a:latin typeface="Calibri" charset="0"/>
                        <a:ea typeface="Calibri" charset="0"/>
                        <a:cs typeface="Calibri" charset="0"/>
                      </a:endParaRPr>
                    </a:p>
                  </a:txBody>
                  <a:tcPr marL="101600" marR="1016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111111"/>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Speed effect</a:t>
                      </a:r>
                      <a:endParaRPr lang="en-US" sz="1250" dirty="0">
                        <a:latin typeface="Calibri" charset="0"/>
                        <a:ea typeface="Calibri" charset="0"/>
                        <a:cs typeface="Calibri" charset="0"/>
                      </a:endParaRPr>
                    </a:p>
                  </a:txBody>
                  <a:tcPr marL="101600" marR="1016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111111"/>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Pickup effect</a:t>
                      </a:r>
                      <a:endParaRPr lang="en-US" sz="1250" dirty="0">
                        <a:latin typeface="Calibri" charset="0"/>
                        <a:ea typeface="Calibri" charset="0"/>
                        <a:cs typeface="Calibri" charset="0"/>
                      </a:endParaRPr>
                    </a:p>
                  </a:txBody>
                  <a:tcPr marL="101600" marR="1016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111111"/>
                    </a:solidFill>
                  </a:tcPr>
                </a:tc>
              </a:tr>
              <a:tr h="457200">
                <a:tc>
                  <a:txBody>
                    <a:bodyPr/>
                    <a:lstStyle/>
                    <a:p>
                      <a:pPr algn="l" indent="0" marL="0">
                        <a:buNone/>
                      </a:pPr>
                      <a:r>
                        <a:rPr lang="en-US" sz="1250" b="1" dirty="0">
                          <a:solidFill>
                            <a:srgbClr val="2B2D31"/>
                          </a:solidFill>
                          <a:latin typeface="Calibri" pitchFamily="34" charset="0"/>
                          <a:ea typeface="Calibri" pitchFamily="34" charset="-122"/>
                          <a:cs typeface="Calibri" pitchFamily="34" charset="-120"/>
                        </a:rPr>
                        <a:t>Gradient boosting</a:t>
                      </a:r>
                      <a:endParaRPr lang="en-US" sz="1250" dirty="0">
                        <a:latin typeface="Calibri" charset="0"/>
                        <a:ea typeface="Calibri" charset="0"/>
                        <a:cs typeface="Calibri" charset="0"/>
                      </a:endParaRPr>
                    </a:p>
                  </a:txBody>
                  <a:tcPr marL="101600" marR="1016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B2D31"/>
                          </a:solidFill>
                          <a:latin typeface="Calibri" pitchFamily="34" charset="0"/>
                          <a:ea typeface="Calibri" pitchFamily="34" charset="-122"/>
                          <a:cs typeface="Calibri" pitchFamily="34" charset="-120"/>
                        </a:rPr>
                        <a:t>0.63</a:t>
                      </a:r>
                      <a:endParaRPr lang="en-US" sz="1250" dirty="0">
                        <a:latin typeface="Calibri" charset="0"/>
                        <a:ea typeface="Calibri" charset="0"/>
                        <a:cs typeface="Calibri" charset="0"/>
                      </a:endParaRPr>
                    </a:p>
                  </a:txBody>
                  <a:tcPr marL="101600" marR="1016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B2D31"/>
                          </a:solidFill>
                          <a:latin typeface="Calibri" pitchFamily="34" charset="0"/>
                          <a:ea typeface="Calibri" pitchFamily="34" charset="-122"/>
                          <a:cs typeface="Calibri" pitchFamily="34" charset="-120"/>
                        </a:rPr>
                        <a:t>+0.9%  [0.1, 1.7]</a:t>
                      </a:r>
                      <a:endParaRPr lang="en-US" sz="1250" dirty="0">
                        <a:latin typeface="Calibri" charset="0"/>
                        <a:ea typeface="Calibri" charset="0"/>
                        <a:cs typeface="Calibri" charset="0"/>
                      </a:endParaRPr>
                    </a:p>
                  </a:txBody>
                  <a:tcPr marL="101600" marR="1016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B2D31"/>
                          </a:solidFill>
                          <a:latin typeface="Calibri" pitchFamily="34" charset="0"/>
                          <a:ea typeface="Calibri" pitchFamily="34" charset="-122"/>
                          <a:cs typeface="Calibri" pitchFamily="34" charset="-120"/>
                        </a:rPr>
                        <a:t>−4.8%  [−6.5, −3.1]</a:t>
                      </a:r>
                      <a:endParaRPr lang="en-US" sz="1250" dirty="0">
                        <a:latin typeface="Calibri" charset="0"/>
                        <a:ea typeface="Calibri" charset="0"/>
                        <a:cs typeface="Calibri" charset="0"/>
                      </a:endParaRPr>
                    </a:p>
                  </a:txBody>
                  <a:tcPr marL="101600" marR="1016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r>
              <a:tr h="457200">
                <a:tc>
                  <a:txBody>
                    <a:bodyPr/>
                    <a:lstStyle/>
                    <a:p>
                      <a:pPr algn="l" indent="0" marL="0">
                        <a:buNone/>
                      </a:pPr>
                      <a:r>
                        <a:rPr lang="en-US" sz="1250" b="1" dirty="0">
                          <a:solidFill>
                            <a:srgbClr val="2B2D31"/>
                          </a:solidFill>
                          <a:latin typeface="Calibri" pitchFamily="34" charset="0"/>
                          <a:ea typeface="Calibri" pitchFamily="34" charset="-122"/>
                          <a:cs typeface="Calibri" pitchFamily="34" charset="-120"/>
                        </a:rPr>
                        <a:t>Random forest</a:t>
                      </a:r>
                      <a:endParaRPr lang="en-US" sz="1250" dirty="0">
                        <a:latin typeface="Calibri" charset="0"/>
                        <a:ea typeface="Calibri" charset="0"/>
                        <a:cs typeface="Calibri" charset="0"/>
                      </a:endParaRPr>
                    </a:p>
                  </a:txBody>
                  <a:tcPr marL="101600" marR="1016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B2D31"/>
                          </a:solidFill>
                          <a:latin typeface="Calibri" pitchFamily="34" charset="0"/>
                          <a:ea typeface="Calibri" pitchFamily="34" charset="-122"/>
                          <a:cs typeface="Calibri" pitchFamily="34" charset="-120"/>
                        </a:rPr>
                        <a:t>0.62</a:t>
                      </a:r>
                      <a:endParaRPr lang="en-US" sz="1250" dirty="0">
                        <a:latin typeface="Calibri" charset="0"/>
                        <a:ea typeface="Calibri" charset="0"/>
                        <a:cs typeface="Calibri" charset="0"/>
                      </a:endParaRPr>
                    </a:p>
                  </a:txBody>
                  <a:tcPr marL="101600" marR="1016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B2D31"/>
                          </a:solidFill>
                          <a:latin typeface="Calibri" pitchFamily="34" charset="0"/>
                          <a:ea typeface="Calibri" pitchFamily="34" charset="-122"/>
                          <a:cs typeface="Calibri" pitchFamily="34" charset="-120"/>
                        </a:rPr>
                        <a:t>+1.0%  [0.3, 1.8]</a:t>
                      </a:r>
                      <a:endParaRPr lang="en-US" sz="1250" dirty="0">
                        <a:latin typeface="Calibri" charset="0"/>
                        <a:ea typeface="Calibri" charset="0"/>
                        <a:cs typeface="Calibri" charset="0"/>
                      </a:endParaRPr>
                    </a:p>
                  </a:txBody>
                  <a:tcPr marL="101600" marR="1016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B2D31"/>
                          </a:solidFill>
                          <a:latin typeface="Calibri" pitchFamily="34" charset="0"/>
                          <a:ea typeface="Calibri" pitchFamily="34" charset="-122"/>
                          <a:cs typeface="Calibri" pitchFamily="34" charset="-120"/>
                        </a:rPr>
                        <a:t>−4.7%  [−6.4, −2.9]</a:t>
                      </a:r>
                      <a:endParaRPr lang="en-US" sz="1250" dirty="0">
                        <a:latin typeface="Calibri" charset="0"/>
                        <a:ea typeface="Calibri" charset="0"/>
                        <a:cs typeface="Calibri" charset="0"/>
                      </a:endParaRPr>
                    </a:p>
                  </a:txBody>
                  <a:tcPr marL="101600" marR="1016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r>
              <a:tr h="457200">
                <a:tc>
                  <a:txBody>
                    <a:bodyPr/>
                    <a:lstStyle/>
                    <a:p>
                      <a:pPr algn="l" indent="0" marL="0">
                        <a:buNone/>
                      </a:pPr>
                      <a:r>
                        <a:rPr lang="en-US" sz="1250" b="1" dirty="0">
                          <a:solidFill>
                            <a:srgbClr val="2B2D31"/>
                          </a:solidFill>
                          <a:latin typeface="Calibri" pitchFamily="34" charset="0"/>
                          <a:ea typeface="Calibri" pitchFamily="34" charset="-122"/>
                          <a:cs typeface="Calibri" pitchFamily="34" charset="-120"/>
                        </a:rPr>
                        <a:t>Ridge regression</a:t>
                      </a:r>
                      <a:endParaRPr lang="en-US" sz="1250" dirty="0">
                        <a:latin typeface="Calibri" charset="0"/>
                        <a:ea typeface="Calibri" charset="0"/>
                        <a:cs typeface="Calibri" charset="0"/>
                      </a:endParaRPr>
                    </a:p>
                  </a:txBody>
                  <a:tcPr marL="101600" marR="1016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B2D31"/>
                          </a:solidFill>
                          <a:latin typeface="Calibri" pitchFamily="34" charset="0"/>
                          <a:ea typeface="Calibri" pitchFamily="34" charset="-122"/>
                          <a:cs typeface="Calibri" pitchFamily="34" charset="-120"/>
                        </a:rPr>
                        <a:t>0.62</a:t>
                      </a:r>
                      <a:endParaRPr lang="en-US" sz="1250" dirty="0">
                        <a:latin typeface="Calibri" charset="0"/>
                        <a:ea typeface="Calibri" charset="0"/>
                        <a:cs typeface="Calibri" charset="0"/>
                      </a:endParaRPr>
                    </a:p>
                  </a:txBody>
                  <a:tcPr marL="101600" marR="1016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B2D31"/>
                          </a:solidFill>
                          <a:latin typeface="Calibri" pitchFamily="34" charset="0"/>
                          <a:ea typeface="Calibri" pitchFamily="34" charset="-122"/>
                          <a:cs typeface="Calibri" pitchFamily="34" charset="-120"/>
                        </a:rPr>
                        <a:t>+1.0%  [0.3, 1.7]</a:t>
                      </a:r>
                      <a:endParaRPr lang="en-US" sz="1250" dirty="0">
                        <a:latin typeface="Calibri" charset="0"/>
                        <a:ea typeface="Calibri" charset="0"/>
                        <a:cs typeface="Calibri" charset="0"/>
                      </a:endParaRPr>
                    </a:p>
                  </a:txBody>
                  <a:tcPr marL="101600" marR="1016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B2D31"/>
                          </a:solidFill>
                          <a:latin typeface="Calibri" pitchFamily="34" charset="0"/>
                          <a:ea typeface="Calibri" pitchFamily="34" charset="-122"/>
                          <a:cs typeface="Calibri" pitchFamily="34" charset="-120"/>
                        </a:rPr>
                        <a:t>−5.2%  [−6.9, −3.7]</a:t>
                      </a:r>
                      <a:endParaRPr lang="en-US" sz="1250" dirty="0">
                        <a:latin typeface="Calibri" charset="0"/>
                        <a:ea typeface="Calibri" charset="0"/>
                        <a:cs typeface="Calibri" charset="0"/>
                      </a:endParaRPr>
                    </a:p>
                  </a:txBody>
                  <a:tcPr marL="101600" marR="1016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r>
              <a:tr h="457200">
                <a:tc>
                  <a:txBody>
                    <a:bodyPr/>
                    <a:lstStyle/>
                    <a:p>
                      <a:pPr algn="l" indent="0" marL="0">
                        <a:buNone/>
                      </a:pPr>
                      <a:r>
                        <a:rPr lang="en-US" sz="1250" b="1" dirty="0">
                          <a:solidFill>
                            <a:srgbClr val="2B2D31"/>
                          </a:solidFill>
                          <a:latin typeface="Calibri" pitchFamily="34" charset="0"/>
                          <a:ea typeface="Calibri" pitchFamily="34" charset="-122"/>
                          <a:cs typeface="Calibri" pitchFamily="34" charset="-120"/>
                        </a:rPr>
                        <a:t>Spark MLlib GBT (trip level)</a:t>
                      </a:r>
                      <a:endParaRPr lang="en-US" sz="1250" dirty="0">
                        <a:latin typeface="Calibri" charset="0"/>
                        <a:ea typeface="Calibri" charset="0"/>
                        <a:cs typeface="Calibri" charset="0"/>
                      </a:endParaRPr>
                    </a:p>
                  </a:txBody>
                  <a:tcPr marL="101600" marR="1016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CEBB3"/>
                    </a:solidFill>
                  </a:tcPr>
                </a:tc>
                <a:tc>
                  <a:txBody>
                    <a:bodyPr/>
                    <a:lstStyle/>
                    <a:p>
                      <a:pPr algn="r" indent="0" marL="0">
                        <a:buNone/>
                      </a:pPr>
                      <a:r>
                        <a:rPr lang="en-US" sz="1250" dirty="0">
                          <a:solidFill>
                            <a:srgbClr val="2B2D31"/>
                          </a:solidFill>
                          <a:latin typeface="Calibri" pitchFamily="34" charset="0"/>
                          <a:ea typeface="Calibri" pitchFamily="34" charset="-122"/>
                          <a:cs typeface="Calibri" pitchFamily="34" charset="-120"/>
                        </a:rPr>
                        <a:t>0.81</a:t>
                      </a:r>
                      <a:endParaRPr lang="en-US" sz="1250" dirty="0">
                        <a:latin typeface="Calibri" charset="0"/>
                        <a:ea typeface="Calibri" charset="0"/>
                        <a:cs typeface="Calibri" charset="0"/>
                      </a:endParaRPr>
                    </a:p>
                  </a:txBody>
                  <a:tcPr marL="101600" marR="1016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CEBB3"/>
                    </a:solidFill>
                  </a:tcPr>
                </a:tc>
                <a:tc>
                  <a:txBody>
                    <a:bodyPr/>
                    <a:lstStyle/>
                    <a:p>
                      <a:pPr algn="r" indent="0" marL="0">
                        <a:buNone/>
                      </a:pPr>
                      <a:r>
                        <a:rPr lang="en-US" sz="1250" dirty="0">
                          <a:solidFill>
                            <a:srgbClr val="2B2D31"/>
                          </a:solidFill>
                          <a:latin typeface="Calibri" pitchFamily="34" charset="0"/>
                          <a:ea typeface="Calibri" pitchFamily="34" charset="-122"/>
                          <a:cs typeface="Calibri" pitchFamily="34" charset="-120"/>
                        </a:rPr>
                        <a:t>+2.4%  [0.9, 4.1]</a:t>
                      </a:r>
                      <a:endParaRPr lang="en-US" sz="1250" dirty="0">
                        <a:latin typeface="Calibri" charset="0"/>
                        <a:ea typeface="Calibri" charset="0"/>
                        <a:cs typeface="Calibri" charset="0"/>
                      </a:endParaRPr>
                    </a:p>
                  </a:txBody>
                  <a:tcPr marL="101600" marR="1016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CEBB3"/>
                    </a:solidFill>
                  </a:tcPr>
                </a:tc>
                <a:tc>
                  <a:txBody>
                    <a:bodyPr/>
                    <a:lstStyle/>
                    <a:p>
                      <a:pPr algn="r" indent="0" marL="0">
                        <a:buNone/>
                      </a:pPr>
                      <a:r>
                        <a:rPr lang="en-US" sz="1250" dirty="0">
                          <a:solidFill>
                            <a:srgbClr val="2B2D31"/>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101600" marR="101600" marT="25400" marB="25400">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CEBB3"/>
                    </a:solidFill>
                  </a:tcPr>
                </a:tc>
              </a:tr>
            </a:tbl>
          </a:graphicData>
        </a:graphic>
      </p:graphicFrame>
      <p:sp>
        <p:nvSpPr>
          <p:cNvPr id="6" name="text_299"/>
          <p:cNvSpPr txBox="1"/>
          <p:nvPr/>
        </p:nvSpPr>
        <p:spPr>
          <a:xfrm>
            <a:off x="548640" y="4206240"/>
            <a:ext cx="6766560" cy="274320"/>
          </a:xfrm>
          <a:prstGeom prst="rect">
            <a:avLst/>
          </a:prstGeom>
          <a:noFill/>
          <a:ln/>
        </p:spPr>
        <p:txBody>
          <a:bodyPr wrap="square" lIns="0" tIns="0" rIns="0" bIns="0" rtlCol="0" anchor="t"/>
          <a:lstStyle/>
          <a:p>
            <a:pPr indent="0" marL="0">
              <a:buNone/>
            </a:pPr>
            <a:r>
              <a:rPr lang="en-US" sz="1100" i="1" dirty="0">
                <a:solidFill>
                  <a:schemeClr val="accent3"/>
                </a:solidFill>
              </a:rPr>
              <a:t>Placebo-adjusted, vs north Manhattan; 95% intervals in brackets. Spark rows and timings are from the run before Dec 2023 was restored.</a:t>
            </a:r>
            <a:endParaRPr lang="en-US" sz="1100" dirty="0"/>
          </a:p>
        </p:txBody>
      </p:sp>
      <p:sp>
        <p:nvSpPr>
          <p:cNvPr id="7" name="card_300"/>
          <p:cNvSpPr/>
          <p:nvPr/>
        </p:nvSpPr>
        <p:spPr>
          <a:xfrm>
            <a:off x="548640" y="4617720"/>
            <a:ext cx="6766560" cy="1325880"/>
          </a:xfrm>
          <a:prstGeom prst="roundRect">
            <a:avLst>
              <a:gd name="adj" fmla="val 8276"/>
            </a:avLst>
          </a:prstGeom>
          <a:solidFill>
            <a:schemeClr val="bg2"/>
          </a:solidFill>
          <a:ln/>
        </p:spPr>
      </p:sp>
      <p:sp>
        <p:nvSpPr>
          <p:cNvPr id="8" name="text_301"/>
          <p:cNvSpPr txBox="1"/>
          <p:nvPr/>
        </p:nvSpPr>
        <p:spPr>
          <a:xfrm>
            <a:off x="822960" y="4526280"/>
            <a:ext cx="2011680" cy="640080"/>
          </a:xfrm>
          <a:prstGeom prst="rect">
            <a:avLst/>
          </a:prstGeom>
          <a:noFill/>
          <a:ln/>
        </p:spPr>
        <p:txBody>
          <a:bodyPr wrap="square" lIns="0" tIns="0" rIns="0" bIns="0" rtlCol="0" anchor="b"/>
          <a:lstStyle/>
          <a:p>
            <a:pPr indent="0" marL="0">
              <a:buNone/>
            </a:pPr>
            <a:r>
              <a:rPr lang="en-US" sz="2600" b="1" dirty="0">
                <a:solidFill>
                  <a:schemeClr val="tx1"/>
                </a:solidFill>
                <a:latin typeface="Arial" pitchFamily="34" charset="0"/>
                <a:ea typeface="Arial" pitchFamily="34" charset="-122"/>
                <a:cs typeface="Arial" pitchFamily="34" charset="-120"/>
              </a:rPr>
              <a:t>0.91</a:t>
            </a:r>
            <a:endParaRPr lang="en-US" sz="2600" dirty="0"/>
          </a:p>
        </p:txBody>
      </p:sp>
      <p:sp>
        <p:nvSpPr>
          <p:cNvPr id="9" name="text_302"/>
          <p:cNvSpPr txBox="1"/>
          <p:nvPr/>
        </p:nvSpPr>
        <p:spPr>
          <a:xfrm>
            <a:off x="822960" y="5212080"/>
            <a:ext cx="2011680" cy="457200"/>
          </a:xfrm>
          <a:prstGeom prst="rect">
            <a:avLst/>
          </a:prstGeom>
          <a:noFill/>
          <a:ln/>
        </p:spPr>
        <p:txBody>
          <a:bodyPr wrap="square" lIns="0" tIns="0" rIns="0" bIns="0" rtlCol="0" anchor="t"/>
          <a:lstStyle/>
          <a:p>
            <a:pPr indent="0" marL="0">
              <a:buNone/>
            </a:pPr>
            <a:r>
              <a:rPr lang="en-US" sz="1250" dirty="0">
                <a:solidFill>
                  <a:schemeClr val="tx2"/>
                </a:solidFill>
              </a:rPr>
              <a:t>R² of a pre-trip fare model</a:t>
            </a:r>
            <a:endParaRPr lang="en-US" sz="1250" dirty="0"/>
          </a:p>
        </p:txBody>
      </p:sp>
      <p:sp>
        <p:nvSpPr>
          <p:cNvPr id="10" name="text_303"/>
          <p:cNvSpPr txBox="1"/>
          <p:nvPr/>
        </p:nvSpPr>
        <p:spPr>
          <a:xfrm>
            <a:off x="3017520" y="4526280"/>
            <a:ext cx="2011680" cy="640080"/>
          </a:xfrm>
          <a:prstGeom prst="rect">
            <a:avLst/>
          </a:prstGeom>
          <a:noFill/>
          <a:ln/>
        </p:spPr>
        <p:txBody>
          <a:bodyPr wrap="square" lIns="0" tIns="0" rIns="0" bIns="0" rtlCol="0" anchor="b"/>
          <a:lstStyle/>
          <a:p>
            <a:pPr indent="0" marL="0">
              <a:buNone/>
            </a:pPr>
            <a:r>
              <a:rPr lang="en-US" sz="2600" b="1" dirty="0">
                <a:solidFill>
                  <a:schemeClr val="tx1"/>
                </a:solidFill>
                <a:latin typeface="Arial" pitchFamily="34" charset="0"/>
                <a:ea typeface="Arial" pitchFamily="34" charset="-122"/>
                <a:cs typeface="Arial" pitchFamily="34" charset="-120"/>
              </a:rPr>
              <a:t>$3.58</a:t>
            </a:r>
            <a:endParaRPr lang="en-US" sz="2600" dirty="0"/>
          </a:p>
        </p:txBody>
      </p:sp>
      <p:sp>
        <p:nvSpPr>
          <p:cNvPr id="11" name="text_304"/>
          <p:cNvSpPr txBox="1"/>
          <p:nvPr/>
        </p:nvSpPr>
        <p:spPr>
          <a:xfrm>
            <a:off x="3017520" y="5212080"/>
            <a:ext cx="2011680" cy="457200"/>
          </a:xfrm>
          <a:prstGeom prst="rect">
            <a:avLst/>
          </a:prstGeom>
          <a:noFill/>
          <a:ln/>
        </p:spPr>
        <p:txBody>
          <a:bodyPr wrap="square" lIns="0" tIns="0" rIns="0" bIns="0" rtlCol="0" anchor="t"/>
          <a:lstStyle/>
          <a:p>
            <a:pPr indent="0" marL="0">
              <a:buNone/>
            </a:pPr>
            <a:r>
              <a:rPr lang="en-US" sz="1250" dirty="0">
                <a:solidFill>
                  <a:schemeClr val="tx2"/>
                </a:solidFill>
              </a:rPr>
              <a:t>fare per extra mile (official $3.50)</a:t>
            </a:r>
            <a:endParaRPr lang="en-US" sz="1250" dirty="0"/>
          </a:p>
        </p:txBody>
      </p:sp>
      <p:sp>
        <p:nvSpPr>
          <p:cNvPr id="12" name="text_305"/>
          <p:cNvSpPr txBox="1"/>
          <p:nvPr/>
        </p:nvSpPr>
        <p:spPr>
          <a:xfrm>
            <a:off x="5212080" y="4526280"/>
            <a:ext cx="2011680" cy="640080"/>
          </a:xfrm>
          <a:prstGeom prst="rect">
            <a:avLst/>
          </a:prstGeom>
          <a:noFill/>
          <a:ln/>
        </p:spPr>
        <p:txBody>
          <a:bodyPr wrap="square" lIns="0" tIns="0" rIns="0" bIns="0" rtlCol="0" anchor="b"/>
          <a:lstStyle/>
          <a:p>
            <a:pPr indent="0" marL="0">
              <a:buNone/>
            </a:pPr>
            <a:r>
              <a:rPr lang="en-US" sz="2600" b="1" dirty="0">
                <a:solidFill>
                  <a:schemeClr val="tx1"/>
                </a:solidFill>
                <a:latin typeface="Arial" pitchFamily="34" charset="0"/>
                <a:ea typeface="Arial" pitchFamily="34" charset="-122"/>
                <a:cs typeface="Arial" pitchFamily="34" charset="-120"/>
              </a:rPr>
              <a:t>identical</a:t>
            </a:r>
            <a:endParaRPr lang="en-US" sz="2600" dirty="0"/>
          </a:p>
        </p:txBody>
      </p:sp>
      <p:sp>
        <p:nvSpPr>
          <p:cNvPr id="13" name="text_306"/>
          <p:cNvSpPr txBox="1"/>
          <p:nvPr/>
        </p:nvSpPr>
        <p:spPr>
          <a:xfrm>
            <a:off x="5212080" y="5212080"/>
            <a:ext cx="2011680" cy="457200"/>
          </a:xfrm>
          <a:prstGeom prst="rect">
            <a:avLst/>
          </a:prstGeom>
          <a:noFill/>
          <a:ln/>
        </p:spPr>
        <p:txBody>
          <a:bodyPr wrap="square" lIns="0" tIns="0" rIns="0" bIns="0" rtlCol="0" anchor="t"/>
          <a:lstStyle/>
          <a:p>
            <a:pPr indent="0" marL="0">
              <a:buNone/>
            </a:pPr>
            <a:r>
              <a:rPr lang="en-US" sz="1250" dirty="0">
                <a:solidFill>
                  <a:schemeClr val="tx2"/>
                </a:solidFill>
              </a:rPr>
              <a:t>KPIs from Spark and DuckDB</a:t>
            </a:r>
            <a:endParaRPr lang="en-US" sz="1250" dirty="0"/>
          </a:p>
        </p:txBody>
      </p:sp>
      <p:graphicFrame>
        <p:nvGraphicFramePr>
          <p:cNvPr id="14" name="chart_engines" descr=""/>
          <p:cNvGraphicFramePr/>
          <p:nvPr/>
        </p:nvGraphicFramePr>
        <p:xfrm>
          <a:off x="7680960" y="1737360"/>
          <a:ext cx="3962095" cy="420624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kicker_307"/>
          <p:cNvSpPr/>
          <p:nvPr/>
        </p:nvSpPr>
        <p:spPr>
          <a:xfrm>
            <a:off x="548640" y="384048"/>
            <a:ext cx="3189427" cy="292608"/>
          </a:xfrm>
          <a:prstGeom prst="roundRect">
            <a:avLst>
              <a:gd name="adj" fmla="val 40625"/>
            </a:avLst>
          </a:prstGeom>
          <a:solidFill>
            <a:schemeClr val="accent1"/>
          </a:solidFill>
          <a:ln/>
        </p:spPr>
        <p:txBody>
          <a:bodyPr wrap="square" lIns="0" tIns="0" rIns="0" bIns="0" rtlCol="0" anchor="ctr"/>
          <a:lstStyle/>
          <a:p>
            <a:pPr algn="ctr" indent="0" marL="0">
              <a:buNone/>
            </a:pPr>
            <a:r>
              <a:rPr lang="en-US" sz="1050" b="1" spc="150" kern="0" dirty="0">
                <a:solidFill>
                  <a:schemeClr val="tx1"/>
                </a:solidFill>
              </a:rPr>
              <a:t>D · RQ5 · MACHINE LEARNING IN DETAIL</a:t>
            </a:r>
            <a:endParaRPr lang="en-US" sz="1050" dirty="0"/>
          </a:p>
        </p:txBody>
      </p:sp>
      <p:sp>
        <p:nvSpPr>
          <p:cNvPr id="3" name="Text 1"/>
          <p:cNvSpPr/>
          <p:nvPr>
            <p:ph idx="101" type="title" hasCustomPrompt="1"/>
          </p:nvPr>
        </p:nvSpPr>
        <p:spPr>
          <a:xfrm>
            <a:off x="548640" y="868680"/>
            <a:ext cx="11094415" cy="77724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Tree models forecast best and agree on the effect</a:t>
            </a:r>
            <a:endParaRPr lang="en-US" sz="3000" dirty="0"/>
          </a:p>
        </p:txBody>
      </p:sp>
      <p:pic>
        <p:nvPicPr>
          <p:cNvPr id="5" name="chart_img_308" descr="Forecast error by model for pickups and speed">    </p:cNvPr>
          <p:cNvPicPr>
            <a:picLocks noChangeAspect="1"/>
          </p:cNvPicPr>
          <p:nvPr/>
        </p:nvPicPr>
        <p:blipFill>
          <a:blip r:embed="rId1"/>
          <a:stretch>
            <a:fillRect/>
          </a:stretch>
        </p:blipFill>
        <p:spPr>
          <a:xfrm>
            <a:off x="781122" y="1664208"/>
            <a:ext cx="4945084" cy="1527048"/>
          </a:xfrm>
          <a:prstGeom prst="rect">
            <a:avLst/>
          </a:prstGeom>
        </p:spPr>
      </p:pic>
      <p:sp>
        <p:nvSpPr>
          <p:cNvPr id="6" name="text_309"/>
          <p:cNvSpPr txBox="1"/>
          <p:nvPr/>
        </p:nvSpPr>
        <p:spPr>
          <a:xfrm>
            <a:off x="548640" y="3246120"/>
            <a:ext cx="5410048" cy="557784"/>
          </a:xfrm>
          <a:prstGeom prst="rect">
            <a:avLst/>
          </a:prstGeom>
          <a:noFill/>
          <a:ln/>
        </p:spPr>
        <p:txBody>
          <a:bodyPr wrap="square" lIns="0" tIns="0" rIns="0" bIns="0" rtlCol="0" anchor="t"/>
          <a:lstStyle/>
          <a:p>
            <a:pPr indent="0" marL="0">
              <a:buNone/>
            </a:pPr>
            <a:r>
              <a:rPr lang="en-US" sz="1200" b="1" dirty="0">
                <a:solidFill>
                  <a:schemeClr val="tx1"/>
                </a:solidFill>
              </a:rPr>
              <a:t>Forecast accuracy.  </a:t>
            </a:r>
            <a:pPr indent="0" marL="0">
              <a:buNone/>
            </a:pPr>
            <a:r>
              <a:rPr lang="en-US" sz="1200" dirty="0">
                <a:solidFill>
                  <a:schemeClr val="tx2"/>
                </a:solidFill>
              </a:rPr>
              <a:t>Gradient boosting and random forest beat both seasonal baselines on 2024 (speed error 8.0% vs 8.9%).</a:t>
            </a:r>
            <a:endParaRPr lang="en-US" sz="1200" dirty="0"/>
          </a:p>
        </p:txBody>
      </p:sp>
      <p:pic>
        <p:nvPicPr>
          <p:cNvPr id="7" name="chart_img_310" descr="Placebo-adjusted effects by algorithm">    </p:cNvPr>
          <p:cNvPicPr>
            <a:picLocks noChangeAspect="1"/>
          </p:cNvPicPr>
          <p:nvPr/>
        </p:nvPicPr>
        <p:blipFill>
          <a:blip r:embed="rId2"/>
          <a:stretch>
            <a:fillRect/>
          </a:stretch>
        </p:blipFill>
        <p:spPr>
          <a:xfrm>
            <a:off x="6233008" y="1664208"/>
            <a:ext cx="5410048" cy="1501412"/>
          </a:xfrm>
          <a:prstGeom prst="rect">
            <a:avLst/>
          </a:prstGeom>
        </p:spPr>
      </p:pic>
      <p:sp>
        <p:nvSpPr>
          <p:cNvPr id="8" name="text_311"/>
          <p:cNvSpPr txBox="1"/>
          <p:nvPr/>
        </p:nvSpPr>
        <p:spPr>
          <a:xfrm>
            <a:off x="6233008" y="3220484"/>
            <a:ext cx="5410048" cy="583420"/>
          </a:xfrm>
          <a:prstGeom prst="rect">
            <a:avLst/>
          </a:prstGeom>
          <a:noFill/>
          <a:ln/>
        </p:spPr>
        <p:txBody>
          <a:bodyPr wrap="square" lIns="0" tIns="0" rIns="0" bIns="0" rtlCol="0" anchor="t"/>
          <a:lstStyle/>
          <a:p>
            <a:pPr indent="0" marL="0">
              <a:buNone/>
            </a:pPr>
            <a:r>
              <a:rPr lang="en-US" sz="1200" b="1" dirty="0">
                <a:solidFill>
                  <a:schemeClr val="tx1"/>
                </a:solidFill>
              </a:rPr>
              <a:t>Estimates by algorithm.  </a:t>
            </a:r>
            <a:pPr indent="0" marL="0">
              <a:buNone/>
            </a:pPr>
            <a:r>
              <a:rPr lang="en-US" sz="1200" dirty="0">
                <a:solidFill>
                  <a:schemeClr val="tx2"/>
                </a:solidFill>
              </a:rPr>
              <a:t>All three give speeds +0.9 to +1.0% and pickups −4.7 to −5.2%, above the naive DiD line for speed.</a:t>
            </a:r>
            <a:endParaRPr lang="en-US" sz="1200" dirty="0"/>
          </a:p>
        </p:txBody>
      </p:sp>
      <p:pic>
        <p:nvPicPr>
          <p:cNvPr id="9" name="chart_img_312" descr="Permutation feature importance for pickups and speed">    </p:cNvPr>
          <p:cNvPicPr>
            <a:picLocks noChangeAspect="1"/>
          </p:cNvPicPr>
          <p:nvPr/>
        </p:nvPicPr>
        <p:blipFill>
          <a:blip r:embed="rId3"/>
          <a:stretch>
            <a:fillRect/>
          </a:stretch>
        </p:blipFill>
        <p:spPr>
          <a:xfrm>
            <a:off x="923937" y="4005072"/>
            <a:ext cx="4659454" cy="1527048"/>
          </a:xfrm>
          <a:prstGeom prst="rect">
            <a:avLst/>
          </a:prstGeom>
        </p:spPr>
      </p:pic>
      <p:sp>
        <p:nvSpPr>
          <p:cNvPr id="10" name="text_313"/>
          <p:cNvSpPr txBox="1"/>
          <p:nvPr/>
        </p:nvSpPr>
        <p:spPr>
          <a:xfrm>
            <a:off x="548640" y="5586984"/>
            <a:ext cx="5410048" cy="557784"/>
          </a:xfrm>
          <a:prstGeom prst="rect">
            <a:avLst/>
          </a:prstGeom>
          <a:noFill/>
          <a:ln/>
        </p:spPr>
        <p:txBody>
          <a:bodyPr wrap="square" lIns="0" tIns="0" rIns="0" bIns="0" rtlCol="0" anchor="t"/>
          <a:lstStyle/>
          <a:p>
            <a:pPr indent="0" marL="0">
              <a:buNone/>
            </a:pPr>
            <a:r>
              <a:rPr lang="en-US" sz="1200" b="1" dirty="0">
                <a:solidFill>
                  <a:schemeClr val="tx1"/>
                </a:solidFill>
              </a:rPr>
              <a:t>What drives the forecasts.  </a:t>
            </a:r>
            <a:pPr indent="0" marL="0">
              <a:buNone/>
            </a:pPr>
            <a:r>
              <a:rPr lang="en-US" sz="1200" dirty="0">
                <a:solidFill>
                  <a:schemeClr val="tx2"/>
                </a:solidFill>
              </a:rPr>
              <a:t>Zone identity dominates, then weekday and month; weather adds almost nothing at the daily level.</a:t>
            </a:r>
            <a:endParaRPr lang="en-US" sz="1200" dirty="0"/>
          </a:p>
        </p:txBody>
      </p:sp>
      <p:pic>
        <p:nvPicPr>
          <p:cNvPr id="11" name="chart_img_314" descr="Spark GBT feature importance for travel time">    </p:cNvPr>
          <p:cNvPicPr>
            <a:picLocks noChangeAspect="1"/>
          </p:cNvPicPr>
          <p:nvPr/>
        </p:nvPicPr>
        <p:blipFill>
          <a:blip r:embed="rId4"/>
          <a:stretch>
            <a:fillRect/>
          </a:stretch>
        </p:blipFill>
        <p:spPr>
          <a:xfrm>
            <a:off x="6233008" y="4254449"/>
            <a:ext cx="3387751" cy="1640942"/>
          </a:xfrm>
          <a:prstGeom prst="rect">
            <a:avLst/>
          </a:prstGeom>
        </p:spPr>
      </p:pic>
      <p:sp>
        <p:nvSpPr>
          <p:cNvPr id="12" name="text_315"/>
          <p:cNvSpPr txBox="1"/>
          <p:nvPr/>
        </p:nvSpPr>
        <p:spPr>
          <a:xfrm>
            <a:off x="9803639" y="4050792"/>
            <a:ext cx="1839416" cy="2048256"/>
          </a:xfrm>
          <a:prstGeom prst="rect">
            <a:avLst/>
          </a:prstGeom>
          <a:noFill/>
          <a:ln/>
        </p:spPr>
        <p:txBody>
          <a:bodyPr wrap="square" lIns="0" tIns="0" rIns="0" bIns="0" rtlCol="0" anchor="ctr"/>
          <a:lstStyle/>
          <a:p>
            <a:pPr indent="0" marL="0">
              <a:buNone/>
            </a:pPr>
            <a:r>
              <a:rPr lang="en-US" sz="1200" b="1" dirty="0">
                <a:solidFill>
                  <a:schemeClr val="tx1"/>
                </a:solidFill>
              </a:rPr>
              <a:t>Spark GBT, trip level.  </a:t>
            </a:r>
            <a:endParaRPr lang="en-US" sz="1200" dirty="0"/>
          </a:p>
          <a:p>
            <a:pPr indent="0" marL="0">
              <a:buNone/>
            </a:pPr>
            <a:r>
              <a:rPr lang="en-US" sz="1200" dirty="0">
                <a:solidFill>
                  <a:schemeClr val="tx2"/>
                </a:solidFill>
              </a:rPr>
              <a:t>Distance explains 47% of travel time, zones 32% and hour of day 12%: the congestion signal.</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kicker_316"/>
          <p:cNvSpPr/>
          <p:nvPr/>
        </p:nvSpPr>
        <p:spPr>
          <a:xfrm>
            <a:off x="548640" y="384048"/>
            <a:ext cx="2223821" cy="292608"/>
          </a:xfrm>
          <a:prstGeom prst="roundRect">
            <a:avLst>
              <a:gd name="adj" fmla="val 40625"/>
            </a:avLst>
          </a:prstGeom>
          <a:solidFill>
            <a:schemeClr val="accent1"/>
          </a:solidFill>
          <a:ln/>
        </p:spPr>
        <p:txBody>
          <a:bodyPr wrap="square" lIns="0" tIns="0" rIns="0" bIns="0" rtlCol="0" anchor="ctr"/>
          <a:lstStyle/>
          <a:p>
            <a:pPr algn="ctr" indent="0" marL="0">
              <a:buNone/>
            </a:pPr>
            <a:r>
              <a:rPr lang="en-US" sz="1050" b="1" spc="150" kern="0" dirty="0">
                <a:solidFill>
                  <a:schemeClr val="tx1"/>
                </a:solidFill>
              </a:rPr>
              <a:t>D · BIG DATA PERFORMANCE</a:t>
            </a:r>
            <a:endParaRPr lang="en-US" sz="1050" dirty="0"/>
          </a:p>
        </p:txBody>
      </p:sp>
      <p:sp>
        <p:nvSpPr>
          <p:cNvPr id="3" name="Text 1"/>
          <p:cNvSpPr/>
          <p:nvPr>
            <p:ph idx="101" type="title" hasCustomPrompt="1"/>
          </p:nvPr>
        </p:nvSpPr>
        <p:spPr>
          <a:xfrm>
            <a:off x="548640" y="868680"/>
            <a:ext cx="11094415" cy="77724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Spark training time grows slower than the data</a:t>
            </a:r>
            <a:endParaRPr lang="en-US" sz="3000" dirty="0"/>
          </a:p>
        </p:txBody>
      </p:sp>
      <p:pic>
        <p:nvPicPr>
          <p:cNvPr id="5" name="chart_img_317" descr="Training time and accuracy of Spark linear regression by number of training rows, L-BFGS vs normal equations">    </p:cNvPr>
          <p:cNvPicPr>
            <a:picLocks noChangeAspect="1"/>
          </p:cNvPicPr>
          <p:nvPr/>
        </p:nvPicPr>
        <p:blipFill>
          <a:blip r:embed="rId1"/>
          <a:stretch>
            <a:fillRect/>
          </a:stretch>
        </p:blipFill>
        <p:spPr>
          <a:xfrm>
            <a:off x="1704809" y="1691640"/>
            <a:ext cx="8782077" cy="2880360"/>
          </a:xfrm>
          <a:prstGeom prst="rect">
            <a:avLst/>
          </a:prstGeom>
        </p:spPr>
      </p:pic>
      <p:sp>
        <p:nvSpPr>
          <p:cNvPr id="6" name="card_318"/>
          <p:cNvSpPr/>
          <p:nvPr/>
        </p:nvSpPr>
        <p:spPr>
          <a:xfrm>
            <a:off x="548640" y="4754880"/>
            <a:ext cx="11094415" cy="1280160"/>
          </a:xfrm>
          <a:prstGeom prst="roundRect">
            <a:avLst>
              <a:gd name="adj" fmla="val 8571"/>
            </a:avLst>
          </a:prstGeom>
          <a:solidFill>
            <a:schemeClr val="bg2"/>
          </a:solidFill>
          <a:ln/>
        </p:spPr>
      </p:sp>
      <p:sp>
        <p:nvSpPr>
          <p:cNvPr id="7" name="text_319"/>
          <p:cNvSpPr txBox="1"/>
          <p:nvPr/>
        </p:nvSpPr>
        <p:spPr>
          <a:xfrm>
            <a:off x="822960" y="4937760"/>
            <a:ext cx="2743200" cy="274320"/>
          </a:xfrm>
          <a:prstGeom prst="rect">
            <a:avLst/>
          </a:prstGeom>
          <a:noFill/>
          <a:ln/>
        </p:spPr>
        <p:txBody>
          <a:bodyPr wrap="square" lIns="0" tIns="0" rIns="0" bIns="0" rtlCol="0" anchor="t"/>
          <a:lstStyle/>
          <a:p>
            <a:pPr indent="0" marL="0">
              <a:buNone/>
            </a:pPr>
            <a:r>
              <a:rPr lang="en-US" sz="1100" b="1" spc="150" kern="0" dirty="0">
                <a:solidFill>
                  <a:schemeClr val="accent4"/>
                </a:solidFill>
              </a:rPr>
              <a:t>WHAT WE DERIVE</a:t>
            </a:r>
            <a:endParaRPr lang="en-US" sz="1100" dirty="0"/>
          </a:p>
        </p:txBody>
      </p:sp>
      <p:sp>
        <p:nvSpPr>
          <p:cNvPr id="8" name="num_320"/>
          <p:cNvSpPr/>
          <p:nvPr/>
        </p:nvSpPr>
        <p:spPr>
          <a:xfrm>
            <a:off x="822960" y="5303520"/>
            <a:ext cx="310896" cy="310896"/>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9" name="text_321"/>
          <p:cNvSpPr txBox="1"/>
          <p:nvPr/>
        </p:nvSpPr>
        <p:spPr>
          <a:xfrm>
            <a:off x="1261872" y="5230368"/>
            <a:ext cx="2920898" cy="731520"/>
          </a:xfrm>
          <a:prstGeom prst="rect">
            <a:avLst/>
          </a:prstGeom>
          <a:noFill/>
          <a:ln/>
        </p:spPr>
        <p:txBody>
          <a:bodyPr wrap="square" lIns="0" tIns="0" rIns="0" bIns="0" rtlCol="0" anchor="t"/>
          <a:lstStyle/>
          <a:p>
            <a:pPr indent="0" marL="0">
              <a:buNone/>
            </a:pPr>
            <a:r>
              <a:rPr lang="en-US" sz="1200" dirty="0">
                <a:solidFill>
                  <a:schemeClr val="tx2"/>
                </a:solidFill>
              </a:rPr>
              <a:t>Training time grows with about the square root of the rows (exponent ≈ 0.5) for both solvers.</a:t>
            </a:r>
            <a:endParaRPr lang="en-US" sz="1200" dirty="0"/>
          </a:p>
        </p:txBody>
      </p:sp>
      <p:sp>
        <p:nvSpPr>
          <p:cNvPr id="10" name="num_322"/>
          <p:cNvSpPr/>
          <p:nvPr/>
        </p:nvSpPr>
        <p:spPr>
          <a:xfrm>
            <a:off x="4429658" y="5303520"/>
            <a:ext cx="310896" cy="310896"/>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1" name="text_323"/>
          <p:cNvSpPr txBox="1"/>
          <p:nvPr/>
        </p:nvSpPr>
        <p:spPr>
          <a:xfrm>
            <a:off x="4868570" y="5230368"/>
            <a:ext cx="2920898" cy="731520"/>
          </a:xfrm>
          <a:prstGeom prst="rect">
            <a:avLst/>
          </a:prstGeom>
          <a:noFill/>
          <a:ln/>
        </p:spPr>
        <p:txBody>
          <a:bodyPr wrap="square" lIns="0" tIns="0" rIns="0" bIns="0" rtlCol="0" anchor="t"/>
          <a:lstStyle/>
          <a:p>
            <a:pPr indent="0" marL="0">
              <a:buNone/>
            </a:pPr>
            <a:r>
              <a:rPr lang="en-US" sz="1200" dirty="0">
                <a:solidFill>
                  <a:schemeClr val="tx2"/>
                </a:solidFill>
              </a:rPr>
              <a:t>Accuracy is flat beyond 200,000 rows: more data does not reduce error for this linear fare model.</a:t>
            </a:r>
            <a:endParaRPr lang="en-US" sz="1200" dirty="0"/>
          </a:p>
        </p:txBody>
      </p:sp>
      <p:sp>
        <p:nvSpPr>
          <p:cNvPr id="12" name="num_324"/>
          <p:cNvSpPr/>
          <p:nvPr/>
        </p:nvSpPr>
        <p:spPr>
          <a:xfrm>
            <a:off x="8036357" y="5303520"/>
            <a:ext cx="310896" cy="310896"/>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3" name="text_325"/>
          <p:cNvSpPr txBox="1"/>
          <p:nvPr/>
        </p:nvSpPr>
        <p:spPr>
          <a:xfrm>
            <a:off x="8475269" y="5230368"/>
            <a:ext cx="2920898" cy="731520"/>
          </a:xfrm>
          <a:prstGeom prst="rect">
            <a:avLst/>
          </a:prstGeom>
          <a:noFill/>
          <a:ln/>
        </p:spPr>
        <p:txBody>
          <a:bodyPr wrap="square" lIns="0" tIns="0" rIns="0" bIns="0" rtlCol="0" anchor="t"/>
          <a:lstStyle/>
          <a:p>
            <a:pPr indent="0" marL="0">
              <a:buNone/>
            </a:pPr>
            <a:r>
              <a:rPr lang="en-US" sz="1200" dirty="0">
                <a:solidFill>
                  <a:schemeClr val="tx2"/>
                </a:solidFill>
              </a:rPr>
              <a:t>Closed-form normal equations are about 4× faster than L-BFGS at every size, with identical results.</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kicker_326"/>
          <p:cNvSpPr/>
          <p:nvPr/>
        </p:nvSpPr>
        <p:spPr>
          <a:xfrm>
            <a:off x="548640" y="384048"/>
            <a:ext cx="3189427" cy="292608"/>
          </a:xfrm>
          <a:prstGeom prst="roundRect">
            <a:avLst>
              <a:gd name="adj" fmla="val 40625"/>
            </a:avLst>
          </a:prstGeom>
          <a:solidFill>
            <a:schemeClr val="accent1"/>
          </a:solidFill>
          <a:ln/>
        </p:spPr>
        <p:txBody>
          <a:bodyPr wrap="square" lIns="0" tIns="0" rIns="0" bIns="0" rtlCol="0" anchor="ctr"/>
          <a:lstStyle/>
          <a:p>
            <a:pPr algn="ctr" indent="0" marL="0">
              <a:buNone/>
            </a:pPr>
            <a:r>
              <a:rPr lang="en-US" sz="1050" b="1" spc="150" kern="0" dirty="0">
                <a:solidFill>
                  <a:schemeClr val="tx1"/>
                </a:solidFill>
              </a:rPr>
              <a:t>D · RQ5 · PATTERNS VS CAUSAL EFFECTS</a:t>
            </a:r>
            <a:endParaRPr lang="en-US" sz="1050" dirty="0"/>
          </a:p>
        </p:txBody>
      </p:sp>
      <p:sp>
        <p:nvSpPr>
          <p:cNvPr id="3" name="Text 1"/>
          <p:cNvSpPr/>
          <p:nvPr>
            <p:ph idx="101" type="title" hasCustomPrompt="1"/>
          </p:nvPr>
        </p:nvSpPr>
        <p:spPr>
          <a:xfrm>
            <a:off x="548640" y="868680"/>
            <a:ext cx="11094415" cy="77724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What we observe, and what we can attribute to policy</a:t>
            </a:r>
            <a:endParaRPr lang="en-US" sz="3000" dirty="0"/>
          </a:p>
        </p:txBody>
      </p:sp>
      <p:sp>
        <p:nvSpPr>
          <p:cNvPr id="5" name="card_327"/>
          <p:cNvSpPr/>
          <p:nvPr/>
        </p:nvSpPr>
        <p:spPr>
          <a:xfrm>
            <a:off x="548640" y="1783080"/>
            <a:ext cx="4754880" cy="4206240"/>
          </a:xfrm>
          <a:prstGeom prst="roundRect">
            <a:avLst>
              <a:gd name="adj" fmla="val 2609"/>
            </a:avLst>
          </a:prstGeom>
          <a:solidFill>
            <a:schemeClr val="bg2"/>
          </a:solidFill>
          <a:ln/>
        </p:spPr>
      </p:sp>
      <p:sp>
        <p:nvSpPr>
          <p:cNvPr id="6" name="card_328"/>
          <p:cNvSpPr/>
          <p:nvPr/>
        </p:nvSpPr>
        <p:spPr>
          <a:xfrm>
            <a:off x="5623560" y="1783080"/>
            <a:ext cx="6019495" cy="4206240"/>
          </a:xfrm>
          <a:prstGeom prst="roundRect">
            <a:avLst>
              <a:gd name="adj" fmla="val 2609"/>
            </a:avLst>
          </a:prstGeom>
          <a:solidFill>
            <a:schemeClr val="tx1"/>
          </a:solidFill>
          <a:ln/>
        </p:spPr>
      </p:sp>
      <p:sp>
        <p:nvSpPr>
          <p:cNvPr id="7" name="text_329"/>
          <p:cNvSpPr txBox="1"/>
          <p:nvPr/>
        </p:nvSpPr>
        <p:spPr>
          <a:xfrm>
            <a:off x="822960" y="1965960"/>
            <a:ext cx="4206240" cy="320040"/>
          </a:xfrm>
          <a:prstGeom prst="rect">
            <a:avLst/>
          </a:prstGeom>
          <a:noFill/>
          <a:ln/>
        </p:spPr>
        <p:txBody>
          <a:bodyPr wrap="square" lIns="0" tIns="0" rIns="0" bIns="0" rtlCol="0" anchor="t"/>
          <a:lstStyle/>
          <a:p>
            <a:pPr indent="0" marL="0">
              <a:buNone/>
            </a:pPr>
            <a:r>
              <a:rPr lang="en-US" sz="1600" b="1" dirty="0">
                <a:solidFill>
                  <a:schemeClr val="tx1"/>
                </a:solidFill>
              </a:rPr>
              <a:t>Observed patterns</a:t>
            </a:r>
            <a:endParaRPr lang="en-US" sz="1600" dirty="0"/>
          </a:p>
        </p:txBody>
      </p:sp>
      <p:sp>
        <p:nvSpPr>
          <p:cNvPr id="8" name="text_330"/>
          <p:cNvSpPr txBox="1"/>
          <p:nvPr/>
        </p:nvSpPr>
        <p:spPr>
          <a:xfrm>
            <a:off x="822960" y="2286000"/>
            <a:ext cx="4206240" cy="274320"/>
          </a:xfrm>
          <a:prstGeom prst="rect">
            <a:avLst/>
          </a:prstGeom>
          <a:noFill/>
          <a:ln/>
        </p:spPr>
        <p:txBody>
          <a:bodyPr wrap="square" lIns="0" tIns="0" rIns="0" bIns="0" rtlCol="0" anchor="t"/>
          <a:lstStyle/>
          <a:p>
            <a:pPr indent="0" marL="0">
              <a:buNone/>
            </a:pPr>
            <a:r>
              <a:rPr lang="en-US" sz="1200" dirty="0">
                <a:solidFill>
                  <a:schemeClr val="accent3"/>
                </a:solidFill>
              </a:rPr>
              <a:t>raw before–after changes</a:t>
            </a:r>
            <a:endParaRPr lang="en-US" sz="1200" dirty="0"/>
          </a:p>
        </p:txBody>
      </p:sp>
      <p:sp>
        <p:nvSpPr>
          <p:cNvPr id="9" name="text_331"/>
          <p:cNvSpPr txBox="1"/>
          <p:nvPr/>
        </p:nvSpPr>
        <p:spPr>
          <a:xfrm>
            <a:off x="822960" y="2697480"/>
            <a:ext cx="1371600" cy="548640"/>
          </a:xfrm>
          <a:prstGeom prst="rect">
            <a:avLst/>
          </a:prstGeom>
          <a:noFill/>
          <a:ln/>
        </p:spPr>
        <p:txBody>
          <a:bodyPr wrap="square" lIns="0" tIns="0" rIns="0" bIns="0" rtlCol="0" anchor="ctr"/>
          <a:lstStyle/>
          <a:p>
            <a:pPr indent="0" marL="0">
              <a:buNone/>
            </a:pPr>
            <a:r>
              <a:rPr lang="en-US" sz="2400" b="1" dirty="0">
                <a:solidFill>
                  <a:schemeClr val="tx1"/>
                </a:solidFill>
                <a:latin typeface="Arial" pitchFamily="34" charset="0"/>
                <a:ea typeface="Arial" pitchFamily="34" charset="-122"/>
                <a:cs typeface="Arial" pitchFamily="34" charset="-120"/>
              </a:rPr>
              <a:t>+12%</a:t>
            </a:r>
            <a:endParaRPr lang="en-US" sz="2400" dirty="0"/>
          </a:p>
        </p:txBody>
      </p:sp>
      <p:sp>
        <p:nvSpPr>
          <p:cNvPr id="10" name="text_332"/>
          <p:cNvSpPr txBox="1"/>
          <p:nvPr/>
        </p:nvSpPr>
        <p:spPr>
          <a:xfrm>
            <a:off x="2286000" y="2697480"/>
            <a:ext cx="2743200" cy="548640"/>
          </a:xfrm>
          <a:prstGeom prst="rect">
            <a:avLst/>
          </a:prstGeom>
          <a:noFill/>
          <a:ln/>
        </p:spPr>
        <p:txBody>
          <a:bodyPr wrap="square" lIns="0" tIns="0" rIns="0" bIns="0" rtlCol="0" anchor="ctr"/>
          <a:lstStyle/>
          <a:p>
            <a:pPr indent="0" marL="0">
              <a:buNone/>
            </a:pPr>
            <a:r>
              <a:rPr lang="en-US" sz="1300" dirty="0">
                <a:solidFill>
                  <a:schemeClr val="tx2"/>
                </a:solidFill>
              </a:rPr>
              <a:t>trips per day, 2025 vs 2024</a:t>
            </a:r>
            <a:endParaRPr lang="en-US" sz="1300" dirty="0"/>
          </a:p>
        </p:txBody>
      </p:sp>
      <p:sp>
        <p:nvSpPr>
          <p:cNvPr id="11" name="text_333"/>
          <p:cNvSpPr txBox="1"/>
          <p:nvPr/>
        </p:nvSpPr>
        <p:spPr>
          <a:xfrm>
            <a:off x="822960" y="3502152"/>
            <a:ext cx="1371600" cy="548640"/>
          </a:xfrm>
          <a:prstGeom prst="rect">
            <a:avLst/>
          </a:prstGeom>
          <a:noFill/>
          <a:ln/>
        </p:spPr>
        <p:txBody>
          <a:bodyPr wrap="square" lIns="0" tIns="0" rIns="0" bIns="0" rtlCol="0" anchor="ctr"/>
          <a:lstStyle/>
          <a:p>
            <a:pPr indent="0" marL="0">
              <a:buNone/>
            </a:pPr>
            <a:r>
              <a:rPr lang="en-US" sz="2400" b="1" dirty="0">
                <a:solidFill>
                  <a:schemeClr val="tx1"/>
                </a:solidFill>
                <a:latin typeface="Arial" pitchFamily="34" charset="0"/>
                <a:ea typeface="Arial" pitchFamily="34" charset="-122"/>
                <a:cs typeface="Arial" pitchFamily="34" charset="-120"/>
              </a:rPr>
              <a:t>+34%</a:t>
            </a:r>
            <a:endParaRPr lang="en-US" sz="2400" dirty="0"/>
          </a:p>
        </p:txBody>
      </p:sp>
      <p:sp>
        <p:nvSpPr>
          <p:cNvPr id="12" name="text_334"/>
          <p:cNvSpPr txBox="1"/>
          <p:nvPr/>
        </p:nvSpPr>
        <p:spPr>
          <a:xfrm>
            <a:off x="2286000" y="3502152"/>
            <a:ext cx="2743200" cy="548640"/>
          </a:xfrm>
          <a:prstGeom prst="rect">
            <a:avLst/>
          </a:prstGeom>
          <a:noFill/>
          <a:ln/>
        </p:spPr>
        <p:txBody>
          <a:bodyPr wrap="square" lIns="0" tIns="0" rIns="0" bIns="0" rtlCol="0" anchor="ctr"/>
          <a:lstStyle/>
          <a:p>
            <a:pPr indent="0" marL="0">
              <a:buNone/>
            </a:pPr>
            <a:r>
              <a:rPr lang="en-US" sz="1300" dirty="0">
                <a:solidFill>
                  <a:schemeClr val="tx2"/>
                </a:solidFill>
              </a:rPr>
              <a:t>mean fare, 2022 → 2023</a:t>
            </a:r>
            <a:endParaRPr lang="en-US" sz="1300" dirty="0"/>
          </a:p>
        </p:txBody>
      </p:sp>
      <p:sp>
        <p:nvSpPr>
          <p:cNvPr id="13" name="text_335"/>
          <p:cNvSpPr txBox="1"/>
          <p:nvPr/>
        </p:nvSpPr>
        <p:spPr>
          <a:xfrm>
            <a:off x="822960" y="4306824"/>
            <a:ext cx="1371600" cy="548640"/>
          </a:xfrm>
          <a:prstGeom prst="rect">
            <a:avLst/>
          </a:prstGeom>
          <a:noFill/>
          <a:ln/>
        </p:spPr>
        <p:txBody>
          <a:bodyPr wrap="square" lIns="0" tIns="0" rIns="0" bIns="0" rtlCol="0" anchor="ctr"/>
          <a:lstStyle/>
          <a:p>
            <a:pPr indent="0" marL="0">
              <a:buNone/>
            </a:pPr>
            <a:r>
              <a:rPr lang="en-US" sz="2400" b="1" dirty="0">
                <a:solidFill>
                  <a:schemeClr val="tx1"/>
                </a:solidFill>
                <a:latin typeface="Arial" pitchFamily="34" charset="0"/>
                <a:ea typeface="Arial" pitchFamily="34" charset="-122"/>
                <a:cs typeface="Arial" pitchFamily="34" charset="-120"/>
              </a:rPr>
              <a:t>+4.4%</a:t>
            </a:r>
            <a:endParaRPr lang="en-US" sz="2400" dirty="0"/>
          </a:p>
        </p:txBody>
      </p:sp>
      <p:sp>
        <p:nvSpPr>
          <p:cNvPr id="14" name="text_336"/>
          <p:cNvSpPr txBox="1"/>
          <p:nvPr/>
        </p:nvSpPr>
        <p:spPr>
          <a:xfrm>
            <a:off x="2286000" y="4306824"/>
            <a:ext cx="2743200" cy="548640"/>
          </a:xfrm>
          <a:prstGeom prst="rect">
            <a:avLst/>
          </a:prstGeom>
          <a:noFill/>
          <a:ln/>
        </p:spPr>
        <p:txBody>
          <a:bodyPr wrap="square" lIns="0" tIns="0" rIns="0" bIns="0" rtlCol="0" anchor="ctr"/>
          <a:lstStyle/>
          <a:p>
            <a:pPr indent="0" marL="0">
              <a:buNone/>
            </a:pPr>
            <a:r>
              <a:rPr lang="en-US" sz="1300" dirty="0">
                <a:solidFill>
                  <a:schemeClr val="tx2"/>
                </a:solidFill>
              </a:rPr>
              <a:t>speed inside the zone, 2025 vs 2024</a:t>
            </a:r>
            <a:endParaRPr lang="en-US" sz="1300" dirty="0"/>
          </a:p>
        </p:txBody>
      </p:sp>
      <p:sp>
        <p:nvSpPr>
          <p:cNvPr id="15" name="text_337"/>
          <p:cNvSpPr txBox="1"/>
          <p:nvPr/>
        </p:nvSpPr>
        <p:spPr>
          <a:xfrm>
            <a:off x="822960" y="5111496"/>
            <a:ext cx="1371600" cy="548640"/>
          </a:xfrm>
          <a:prstGeom prst="rect">
            <a:avLst/>
          </a:prstGeom>
          <a:noFill/>
          <a:ln/>
        </p:spPr>
        <p:txBody>
          <a:bodyPr wrap="square" lIns="0" tIns="0" rIns="0" bIns="0" rtlCol="0" anchor="ctr"/>
          <a:lstStyle/>
          <a:p>
            <a:pPr indent="0" marL="0">
              <a:buNone/>
            </a:pPr>
            <a:r>
              <a:rPr lang="en-US" sz="2400" b="1" dirty="0">
                <a:solidFill>
                  <a:schemeClr val="tx1"/>
                </a:solidFill>
                <a:latin typeface="Arial" pitchFamily="34" charset="0"/>
                <a:ea typeface="Arial" pitchFamily="34" charset="-122"/>
                <a:cs typeface="Arial" pitchFamily="34" charset="-120"/>
              </a:rPr>
              <a:t>+9.2%</a:t>
            </a:r>
            <a:endParaRPr lang="en-US" sz="2400" dirty="0"/>
          </a:p>
        </p:txBody>
      </p:sp>
      <p:sp>
        <p:nvSpPr>
          <p:cNvPr id="16" name="text_338"/>
          <p:cNvSpPr txBox="1"/>
          <p:nvPr/>
        </p:nvSpPr>
        <p:spPr>
          <a:xfrm>
            <a:off x="2286000" y="5111496"/>
            <a:ext cx="2743200" cy="548640"/>
          </a:xfrm>
          <a:prstGeom prst="rect">
            <a:avLst/>
          </a:prstGeom>
          <a:noFill/>
          <a:ln/>
        </p:spPr>
        <p:txBody>
          <a:bodyPr wrap="square" lIns="0" tIns="0" rIns="0" bIns="0" rtlCol="0" anchor="ctr"/>
          <a:lstStyle/>
          <a:p>
            <a:pPr indent="0" marL="0">
              <a:buNone/>
            </a:pPr>
            <a:r>
              <a:rPr lang="en-US" sz="1300" dirty="0">
                <a:solidFill>
                  <a:schemeClr val="tx2"/>
                </a:solidFill>
              </a:rPr>
              <a:t>pickups in the zone, 2025 vs 2024</a:t>
            </a:r>
            <a:endParaRPr lang="en-US" sz="1300" dirty="0"/>
          </a:p>
        </p:txBody>
      </p:sp>
      <p:sp>
        <p:nvSpPr>
          <p:cNvPr id="17" name="text_339"/>
          <p:cNvSpPr txBox="1"/>
          <p:nvPr/>
        </p:nvSpPr>
        <p:spPr>
          <a:xfrm>
            <a:off x="5897880" y="1965960"/>
            <a:ext cx="5470855" cy="320040"/>
          </a:xfrm>
          <a:prstGeom prst="rect">
            <a:avLst/>
          </a:prstGeom>
          <a:noFill/>
          <a:ln/>
        </p:spPr>
        <p:txBody>
          <a:bodyPr wrap="square" lIns="0" tIns="0" rIns="0" bIns="0" rtlCol="0" anchor="t"/>
          <a:lstStyle/>
          <a:p>
            <a:pPr indent="0" marL="0">
              <a:buNone/>
            </a:pPr>
            <a:r>
              <a:rPr lang="en-US" sz="1600" b="1" dirty="0">
                <a:solidFill>
                  <a:schemeClr val="accent1"/>
                </a:solidFill>
              </a:rPr>
              <a:t>Causal-leaning estimates</a:t>
            </a:r>
            <a:endParaRPr lang="en-US" sz="1600" dirty="0"/>
          </a:p>
        </p:txBody>
      </p:sp>
      <p:sp>
        <p:nvSpPr>
          <p:cNvPr id="18" name="text_340"/>
          <p:cNvSpPr txBox="1"/>
          <p:nvPr/>
        </p:nvSpPr>
        <p:spPr>
          <a:xfrm>
            <a:off x="5897880" y="2286000"/>
            <a:ext cx="5470855" cy="274320"/>
          </a:xfrm>
          <a:prstGeom prst="rect">
            <a:avLst/>
          </a:prstGeom>
          <a:noFill/>
          <a:ln/>
        </p:spPr>
        <p:txBody>
          <a:bodyPr wrap="square" lIns="0" tIns="0" rIns="0" bIns="0" rtlCol="0" anchor="t"/>
          <a:lstStyle/>
          <a:p>
            <a:pPr indent="0" marL="0">
              <a:buNone/>
            </a:pPr>
            <a:r>
              <a:rPr lang="en-US" sz="1200" dirty="0">
                <a:solidFill>
                  <a:schemeClr val="accent6"/>
                </a:solidFill>
              </a:rPr>
              <a:t>comparison group + pre-trend and placebo tests</a:t>
            </a:r>
            <a:endParaRPr lang="en-US" sz="1200" dirty="0"/>
          </a:p>
        </p:txBody>
      </p:sp>
      <p:sp>
        <p:nvSpPr>
          <p:cNvPr id="19" name="text_341"/>
          <p:cNvSpPr txBox="1"/>
          <p:nvPr/>
        </p:nvSpPr>
        <p:spPr>
          <a:xfrm>
            <a:off x="5897880" y="2670048"/>
            <a:ext cx="2011680" cy="502920"/>
          </a:xfrm>
          <a:prstGeom prst="rect">
            <a:avLst/>
          </a:prstGeom>
          <a:noFill/>
          <a:ln/>
        </p:spPr>
        <p:txBody>
          <a:bodyPr wrap="square" lIns="0" tIns="0" rIns="0" bIns="0" rtlCol="0" anchor="ctr"/>
          <a:lstStyle/>
          <a:p>
            <a:pPr indent="0" marL="0">
              <a:buNone/>
            </a:pPr>
            <a:r>
              <a:rPr lang="en-US" sz="2000" b="1" dirty="0">
                <a:solidFill>
                  <a:schemeClr val="bg1"/>
                </a:solidFill>
                <a:latin typeface="Arial" pitchFamily="34" charset="0"/>
                <a:ea typeface="Arial" pitchFamily="34" charset="-122"/>
                <a:cs typeface="Arial" pitchFamily="34" charset="-120"/>
              </a:rPr>
              <a:t>+1 to 3%</a:t>
            </a:r>
            <a:endParaRPr lang="en-US" sz="2000" dirty="0"/>
          </a:p>
        </p:txBody>
      </p:sp>
      <p:sp>
        <p:nvSpPr>
          <p:cNvPr id="20" name="text_342"/>
          <p:cNvSpPr txBox="1"/>
          <p:nvPr/>
        </p:nvSpPr>
        <p:spPr>
          <a:xfrm>
            <a:off x="8001000" y="2670048"/>
            <a:ext cx="2087575" cy="502920"/>
          </a:xfrm>
          <a:prstGeom prst="rect">
            <a:avLst/>
          </a:prstGeom>
          <a:noFill/>
          <a:ln/>
        </p:spPr>
        <p:txBody>
          <a:bodyPr wrap="square" lIns="0" tIns="0" rIns="0" bIns="0" rtlCol="0" anchor="ctr"/>
          <a:lstStyle/>
          <a:p>
            <a:pPr indent="0" marL="0">
              <a:buNone/>
            </a:pPr>
            <a:r>
              <a:rPr lang="en-US" sz="1300" dirty="0">
                <a:solidFill>
                  <a:schemeClr val="bg1"/>
                </a:solidFill>
              </a:rPr>
              <a:t>speed in the zone vs control (lower bound)</a:t>
            </a:r>
            <a:endParaRPr lang="en-US" sz="1300" dirty="0"/>
          </a:p>
        </p:txBody>
      </p:sp>
      <p:sp>
        <p:nvSpPr>
          <p:cNvPr id="21" name="conf_343"/>
          <p:cNvSpPr/>
          <p:nvPr/>
        </p:nvSpPr>
        <p:spPr>
          <a:xfrm>
            <a:off x="10317175" y="2825496"/>
            <a:ext cx="182880" cy="182880"/>
          </a:xfrm>
          <a:prstGeom prst="ellipse">
            <a:avLst/>
          </a:prstGeom>
          <a:solidFill>
            <a:srgbClr val="F5B700"/>
          </a:solidFill>
          <a:ln/>
        </p:spPr>
      </p:sp>
      <p:sp>
        <p:nvSpPr>
          <p:cNvPr id="22" name="conf_344"/>
          <p:cNvSpPr/>
          <p:nvPr/>
        </p:nvSpPr>
        <p:spPr>
          <a:xfrm>
            <a:off x="10573207" y="2825496"/>
            <a:ext cx="182880" cy="182880"/>
          </a:xfrm>
          <a:prstGeom prst="ellipse">
            <a:avLst/>
          </a:prstGeom>
          <a:solidFill>
            <a:srgbClr val="F5B700"/>
          </a:solidFill>
          <a:ln/>
        </p:spPr>
      </p:sp>
      <p:sp>
        <p:nvSpPr>
          <p:cNvPr id="23" name="conf_345"/>
          <p:cNvSpPr/>
          <p:nvPr/>
        </p:nvSpPr>
        <p:spPr>
          <a:xfrm>
            <a:off x="10829239" y="2825496"/>
            <a:ext cx="182880" cy="182880"/>
          </a:xfrm>
          <a:prstGeom prst="ellipse">
            <a:avLst/>
          </a:prstGeom>
          <a:solidFill>
            <a:srgbClr val="F5B700"/>
          </a:solidFill>
          <a:ln/>
        </p:spPr>
      </p:sp>
      <p:sp>
        <p:nvSpPr>
          <p:cNvPr id="24" name="conf_346"/>
          <p:cNvSpPr/>
          <p:nvPr/>
        </p:nvSpPr>
        <p:spPr>
          <a:xfrm>
            <a:off x="11085271" y="2825496"/>
            <a:ext cx="182880" cy="182880"/>
          </a:xfrm>
          <a:prstGeom prst="ellipse">
            <a:avLst/>
          </a:prstGeom>
          <a:solidFill>
            <a:srgbClr val="4A4C52"/>
          </a:solidFill>
          <a:ln/>
        </p:spPr>
      </p:sp>
      <p:sp>
        <p:nvSpPr>
          <p:cNvPr id="25" name="text_347"/>
          <p:cNvSpPr txBox="1"/>
          <p:nvPr/>
        </p:nvSpPr>
        <p:spPr>
          <a:xfrm>
            <a:off x="5897880" y="3310128"/>
            <a:ext cx="2011680" cy="502920"/>
          </a:xfrm>
          <a:prstGeom prst="rect">
            <a:avLst/>
          </a:prstGeom>
          <a:noFill/>
          <a:ln/>
        </p:spPr>
        <p:txBody>
          <a:bodyPr wrap="square" lIns="0" tIns="0" rIns="0" bIns="0" rtlCol="0" anchor="ctr"/>
          <a:lstStyle/>
          <a:p>
            <a:pPr indent="0" marL="0">
              <a:buNone/>
            </a:pPr>
            <a:r>
              <a:rPr lang="en-US" sz="2000" b="1" dirty="0">
                <a:solidFill>
                  <a:schemeClr val="bg1"/>
                </a:solidFill>
                <a:latin typeface="Arial" pitchFamily="34" charset="0"/>
                <a:ea typeface="Arial" pitchFamily="34" charset="-122"/>
                <a:cs typeface="Arial" pitchFamily="34" charset="-120"/>
              </a:rPr>
              <a:t>+3.9 to 4.5 pp</a:t>
            </a:r>
            <a:endParaRPr lang="en-US" sz="2000" dirty="0"/>
          </a:p>
        </p:txBody>
      </p:sp>
      <p:sp>
        <p:nvSpPr>
          <p:cNvPr id="26" name="text_348"/>
          <p:cNvSpPr txBox="1"/>
          <p:nvPr/>
        </p:nvSpPr>
        <p:spPr>
          <a:xfrm>
            <a:off x="8001000" y="3310128"/>
            <a:ext cx="2087575" cy="502920"/>
          </a:xfrm>
          <a:prstGeom prst="rect">
            <a:avLst/>
          </a:prstGeom>
          <a:noFill/>
          <a:ln/>
        </p:spPr>
        <p:txBody>
          <a:bodyPr wrap="square" lIns="0" tIns="0" rIns="0" bIns="0" rtlCol="0" anchor="ctr"/>
          <a:lstStyle/>
          <a:p>
            <a:pPr indent="0" marL="0">
              <a:buNone/>
            </a:pPr>
            <a:r>
              <a:rPr lang="en-US" sz="1300" dirty="0">
                <a:solidFill>
                  <a:schemeClr val="bg1"/>
                </a:solidFill>
              </a:rPr>
              <a:t>peak minus overnight speed gain</a:t>
            </a:r>
            <a:endParaRPr lang="en-US" sz="1300" dirty="0"/>
          </a:p>
        </p:txBody>
      </p:sp>
      <p:sp>
        <p:nvSpPr>
          <p:cNvPr id="27" name="conf_349"/>
          <p:cNvSpPr/>
          <p:nvPr/>
        </p:nvSpPr>
        <p:spPr>
          <a:xfrm>
            <a:off x="10317175" y="3465576"/>
            <a:ext cx="182880" cy="182880"/>
          </a:xfrm>
          <a:prstGeom prst="ellipse">
            <a:avLst/>
          </a:prstGeom>
          <a:solidFill>
            <a:srgbClr val="F5B700"/>
          </a:solidFill>
          <a:ln/>
        </p:spPr>
      </p:sp>
      <p:sp>
        <p:nvSpPr>
          <p:cNvPr id="28" name="conf_350"/>
          <p:cNvSpPr/>
          <p:nvPr/>
        </p:nvSpPr>
        <p:spPr>
          <a:xfrm>
            <a:off x="10573207" y="3465576"/>
            <a:ext cx="182880" cy="182880"/>
          </a:xfrm>
          <a:prstGeom prst="ellipse">
            <a:avLst/>
          </a:prstGeom>
          <a:solidFill>
            <a:srgbClr val="F5B700"/>
          </a:solidFill>
          <a:ln/>
        </p:spPr>
      </p:sp>
      <p:sp>
        <p:nvSpPr>
          <p:cNvPr id="29" name="conf_351"/>
          <p:cNvSpPr/>
          <p:nvPr/>
        </p:nvSpPr>
        <p:spPr>
          <a:xfrm>
            <a:off x="10829239" y="3465576"/>
            <a:ext cx="182880" cy="182880"/>
          </a:xfrm>
          <a:prstGeom prst="ellipse">
            <a:avLst/>
          </a:prstGeom>
          <a:solidFill>
            <a:srgbClr val="F5B700"/>
          </a:solidFill>
          <a:ln/>
        </p:spPr>
      </p:sp>
      <p:sp>
        <p:nvSpPr>
          <p:cNvPr id="30" name="conf_352"/>
          <p:cNvSpPr/>
          <p:nvPr/>
        </p:nvSpPr>
        <p:spPr>
          <a:xfrm>
            <a:off x="11085271" y="3465576"/>
            <a:ext cx="182880" cy="182880"/>
          </a:xfrm>
          <a:prstGeom prst="ellipse">
            <a:avLst/>
          </a:prstGeom>
          <a:solidFill>
            <a:srgbClr val="F5B700"/>
          </a:solidFill>
          <a:ln/>
        </p:spPr>
      </p:sp>
      <p:sp>
        <p:nvSpPr>
          <p:cNvPr id="31" name="text_353"/>
          <p:cNvSpPr txBox="1"/>
          <p:nvPr/>
        </p:nvSpPr>
        <p:spPr>
          <a:xfrm>
            <a:off x="5897880" y="3950208"/>
            <a:ext cx="2011680" cy="502920"/>
          </a:xfrm>
          <a:prstGeom prst="rect">
            <a:avLst/>
          </a:prstGeom>
          <a:noFill/>
          <a:ln/>
        </p:spPr>
        <p:txBody>
          <a:bodyPr wrap="square" lIns="0" tIns="0" rIns="0" bIns="0" rtlCol="0" anchor="ctr"/>
          <a:lstStyle/>
          <a:p>
            <a:pPr indent="0" marL="0">
              <a:buNone/>
            </a:pPr>
            <a:r>
              <a:rPr lang="en-US" sz="2000" b="1" dirty="0">
                <a:solidFill>
                  <a:schemeClr val="bg1"/>
                </a:solidFill>
                <a:latin typeface="Arial" pitchFamily="34" charset="0"/>
                <a:ea typeface="Arial" pitchFamily="34" charset="-122"/>
                <a:cs typeface="Arial" pitchFamily="34" charset="-120"/>
              </a:rPr>
              <a:t>−6 to −8%</a:t>
            </a:r>
            <a:endParaRPr lang="en-US" sz="2000" dirty="0"/>
          </a:p>
        </p:txBody>
      </p:sp>
      <p:sp>
        <p:nvSpPr>
          <p:cNvPr id="32" name="text_354"/>
          <p:cNvSpPr txBox="1"/>
          <p:nvPr/>
        </p:nvSpPr>
        <p:spPr>
          <a:xfrm>
            <a:off x="8001000" y="3950208"/>
            <a:ext cx="2087575" cy="502920"/>
          </a:xfrm>
          <a:prstGeom prst="rect">
            <a:avLst/>
          </a:prstGeom>
          <a:noFill/>
          <a:ln/>
        </p:spPr>
        <p:txBody>
          <a:bodyPr wrap="square" lIns="0" tIns="0" rIns="0" bIns="0" rtlCol="0" anchor="ctr"/>
          <a:lstStyle/>
          <a:p>
            <a:pPr indent="0" marL="0">
              <a:buNone/>
            </a:pPr>
            <a:r>
              <a:rPr lang="en-US" sz="1300" dirty="0">
                <a:solidFill>
                  <a:schemeClr val="bg1"/>
                </a:solidFill>
              </a:rPr>
              <a:t>pickups in the buffer strip</a:t>
            </a:r>
            <a:endParaRPr lang="en-US" sz="1300" dirty="0"/>
          </a:p>
        </p:txBody>
      </p:sp>
      <p:sp>
        <p:nvSpPr>
          <p:cNvPr id="33" name="conf_355"/>
          <p:cNvSpPr/>
          <p:nvPr/>
        </p:nvSpPr>
        <p:spPr>
          <a:xfrm>
            <a:off x="10317175" y="4105656"/>
            <a:ext cx="182880" cy="182880"/>
          </a:xfrm>
          <a:prstGeom prst="ellipse">
            <a:avLst/>
          </a:prstGeom>
          <a:solidFill>
            <a:srgbClr val="F5B700"/>
          </a:solidFill>
          <a:ln/>
        </p:spPr>
      </p:sp>
      <p:sp>
        <p:nvSpPr>
          <p:cNvPr id="34" name="conf_356"/>
          <p:cNvSpPr/>
          <p:nvPr/>
        </p:nvSpPr>
        <p:spPr>
          <a:xfrm>
            <a:off x="10573207" y="4105656"/>
            <a:ext cx="182880" cy="182880"/>
          </a:xfrm>
          <a:prstGeom prst="ellipse">
            <a:avLst/>
          </a:prstGeom>
          <a:solidFill>
            <a:srgbClr val="F5B700"/>
          </a:solidFill>
          <a:ln/>
        </p:spPr>
      </p:sp>
      <p:sp>
        <p:nvSpPr>
          <p:cNvPr id="35" name="conf_357"/>
          <p:cNvSpPr/>
          <p:nvPr/>
        </p:nvSpPr>
        <p:spPr>
          <a:xfrm>
            <a:off x="10829239" y="4105656"/>
            <a:ext cx="182880" cy="182880"/>
          </a:xfrm>
          <a:prstGeom prst="ellipse">
            <a:avLst/>
          </a:prstGeom>
          <a:solidFill>
            <a:srgbClr val="F5B700"/>
          </a:solidFill>
          <a:ln/>
        </p:spPr>
      </p:sp>
      <p:sp>
        <p:nvSpPr>
          <p:cNvPr id="36" name="conf_358"/>
          <p:cNvSpPr/>
          <p:nvPr/>
        </p:nvSpPr>
        <p:spPr>
          <a:xfrm>
            <a:off x="11085271" y="4105656"/>
            <a:ext cx="182880" cy="182880"/>
          </a:xfrm>
          <a:prstGeom prst="ellipse">
            <a:avLst/>
          </a:prstGeom>
          <a:solidFill>
            <a:srgbClr val="F5B700"/>
          </a:solidFill>
          <a:ln/>
        </p:spPr>
      </p:sp>
      <p:sp>
        <p:nvSpPr>
          <p:cNvPr id="37" name="text_359"/>
          <p:cNvSpPr txBox="1"/>
          <p:nvPr/>
        </p:nvSpPr>
        <p:spPr>
          <a:xfrm>
            <a:off x="5897880" y="4590288"/>
            <a:ext cx="2011680" cy="502920"/>
          </a:xfrm>
          <a:prstGeom prst="rect">
            <a:avLst/>
          </a:prstGeom>
          <a:noFill/>
          <a:ln/>
        </p:spPr>
        <p:txBody>
          <a:bodyPr wrap="square" lIns="0" tIns="0" rIns="0" bIns="0" rtlCol="0" anchor="ctr"/>
          <a:lstStyle/>
          <a:p>
            <a:pPr indent="0" marL="0">
              <a:buNone/>
            </a:pPr>
            <a:r>
              <a:rPr lang="en-US" sz="2000" b="1" dirty="0">
                <a:solidFill>
                  <a:schemeClr val="bg1"/>
                </a:solidFill>
                <a:latin typeface="Arial" pitchFamily="34" charset="0"/>
                <a:ea typeface="Arial" pitchFamily="34" charset="-122"/>
                <a:cs typeface="Arial" pitchFamily="34" charset="-120"/>
              </a:rPr>
              <a:t>−2 to −5%</a:t>
            </a:r>
            <a:endParaRPr lang="en-US" sz="2000" dirty="0"/>
          </a:p>
        </p:txBody>
      </p:sp>
      <p:sp>
        <p:nvSpPr>
          <p:cNvPr id="38" name="text_360"/>
          <p:cNvSpPr txBox="1"/>
          <p:nvPr/>
        </p:nvSpPr>
        <p:spPr>
          <a:xfrm>
            <a:off x="8001000" y="4590288"/>
            <a:ext cx="2087575" cy="502920"/>
          </a:xfrm>
          <a:prstGeom prst="rect">
            <a:avLst/>
          </a:prstGeom>
          <a:noFill/>
          <a:ln/>
        </p:spPr>
        <p:txBody>
          <a:bodyPr wrap="square" lIns="0" tIns="0" rIns="0" bIns="0" rtlCol="0" anchor="ctr"/>
          <a:lstStyle/>
          <a:p>
            <a:pPr indent="0" marL="0">
              <a:buNone/>
            </a:pPr>
            <a:r>
              <a:rPr lang="en-US" sz="1300" dirty="0">
                <a:solidFill>
                  <a:schemeClr val="bg1"/>
                </a:solidFill>
              </a:rPr>
              <a:t>pickups in the charging zone</a:t>
            </a:r>
            <a:endParaRPr lang="en-US" sz="1300" dirty="0"/>
          </a:p>
        </p:txBody>
      </p:sp>
      <p:sp>
        <p:nvSpPr>
          <p:cNvPr id="39" name="conf_361"/>
          <p:cNvSpPr/>
          <p:nvPr/>
        </p:nvSpPr>
        <p:spPr>
          <a:xfrm>
            <a:off x="10317175" y="4745736"/>
            <a:ext cx="182880" cy="182880"/>
          </a:xfrm>
          <a:prstGeom prst="ellipse">
            <a:avLst/>
          </a:prstGeom>
          <a:solidFill>
            <a:srgbClr val="F5B700"/>
          </a:solidFill>
          <a:ln/>
        </p:spPr>
      </p:sp>
      <p:sp>
        <p:nvSpPr>
          <p:cNvPr id="40" name="conf_362"/>
          <p:cNvSpPr/>
          <p:nvPr/>
        </p:nvSpPr>
        <p:spPr>
          <a:xfrm>
            <a:off x="10573207" y="4745736"/>
            <a:ext cx="182880" cy="182880"/>
          </a:xfrm>
          <a:prstGeom prst="ellipse">
            <a:avLst/>
          </a:prstGeom>
          <a:solidFill>
            <a:srgbClr val="F5B700"/>
          </a:solidFill>
          <a:ln/>
        </p:spPr>
      </p:sp>
      <p:sp>
        <p:nvSpPr>
          <p:cNvPr id="41" name="conf_363"/>
          <p:cNvSpPr/>
          <p:nvPr/>
        </p:nvSpPr>
        <p:spPr>
          <a:xfrm>
            <a:off x="10829239" y="4745736"/>
            <a:ext cx="182880" cy="182880"/>
          </a:xfrm>
          <a:prstGeom prst="ellipse">
            <a:avLst/>
          </a:prstGeom>
          <a:solidFill>
            <a:srgbClr val="F5B700"/>
          </a:solidFill>
          <a:ln/>
        </p:spPr>
      </p:sp>
      <p:sp>
        <p:nvSpPr>
          <p:cNvPr id="42" name="conf_364"/>
          <p:cNvSpPr/>
          <p:nvPr/>
        </p:nvSpPr>
        <p:spPr>
          <a:xfrm>
            <a:off x="11085271" y="4745736"/>
            <a:ext cx="182880" cy="182880"/>
          </a:xfrm>
          <a:prstGeom prst="ellipse">
            <a:avLst/>
          </a:prstGeom>
          <a:solidFill>
            <a:srgbClr val="4A4C52"/>
          </a:solidFill>
          <a:ln/>
        </p:spPr>
      </p:sp>
      <p:sp>
        <p:nvSpPr>
          <p:cNvPr id="43" name="text_365"/>
          <p:cNvSpPr txBox="1"/>
          <p:nvPr/>
        </p:nvSpPr>
        <p:spPr>
          <a:xfrm>
            <a:off x="5897880" y="5230368"/>
            <a:ext cx="2011680" cy="502920"/>
          </a:xfrm>
          <a:prstGeom prst="rect">
            <a:avLst/>
          </a:prstGeom>
          <a:noFill/>
          <a:ln/>
        </p:spPr>
        <p:txBody>
          <a:bodyPr wrap="square" lIns="0" tIns="0" rIns="0" bIns="0" rtlCol="0" anchor="ctr"/>
          <a:lstStyle/>
          <a:p>
            <a:pPr indent="0" marL="0">
              <a:buNone/>
            </a:pPr>
            <a:r>
              <a:rPr lang="en-US" sz="2000" b="1" dirty="0">
                <a:solidFill>
                  <a:schemeClr val="bg1"/>
                </a:solidFill>
                <a:latin typeface="Arial" pitchFamily="34" charset="0"/>
                <a:ea typeface="Arial" pitchFamily="34" charset="-122"/>
                <a:cs typeface="Arial" pitchFamily="34" charset="-120"/>
              </a:rPr>
              <a:t>Inconclusive</a:t>
            </a:r>
            <a:endParaRPr lang="en-US" sz="2000" dirty="0"/>
          </a:p>
        </p:txBody>
      </p:sp>
      <p:sp>
        <p:nvSpPr>
          <p:cNvPr id="44" name="text_366"/>
          <p:cNvSpPr txBox="1"/>
          <p:nvPr/>
        </p:nvSpPr>
        <p:spPr>
          <a:xfrm>
            <a:off x="8001000" y="5230368"/>
            <a:ext cx="2087575" cy="502920"/>
          </a:xfrm>
          <a:prstGeom prst="rect">
            <a:avLst/>
          </a:prstGeom>
          <a:noFill/>
          <a:ln/>
        </p:spPr>
        <p:txBody>
          <a:bodyPr wrap="square" lIns="0" tIns="0" rIns="0" bIns="0" rtlCol="0" anchor="ctr"/>
          <a:lstStyle/>
          <a:p>
            <a:pPr indent="0" marL="0">
              <a:buNone/>
            </a:pPr>
            <a:r>
              <a:rPr lang="en-US" sz="1300" dirty="0">
                <a:solidFill>
                  <a:schemeClr val="bg1"/>
                </a:solidFill>
              </a:rPr>
              <a:t>fare elasticity after the 2022 rise</a:t>
            </a:r>
            <a:endParaRPr lang="en-US" sz="1300" dirty="0"/>
          </a:p>
        </p:txBody>
      </p:sp>
      <p:sp>
        <p:nvSpPr>
          <p:cNvPr id="45" name="conf_367"/>
          <p:cNvSpPr/>
          <p:nvPr/>
        </p:nvSpPr>
        <p:spPr>
          <a:xfrm>
            <a:off x="10317175" y="5385816"/>
            <a:ext cx="182880" cy="182880"/>
          </a:xfrm>
          <a:prstGeom prst="ellipse">
            <a:avLst/>
          </a:prstGeom>
          <a:solidFill>
            <a:srgbClr val="F5B700"/>
          </a:solidFill>
          <a:ln/>
        </p:spPr>
      </p:sp>
      <p:sp>
        <p:nvSpPr>
          <p:cNvPr id="46" name="conf_368"/>
          <p:cNvSpPr/>
          <p:nvPr/>
        </p:nvSpPr>
        <p:spPr>
          <a:xfrm>
            <a:off x="10573207" y="5385816"/>
            <a:ext cx="182880" cy="182880"/>
          </a:xfrm>
          <a:prstGeom prst="ellipse">
            <a:avLst/>
          </a:prstGeom>
          <a:solidFill>
            <a:srgbClr val="4A4C52"/>
          </a:solidFill>
          <a:ln/>
        </p:spPr>
      </p:sp>
      <p:sp>
        <p:nvSpPr>
          <p:cNvPr id="47" name="conf_369"/>
          <p:cNvSpPr/>
          <p:nvPr/>
        </p:nvSpPr>
        <p:spPr>
          <a:xfrm>
            <a:off x="10829239" y="5385816"/>
            <a:ext cx="182880" cy="182880"/>
          </a:xfrm>
          <a:prstGeom prst="ellipse">
            <a:avLst/>
          </a:prstGeom>
          <a:solidFill>
            <a:srgbClr val="4A4C52"/>
          </a:solidFill>
          <a:ln/>
        </p:spPr>
      </p:sp>
      <p:sp>
        <p:nvSpPr>
          <p:cNvPr id="48" name="conf_370"/>
          <p:cNvSpPr/>
          <p:nvPr/>
        </p:nvSpPr>
        <p:spPr>
          <a:xfrm>
            <a:off x="11085271" y="5385816"/>
            <a:ext cx="182880" cy="182880"/>
          </a:xfrm>
          <a:prstGeom prst="ellipse">
            <a:avLst/>
          </a:prstGeom>
          <a:solidFill>
            <a:srgbClr val="4A4C52"/>
          </a:solidFill>
          <a:ln/>
        </p:spPr>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kicker_371"/>
          <p:cNvSpPr/>
          <p:nvPr/>
        </p:nvSpPr>
        <p:spPr>
          <a:xfrm>
            <a:off x="548640" y="384048"/>
            <a:ext cx="2787091" cy="292608"/>
          </a:xfrm>
          <a:prstGeom prst="roundRect">
            <a:avLst>
              <a:gd name="adj" fmla="val 40625"/>
            </a:avLst>
          </a:prstGeom>
          <a:solidFill>
            <a:schemeClr val="accent1"/>
          </a:solidFill>
          <a:ln/>
        </p:spPr>
        <p:txBody>
          <a:bodyPr wrap="square" lIns="0" tIns="0" rIns="0" bIns="0" rtlCol="0" anchor="ctr"/>
          <a:lstStyle/>
          <a:p>
            <a:pPr algn="ctr" indent="0" marL="0">
              <a:buNone/>
            </a:pPr>
            <a:r>
              <a:rPr lang="en-US" sz="1050" b="1" spc="150" kern="0" dirty="0">
                <a:solidFill>
                  <a:schemeClr val="tx1"/>
                </a:solidFill>
              </a:rPr>
              <a:t>E · CONSISTENCY WITH LITERATURE</a:t>
            </a:r>
            <a:endParaRPr lang="en-US" sz="1050" dirty="0"/>
          </a:p>
        </p:txBody>
      </p:sp>
      <p:sp>
        <p:nvSpPr>
          <p:cNvPr id="3" name="Text 1"/>
          <p:cNvSpPr/>
          <p:nvPr>
            <p:ph idx="101" type="title" hasCustomPrompt="1"/>
          </p:nvPr>
        </p:nvSpPr>
        <p:spPr>
          <a:xfrm>
            <a:off x="548640" y="868680"/>
            <a:ext cx="11094415" cy="77724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Same direction as the evidence, smaller in size</a:t>
            </a:r>
            <a:endParaRPr lang="en-US" sz="3000" dirty="0"/>
          </a:p>
        </p:txBody>
      </p:sp>
      <p:graphicFrame>
        <p:nvGraphicFramePr>
          <p:cNvPr id="32" name="table_lit"/>
          <p:cNvGraphicFramePr>
            <a:graphicFrameLocks noGrp="1"/>
          </p:cNvGraphicFramePr>
          <p:nvPr>
            <p:extLst>
              <p:ext uri="{D42A27DB-BD31-4B8C-83A1-F6EECF244321}">
                <p14:modId xmlns:p14="http://schemas.microsoft.com/office/powerpoint/2010/main" val="1579011935"/>
              </p:ext>
            </p:extLst>
          </p:nvPr>
        </p:nvGraphicFramePr>
        <p:xfrm>
          <a:off x="548640" y="1828800"/>
          <a:ext cx="11094415" cy="914400"/>
        </p:xfrm>
        <a:graphic>
          <a:graphicData uri="http://schemas.openxmlformats.org/drawingml/2006/table">
            <a:tbl>
              <a:tblPr/>
              <a:tblGrid>
                <a:gridCol w="2743200"/>
                <a:gridCol w="3200400"/>
                <a:gridCol w="3931920"/>
                <a:gridCol w="1216152"/>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Study</a:t>
                      </a:r>
                      <a:endParaRPr lang="en-US" sz="1300" dirty="0">
                        <a:latin typeface="Calibri" charset="0"/>
                        <a:ea typeface="Calibri" charset="0"/>
                        <a:cs typeface="Calibri" charset="0"/>
                      </a:endParaRPr>
                    </a:p>
                  </a:txBody>
                  <a:tcPr marL="101600" marR="101600" marT="50800" marB="50800" anchor="ctr">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11111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Finding</a:t>
                      </a:r>
                      <a:endParaRPr lang="en-US" sz="1300" dirty="0">
                        <a:latin typeface="Calibri" charset="0"/>
                        <a:ea typeface="Calibri" charset="0"/>
                        <a:cs typeface="Calibri" charset="0"/>
                      </a:endParaRPr>
                    </a:p>
                  </a:txBody>
                  <a:tcPr marL="101600" marR="101600" marT="50800" marB="50800" anchor="ctr">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11111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Our result</a:t>
                      </a:r>
                      <a:endParaRPr lang="en-US" sz="1300" dirty="0">
                        <a:latin typeface="Calibri" charset="0"/>
                        <a:ea typeface="Calibri" charset="0"/>
                        <a:cs typeface="Calibri" charset="0"/>
                      </a:endParaRPr>
                    </a:p>
                  </a:txBody>
                  <a:tcPr marL="101600" marR="101600" marT="50800" marB="50800" anchor="ctr">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11111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Verdict</a:t>
                      </a:r>
                      <a:endParaRPr lang="en-US" sz="1300" dirty="0">
                        <a:latin typeface="Calibri" charset="0"/>
                        <a:ea typeface="Calibri" charset="0"/>
                        <a:cs typeface="Calibri" charset="0"/>
                      </a:endParaRPr>
                    </a:p>
                  </a:txBody>
                  <a:tcPr marL="101600" marR="101600" marT="50800" marB="50800" anchor="ctr">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111111"/>
                    </a:solidFill>
                  </a:tcPr>
                </a:tc>
              </a:tr>
              <a:tr h="868680">
                <a:tc>
                  <a:txBody>
                    <a:bodyPr/>
                    <a:lstStyle/>
                    <a:p>
                      <a:pPr indent="0" marL="0">
                        <a:buNone/>
                      </a:pPr>
                      <a:r>
                        <a:rPr lang="en-US" sz="1300" b="1" dirty="0">
                          <a:solidFill>
                            <a:srgbClr val="2B2D31"/>
                          </a:solidFill>
                          <a:latin typeface="Calibri" pitchFamily="34" charset="0"/>
                          <a:ea typeface="Calibri" pitchFamily="34" charset="-122"/>
                          <a:cs typeface="Calibri" pitchFamily="34" charset="-120"/>
                        </a:rPr>
                        <a:t>Cook et al. (2025), NBER WP 33584</a:t>
                      </a:r>
                      <a:endParaRPr lang="en-US" sz="1300" dirty="0">
                        <a:latin typeface="Calibri" charset="0"/>
                        <a:ea typeface="Calibri" charset="0"/>
                        <a:cs typeface="Calibri" charset="0"/>
                      </a:endParaRPr>
                    </a:p>
                  </a:txBody>
                  <a:tcPr marL="101600" marR="101600" marT="50800" marB="50800" anchor="ctr">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indent="0" marL="0">
                        <a:buNone/>
                      </a:pPr>
                      <a:r>
                        <a:rPr lang="en-US" sz="1300" dirty="0">
                          <a:solidFill>
                            <a:srgbClr val="2B2D31"/>
                          </a:solidFill>
                          <a:latin typeface="Calibri" pitchFamily="34" charset="0"/>
                          <a:ea typeface="Calibri" pitchFamily="34" charset="-122"/>
                          <a:cs typeface="Calibri" pitchFamily="34" charset="-120"/>
                        </a:rPr>
                        <a:t>Zone speeds up ~15% in early weeks; peak gains larger</a:t>
                      </a:r>
                      <a:endParaRPr lang="en-US" sz="1300" dirty="0">
                        <a:latin typeface="Calibri" charset="0"/>
                        <a:ea typeface="Calibri" charset="0"/>
                        <a:cs typeface="Calibri" charset="0"/>
                      </a:endParaRPr>
                    </a:p>
                  </a:txBody>
                  <a:tcPr marL="101600" marR="101600" marT="50800" marB="50800" anchor="ctr">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indent="0" marL="0">
                        <a:buNone/>
                      </a:pPr>
                      <a:r>
                        <a:rPr lang="en-US" sz="1300" dirty="0">
                          <a:solidFill>
                            <a:srgbClr val="2B2D31"/>
                          </a:solidFill>
                          <a:latin typeface="Calibri" pitchFamily="34" charset="0"/>
                          <a:ea typeface="Calibri" pitchFamily="34" charset="-122"/>
                          <a:cs typeface="Calibri" pitchFamily="34" charset="-120"/>
                        </a:rPr>
                        <a:t>Same direction and peak pattern; smaller size (partly treated control, door-to-door speeds, full year)</a:t>
                      </a:r>
                      <a:endParaRPr lang="en-US" sz="1300" dirty="0">
                        <a:latin typeface="Calibri" charset="0"/>
                        <a:ea typeface="Calibri" charset="0"/>
                        <a:cs typeface="Calibri" charset="0"/>
                      </a:endParaRPr>
                    </a:p>
                  </a:txBody>
                  <a:tcPr marL="101600" marR="101600" marT="50800" marB="50800" anchor="ctr">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indent="0" marL="0">
                        <a:buNone/>
                      </a:pPr>
                      <a:r>
                        <a:rPr lang="en-US" sz="1300" b="1" dirty="0">
                          <a:solidFill>
                            <a:srgbClr val="2B2D31"/>
                          </a:solidFill>
                          <a:latin typeface="Calibri" pitchFamily="34" charset="0"/>
                          <a:ea typeface="Calibri" pitchFamily="34" charset="-122"/>
                          <a:cs typeface="Calibri" pitchFamily="34" charset="-120"/>
                        </a:rPr>
                        <a:t>Consistent</a:t>
                      </a:r>
                      <a:endParaRPr lang="en-US" sz="1300" dirty="0">
                        <a:latin typeface="Calibri" charset="0"/>
                        <a:ea typeface="Calibri" charset="0"/>
                        <a:cs typeface="Calibri" charset="0"/>
                      </a:endParaRPr>
                    </a:p>
                  </a:txBody>
                  <a:tcPr marL="101600" marR="101600" marT="50800" marB="50800" anchor="ctr">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CEBB3"/>
                    </a:solidFill>
                  </a:tcPr>
                </a:tc>
              </a:tr>
              <a:tr h="777240">
                <a:tc>
                  <a:txBody>
                    <a:bodyPr/>
                    <a:lstStyle/>
                    <a:p>
                      <a:pPr indent="0" marL="0">
                        <a:buNone/>
                      </a:pPr>
                      <a:r>
                        <a:rPr lang="en-US" sz="1300" b="1" dirty="0">
                          <a:solidFill>
                            <a:srgbClr val="2B2D31"/>
                          </a:solidFill>
                          <a:latin typeface="Calibri" pitchFamily="34" charset="0"/>
                          <a:ea typeface="Calibri" pitchFamily="34" charset="-122"/>
                          <a:cs typeface="Calibri" pitchFamily="34" charset="-120"/>
                        </a:rPr>
                        <a:t>Transport for London</a:t>
                      </a:r>
                      <a:endParaRPr lang="en-US" sz="1300" dirty="0">
                        <a:latin typeface="Calibri" charset="0"/>
                        <a:ea typeface="Calibri" charset="0"/>
                        <a:cs typeface="Calibri" charset="0"/>
                      </a:endParaRPr>
                    </a:p>
                  </a:txBody>
                  <a:tcPr marL="101600" marR="101600" marT="50800" marB="50800" anchor="ctr">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indent="0" marL="0">
                        <a:buNone/>
                      </a:pPr>
                      <a:r>
                        <a:rPr lang="en-US" sz="1300" dirty="0">
                          <a:solidFill>
                            <a:srgbClr val="2B2D31"/>
                          </a:solidFill>
                          <a:latin typeface="Calibri" pitchFamily="34" charset="0"/>
                          <a:ea typeface="Calibri" pitchFamily="34" charset="-122"/>
                          <a:cs typeface="Calibri" pitchFamily="34" charset="-120"/>
                        </a:rPr>
                        <a:t>Congestion back to pre-charge levels by ~2008</a:t>
                      </a:r>
                      <a:endParaRPr lang="en-US" sz="1300" dirty="0">
                        <a:latin typeface="Calibri" charset="0"/>
                        <a:ea typeface="Calibri" charset="0"/>
                        <a:cs typeface="Calibri" charset="0"/>
                      </a:endParaRPr>
                    </a:p>
                  </a:txBody>
                  <a:tcPr marL="101600" marR="101600" marT="50800" marB="50800" anchor="ctr">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indent="0" marL="0">
                        <a:buNone/>
                      </a:pPr>
                      <a:r>
                        <a:rPr lang="en-US" sz="1300" dirty="0">
                          <a:solidFill>
                            <a:srgbClr val="2B2D31"/>
                          </a:solidFill>
                          <a:latin typeface="Calibri" pitchFamily="34" charset="0"/>
                          <a:ea typeface="Calibri" pitchFamily="34" charset="-122"/>
                          <a:cs typeface="Calibri" pitchFamily="34" charset="-120"/>
                        </a:rPr>
                        <a:t>Our gain faded in the second half of 2025</a:t>
                      </a:r>
                      <a:endParaRPr lang="en-US" sz="1300" dirty="0">
                        <a:latin typeface="Calibri" charset="0"/>
                        <a:ea typeface="Calibri" charset="0"/>
                        <a:cs typeface="Calibri" charset="0"/>
                      </a:endParaRPr>
                    </a:p>
                  </a:txBody>
                  <a:tcPr marL="101600" marR="101600" marT="50800" marB="50800" anchor="ctr">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indent="0" marL="0">
                        <a:buNone/>
                      </a:pPr>
                      <a:r>
                        <a:rPr lang="en-US" sz="1300" b="1" dirty="0">
                          <a:solidFill>
                            <a:srgbClr val="2B2D31"/>
                          </a:solidFill>
                          <a:latin typeface="Calibri" pitchFamily="34" charset="0"/>
                          <a:ea typeface="Calibri" pitchFamily="34" charset="-122"/>
                          <a:cs typeface="Calibri" pitchFamily="34" charset="-120"/>
                        </a:rPr>
                        <a:t>Consistent</a:t>
                      </a:r>
                      <a:endParaRPr lang="en-US" sz="1300" dirty="0">
                        <a:latin typeface="Calibri" charset="0"/>
                        <a:ea typeface="Calibri" charset="0"/>
                        <a:cs typeface="Calibri" charset="0"/>
                      </a:endParaRPr>
                    </a:p>
                  </a:txBody>
                  <a:tcPr marL="101600" marR="101600" marT="50800" marB="50800" anchor="ctr">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CEBB3"/>
                    </a:solidFill>
                  </a:tcPr>
                </a:tc>
              </a:tr>
              <a:tr h="777240">
                <a:tc>
                  <a:txBody>
                    <a:bodyPr/>
                    <a:lstStyle/>
                    <a:p>
                      <a:pPr indent="0" marL="0">
                        <a:buNone/>
                      </a:pPr>
                      <a:r>
                        <a:rPr lang="en-US" sz="1300" b="1" dirty="0">
                          <a:solidFill>
                            <a:srgbClr val="2B2D31"/>
                          </a:solidFill>
                          <a:latin typeface="Calibri" pitchFamily="34" charset="0"/>
                          <a:ea typeface="Calibri" pitchFamily="34" charset="-122"/>
                          <a:cs typeface="Calibri" pitchFamily="34" charset="-120"/>
                        </a:rPr>
                        <a:t>Eliasson (2014), Stockholm</a:t>
                      </a:r>
                      <a:endParaRPr lang="en-US" sz="1300" dirty="0">
                        <a:latin typeface="Calibri" charset="0"/>
                        <a:ea typeface="Calibri" charset="0"/>
                        <a:cs typeface="Calibri" charset="0"/>
                      </a:endParaRPr>
                    </a:p>
                  </a:txBody>
                  <a:tcPr marL="101600" marR="101600" marT="50800" marB="50800" anchor="ctr">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indent="0" marL="0">
                        <a:buNone/>
                      </a:pPr>
                      <a:r>
                        <a:rPr lang="en-US" sz="1300" dirty="0">
                          <a:solidFill>
                            <a:srgbClr val="2B2D31"/>
                          </a:solidFill>
                          <a:latin typeface="Calibri" pitchFamily="34" charset="0"/>
                          <a:ea typeface="Calibri" pitchFamily="34" charset="-122"/>
                          <a:cs typeface="Calibri" pitchFamily="34" charset="-120"/>
                        </a:rPr>
                        <a:t>Traffic −20%, reduction persisted</a:t>
                      </a:r>
                      <a:endParaRPr lang="en-US" sz="1300" dirty="0">
                        <a:latin typeface="Calibri" charset="0"/>
                        <a:ea typeface="Calibri" charset="0"/>
                        <a:cs typeface="Calibri" charset="0"/>
                      </a:endParaRPr>
                    </a:p>
                  </a:txBody>
                  <a:tcPr marL="101600" marR="101600" marT="50800" marB="50800" anchor="ctr">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indent="0" marL="0">
                        <a:buNone/>
                      </a:pPr>
                      <a:r>
                        <a:rPr lang="en-US" sz="1300" dirty="0">
                          <a:solidFill>
                            <a:srgbClr val="2B2D31"/>
                          </a:solidFill>
                          <a:latin typeface="Calibri" pitchFamily="34" charset="0"/>
                          <a:ea typeface="Calibri" pitchFamily="34" charset="-122"/>
                          <a:cs typeface="Calibri" pitchFamily="34" charset="-120"/>
                        </a:rPr>
                        <a:t>Too early to tell for New York</a:t>
                      </a:r>
                      <a:endParaRPr lang="en-US" sz="1300" dirty="0">
                        <a:latin typeface="Calibri" charset="0"/>
                        <a:ea typeface="Calibri" charset="0"/>
                        <a:cs typeface="Calibri" charset="0"/>
                      </a:endParaRPr>
                    </a:p>
                  </a:txBody>
                  <a:tcPr marL="101600" marR="101600" marT="50800" marB="50800" anchor="ctr">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indent="0" marL="0">
                        <a:buNone/>
                      </a:pPr>
                      <a:r>
                        <a:rPr lang="en-US" sz="1300" b="1" dirty="0">
                          <a:solidFill>
                            <a:srgbClr val="2B2D31"/>
                          </a:solidFill>
                          <a:latin typeface="Calibri" pitchFamily="34" charset="0"/>
                          <a:ea typeface="Calibri" pitchFamily="34" charset="-122"/>
                          <a:cs typeface="Calibri" pitchFamily="34" charset="-120"/>
                        </a:rPr>
                        <a:t>Open question</a:t>
                      </a:r>
                      <a:endParaRPr lang="en-US" sz="1300" dirty="0">
                        <a:latin typeface="Calibri" charset="0"/>
                        <a:ea typeface="Calibri" charset="0"/>
                        <a:cs typeface="Calibri" charset="0"/>
                      </a:endParaRPr>
                    </a:p>
                  </a:txBody>
                  <a:tcPr marL="101600" marR="101600" marT="50800" marB="50800" anchor="ctr">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3F3F1"/>
                    </a:solidFill>
                  </a:tcPr>
                </a:tc>
              </a:tr>
              <a:tr h="777240">
                <a:tc>
                  <a:txBody>
                    <a:bodyPr/>
                    <a:lstStyle/>
                    <a:p>
                      <a:pPr indent="0" marL="0">
                        <a:buNone/>
                      </a:pPr>
                      <a:r>
                        <a:rPr lang="en-US" sz="1300" b="1" dirty="0">
                          <a:solidFill>
                            <a:srgbClr val="2B2D31"/>
                          </a:solidFill>
                          <a:latin typeface="Calibri" pitchFamily="34" charset="0"/>
                          <a:ea typeface="Calibri" pitchFamily="34" charset="-122"/>
                          <a:cs typeface="Calibri" pitchFamily="34" charset="-120"/>
                        </a:rPr>
                        <a:t>Schaller (1999), NYC taxis</a:t>
                      </a:r>
                      <a:endParaRPr lang="en-US" sz="1300" dirty="0">
                        <a:latin typeface="Calibri" charset="0"/>
                        <a:ea typeface="Calibri" charset="0"/>
                        <a:cs typeface="Calibri" charset="0"/>
                      </a:endParaRPr>
                    </a:p>
                  </a:txBody>
                  <a:tcPr marL="101600" marR="101600" marT="50800" marB="50800" anchor="ctr">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indent="0" marL="0">
                        <a:buNone/>
                      </a:pPr>
                      <a:r>
                        <a:rPr lang="en-US" sz="1300" dirty="0">
                          <a:solidFill>
                            <a:srgbClr val="2B2D31"/>
                          </a:solidFill>
                          <a:latin typeface="Calibri" pitchFamily="34" charset="0"/>
                          <a:ea typeface="Calibri" pitchFamily="34" charset="-122"/>
                          <a:cs typeface="Calibri" pitchFamily="34" charset="-120"/>
                        </a:rPr>
                        <a:t>Fare elasticity about −0.22</a:t>
                      </a:r>
                      <a:endParaRPr lang="en-US" sz="1300" dirty="0">
                        <a:latin typeface="Calibri" charset="0"/>
                        <a:ea typeface="Calibri" charset="0"/>
                        <a:cs typeface="Calibri" charset="0"/>
                      </a:endParaRPr>
                    </a:p>
                  </a:txBody>
                  <a:tcPr marL="101600" marR="101600" marT="50800" marB="50800" anchor="ctr">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indent="0" marL="0">
                        <a:buNone/>
                      </a:pPr>
                      <a:r>
                        <a:rPr lang="en-US" sz="1300" dirty="0">
                          <a:solidFill>
                            <a:srgbClr val="2B2D31"/>
                          </a:solidFill>
                          <a:latin typeface="Calibri" pitchFamily="34" charset="0"/>
                          <a:ea typeface="Calibri" pitchFamily="34" charset="-122"/>
                          <a:cs typeface="Calibri" pitchFamily="34" charset="-120"/>
                        </a:rPr>
                        <a:t>No measurable demand fall; revenue up 29%</a:t>
                      </a:r>
                      <a:endParaRPr lang="en-US" sz="1300" dirty="0">
                        <a:latin typeface="Calibri" charset="0"/>
                        <a:ea typeface="Calibri" charset="0"/>
                        <a:cs typeface="Calibri" charset="0"/>
                      </a:endParaRPr>
                    </a:p>
                  </a:txBody>
                  <a:tcPr marL="101600" marR="101600" marT="50800" marB="50800" anchor="ctr">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indent="0" marL="0">
                        <a:buNone/>
                      </a:pPr>
                      <a:r>
                        <a:rPr lang="en-US" sz="1300" b="1" dirty="0">
                          <a:solidFill>
                            <a:srgbClr val="2B2D31"/>
                          </a:solidFill>
                          <a:latin typeface="Calibri" pitchFamily="34" charset="0"/>
                          <a:ea typeface="Calibri" pitchFamily="34" charset="-122"/>
                          <a:cs typeface="Calibri" pitchFamily="34" charset="-120"/>
                        </a:rPr>
                        <a:t>Consistent</a:t>
                      </a:r>
                      <a:endParaRPr lang="en-US" sz="1300" dirty="0">
                        <a:latin typeface="Calibri" charset="0"/>
                        <a:ea typeface="Calibri" charset="0"/>
                        <a:cs typeface="Calibri" charset="0"/>
                      </a:endParaRPr>
                    </a:p>
                  </a:txBody>
                  <a:tcPr marL="101600" marR="101600" marT="50800" marB="50800" anchor="ctr">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CEBB3"/>
                    </a:solidFill>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kicker_372"/>
          <p:cNvSpPr/>
          <p:nvPr/>
        </p:nvSpPr>
        <p:spPr>
          <a:xfrm>
            <a:off x="548640" y="384048"/>
            <a:ext cx="1499616" cy="292608"/>
          </a:xfrm>
          <a:prstGeom prst="roundRect">
            <a:avLst>
              <a:gd name="adj" fmla="val 40625"/>
            </a:avLst>
          </a:prstGeom>
          <a:solidFill>
            <a:schemeClr val="accent1"/>
          </a:solidFill>
          <a:ln/>
        </p:spPr>
        <p:txBody>
          <a:bodyPr wrap="square" lIns="0" tIns="0" rIns="0" bIns="0" rtlCol="0" anchor="ctr"/>
          <a:lstStyle/>
          <a:p>
            <a:pPr algn="ctr" indent="0" marL="0">
              <a:buNone/>
            </a:pPr>
            <a:r>
              <a:rPr lang="en-US" sz="1050" b="1" spc="150" kern="0" dirty="0">
                <a:solidFill>
                  <a:schemeClr val="tx1"/>
                </a:solidFill>
              </a:rPr>
              <a:t>E · LIMITATIONS</a:t>
            </a:r>
            <a:endParaRPr lang="en-US" sz="1050" dirty="0"/>
          </a:p>
        </p:txBody>
      </p:sp>
      <p:sp>
        <p:nvSpPr>
          <p:cNvPr id="3" name="Text 1"/>
          <p:cNvSpPr/>
          <p:nvPr>
            <p:ph idx="101" type="title" hasCustomPrompt="1"/>
          </p:nvPr>
        </p:nvSpPr>
        <p:spPr>
          <a:xfrm>
            <a:off x="548640" y="868680"/>
            <a:ext cx="11094415" cy="77724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What the results cannot claim</a:t>
            </a:r>
            <a:endParaRPr lang="en-US" sz="3000" dirty="0"/>
          </a:p>
        </p:txBody>
      </p:sp>
      <p:sp>
        <p:nvSpPr>
          <p:cNvPr id="5" name="card_373"/>
          <p:cNvSpPr/>
          <p:nvPr/>
        </p:nvSpPr>
        <p:spPr>
          <a:xfrm>
            <a:off x="548640" y="1783080"/>
            <a:ext cx="3545738" cy="1920240"/>
          </a:xfrm>
          <a:prstGeom prst="roundRect">
            <a:avLst>
              <a:gd name="adj" fmla="val 5714"/>
            </a:avLst>
          </a:prstGeom>
          <a:solidFill>
            <a:schemeClr val="bg2"/>
          </a:solidFill>
          <a:ln/>
        </p:spPr>
      </p:sp>
      <p:sp>
        <p:nvSpPr>
          <p:cNvPr id="6" name="num_374"/>
          <p:cNvSpPr/>
          <p:nvPr/>
        </p:nvSpPr>
        <p:spPr>
          <a:xfrm>
            <a:off x="822960" y="2057400"/>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7" name="text_375"/>
          <p:cNvSpPr txBox="1"/>
          <p:nvPr/>
        </p:nvSpPr>
        <p:spPr>
          <a:xfrm>
            <a:off x="822960" y="2560320"/>
            <a:ext cx="2997098" cy="384048"/>
          </a:xfrm>
          <a:prstGeom prst="rect">
            <a:avLst/>
          </a:prstGeom>
          <a:noFill/>
          <a:ln/>
        </p:spPr>
        <p:txBody>
          <a:bodyPr wrap="square" lIns="0" tIns="0" rIns="0" bIns="0" rtlCol="0" anchor="t"/>
          <a:lstStyle/>
          <a:p>
            <a:pPr indent="0" marL="0">
              <a:buNone/>
            </a:pPr>
            <a:r>
              <a:rPr lang="en-US" sz="1700" b="1" dirty="0">
                <a:solidFill>
                  <a:schemeClr val="tx1"/>
                </a:solidFill>
              </a:rPr>
              <a:t>Non-parallel pre-trends</a:t>
            </a:r>
            <a:endParaRPr lang="en-US" sz="1700" dirty="0"/>
          </a:p>
        </p:txBody>
      </p:sp>
      <p:sp>
        <p:nvSpPr>
          <p:cNvPr id="8" name="text_376"/>
          <p:cNvSpPr txBox="1"/>
          <p:nvPr/>
        </p:nvSpPr>
        <p:spPr>
          <a:xfrm>
            <a:off x="822960" y="2971800"/>
            <a:ext cx="2997098" cy="640080"/>
          </a:xfrm>
          <a:prstGeom prst="rect">
            <a:avLst/>
          </a:prstGeom>
          <a:noFill/>
          <a:ln/>
        </p:spPr>
        <p:txBody>
          <a:bodyPr wrap="square" lIns="0" tIns="0" rIns="0" bIns="0" rtlCol="0" anchor="t"/>
          <a:lstStyle/>
          <a:p>
            <a:pPr indent="0" marL="0">
              <a:buNone/>
            </a:pPr>
            <a:r>
              <a:rPr lang="en-US" sz="1350" dirty="0">
                <a:solidFill>
                  <a:schemeClr val="tx2"/>
                </a:solidFill>
              </a:rPr>
              <a:t>No specification fully passes; effects are a range.</a:t>
            </a:r>
            <a:endParaRPr lang="en-US" sz="1350" dirty="0"/>
          </a:p>
        </p:txBody>
      </p:sp>
      <p:sp>
        <p:nvSpPr>
          <p:cNvPr id="9" name="card_377"/>
          <p:cNvSpPr/>
          <p:nvPr/>
        </p:nvSpPr>
        <p:spPr>
          <a:xfrm>
            <a:off x="4322978" y="1783080"/>
            <a:ext cx="3545738" cy="1920240"/>
          </a:xfrm>
          <a:prstGeom prst="roundRect">
            <a:avLst>
              <a:gd name="adj" fmla="val 5714"/>
            </a:avLst>
          </a:prstGeom>
          <a:solidFill>
            <a:schemeClr val="bg2"/>
          </a:solidFill>
          <a:ln/>
        </p:spPr>
      </p:sp>
      <p:sp>
        <p:nvSpPr>
          <p:cNvPr id="10" name="num_378"/>
          <p:cNvSpPr/>
          <p:nvPr/>
        </p:nvSpPr>
        <p:spPr>
          <a:xfrm>
            <a:off x="4597298" y="2057400"/>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1" name="text_379"/>
          <p:cNvSpPr txBox="1"/>
          <p:nvPr/>
        </p:nvSpPr>
        <p:spPr>
          <a:xfrm>
            <a:off x="4597298" y="2560320"/>
            <a:ext cx="2997098" cy="384048"/>
          </a:xfrm>
          <a:prstGeom prst="rect">
            <a:avLst/>
          </a:prstGeom>
          <a:noFill/>
          <a:ln/>
        </p:spPr>
        <p:txBody>
          <a:bodyPr wrap="square" lIns="0" tIns="0" rIns="0" bIns="0" rtlCol="0" anchor="t"/>
          <a:lstStyle/>
          <a:p>
            <a:pPr indent="0" marL="0">
              <a:buNone/>
            </a:pPr>
            <a:r>
              <a:rPr lang="en-US" sz="1700" b="1" dirty="0">
                <a:solidFill>
                  <a:schemeClr val="tx1"/>
                </a:solidFill>
              </a:rPr>
              <a:t>Partly treated control</a:t>
            </a:r>
            <a:endParaRPr lang="en-US" sz="1700" dirty="0"/>
          </a:p>
        </p:txBody>
      </p:sp>
      <p:sp>
        <p:nvSpPr>
          <p:cNvPr id="12" name="text_380"/>
          <p:cNvSpPr txBox="1"/>
          <p:nvPr/>
        </p:nvSpPr>
        <p:spPr>
          <a:xfrm>
            <a:off x="4597298" y="2971800"/>
            <a:ext cx="2997098" cy="640080"/>
          </a:xfrm>
          <a:prstGeom prst="rect">
            <a:avLst/>
          </a:prstGeom>
          <a:noFill/>
          <a:ln/>
        </p:spPr>
        <p:txBody>
          <a:bodyPr wrap="square" lIns="0" tIns="0" rIns="0" bIns="0" rtlCol="0" anchor="t"/>
          <a:lstStyle/>
          <a:p>
            <a:pPr indent="0" marL="0">
              <a:buNone/>
            </a:pPr>
            <a:r>
              <a:rPr lang="en-US" sz="1350" dirty="0">
                <a:solidFill>
                  <a:schemeClr val="tx2"/>
                </a:solidFill>
              </a:rPr>
              <a:t>31.5% of control trips paid the fee: lower bounds.</a:t>
            </a:r>
            <a:endParaRPr lang="en-US" sz="1350" dirty="0"/>
          </a:p>
        </p:txBody>
      </p:sp>
      <p:sp>
        <p:nvSpPr>
          <p:cNvPr id="13" name="card_381"/>
          <p:cNvSpPr/>
          <p:nvPr/>
        </p:nvSpPr>
        <p:spPr>
          <a:xfrm>
            <a:off x="8097317" y="1783080"/>
            <a:ext cx="3545738" cy="1920240"/>
          </a:xfrm>
          <a:prstGeom prst="roundRect">
            <a:avLst>
              <a:gd name="adj" fmla="val 5714"/>
            </a:avLst>
          </a:prstGeom>
          <a:solidFill>
            <a:schemeClr val="bg2"/>
          </a:solidFill>
          <a:ln/>
        </p:spPr>
      </p:sp>
      <p:sp>
        <p:nvSpPr>
          <p:cNvPr id="14" name="num_382"/>
          <p:cNvSpPr/>
          <p:nvPr/>
        </p:nvSpPr>
        <p:spPr>
          <a:xfrm>
            <a:off x="8371637" y="2057400"/>
            <a:ext cx="384048" cy="384048"/>
          </a:xfrm>
          <a:prstGeom prst="ellipse">
            <a:avLst/>
          </a:prstGeom>
          <a:solidFill>
            <a:schemeClr val="bg1"/>
          </a:solid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5" name="text_383"/>
          <p:cNvSpPr txBox="1"/>
          <p:nvPr/>
        </p:nvSpPr>
        <p:spPr>
          <a:xfrm>
            <a:off x="8371637" y="2560320"/>
            <a:ext cx="2997098" cy="384048"/>
          </a:xfrm>
          <a:prstGeom prst="rect">
            <a:avLst/>
          </a:prstGeom>
          <a:noFill/>
          <a:ln/>
        </p:spPr>
        <p:txBody>
          <a:bodyPr wrap="square" lIns="0" tIns="0" rIns="0" bIns="0" rtlCol="0" anchor="t"/>
          <a:lstStyle/>
          <a:p>
            <a:pPr indent="0" marL="0">
              <a:buNone/>
            </a:pPr>
            <a:r>
              <a:rPr lang="en-US" sz="1700" b="1" dirty="0">
                <a:solidFill>
                  <a:schemeClr val="tx1"/>
                </a:solidFill>
              </a:rPr>
              <a:t>2025 data changes</a:t>
            </a:r>
            <a:endParaRPr lang="en-US" sz="1700" dirty="0"/>
          </a:p>
        </p:txBody>
      </p:sp>
      <p:sp>
        <p:nvSpPr>
          <p:cNvPr id="16" name="text_384"/>
          <p:cNvSpPr txBox="1"/>
          <p:nvPr/>
        </p:nvSpPr>
        <p:spPr>
          <a:xfrm>
            <a:off x="8371637" y="2971800"/>
            <a:ext cx="2997098" cy="640080"/>
          </a:xfrm>
          <a:prstGeom prst="rect">
            <a:avLst/>
          </a:prstGeom>
          <a:noFill/>
          <a:ln/>
        </p:spPr>
        <p:txBody>
          <a:bodyPr wrap="square" lIns="0" tIns="0" rIns="0" bIns="0" rtlCol="0" anchor="t"/>
          <a:lstStyle/>
          <a:p>
            <a:pPr indent="0" marL="0">
              <a:buNone/>
            </a:pPr>
            <a:r>
              <a:rPr lang="en-US" sz="1350" dirty="0">
                <a:solidFill>
                  <a:schemeClr val="tx2"/>
                </a:solidFill>
              </a:rPr>
              <a:t>Removal rate 4.5% → 9.9%; passenger count often blank.</a:t>
            </a:r>
            <a:endParaRPr lang="en-US" sz="1350" dirty="0"/>
          </a:p>
        </p:txBody>
      </p:sp>
      <p:sp>
        <p:nvSpPr>
          <p:cNvPr id="17" name="card_385"/>
          <p:cNvSpPr/>
          <p:nvPr/>
        </p:nvSpPr>
        <p:spPr>
          <a:xfrm>
            <a:off x="548640" y="3931920"/>
            <a:ext cx="3545738" cy="1920240"/>
          </a:xfrm>
          <a:prstGeom prst="roundRect">
            <a:avLst>
              <a:gd name="adj" fmla="val 5714"/>
            </a:avLst>
          </a:prstGeom>
          <a:solidFill>
            <a:schemeClr val="bg2"/>
          </a:solidFill>
          <a:ln/>
        </p:spPr>
      </p:sp>
      <p:sp>
        <p:nvSpPr>
          <p:cNvPr id="18" name="num_386"/>
          <p:cNvSpPr/>
          <p:nvPr/>
        </p:nvSpPr>
        <p:spPr>
          <a:xfrm>
            <a:off x="822960" y="4206240"/>
            <a:ext cx="384048" cy="384048"/>
          </a:xfrm>
          <a:prstGeom prst="ellipse">
            <a:avLst/>
          </a:prstGeom>
          <a:solidFill>
            <a:schemeClr val="bg1"/>
          </a:solid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19" name="text_387"/>
          <p:cNvSpPr txBox="1"/>
          <p:nvPr/>
        </p:nvSpPr>
        <p:spPr>
          <a:xfrm>
            <a:off x="822960" y="4709160"/>
            <a:ext cx="2997098" cy="384048"/>
          </a:xfrm>
          <a:prstGeom prst="rect">
            <a:avLst/>
          </a:prstGeom>
          <a:noFill/>
          <a:ln/>
        </p:spPr>
        <p:txBody>
          <a:bodyPr wrap="square" lIns="0" tIns="0" rIns="0" bIns="0" rtlCol="0" anchor="t"/>
          <a:lstStyle/>
          <a:p>
            <a:pPr indent="0" marL="0">
              <a:buNone/>
            </a:pPr>
            <a:r>
              <a:rPr lang="en-US" sz="1700" b="1" dirty="0">
                <a:solidFill>
                  <a:schemeClr val="tx1"/>
                </a:solidFill>
              </a:rPr>
              <a:t>Zones, not streets</a:t>
            </a:r>
            <a:endParaRPr lang="en-US" sz="1700" dirty="0"/>
          </a:p>
        </p:txBody>
      </p:sp>
      <p:sp>
        <p:nvSpPr>
          <p:cNvPr id="20" name="text_388"/>
          <p:cNvSpPr txBox="1"/>
          <p:nvPr/>
        </p:nvSpPr>
        <p:spPr>
          <a:xfrm>
            <a:off x="822960" y="5120640"/>
            <a:ext cx="2997098" cy="640080"/>
          </a:xfrm>
          <a:prstGeom prst="rect">
            <a:avLst/>
          </a:prstGeom>
          <a:noFill/>
          <a:ln/>
        </p:spPr>
        <p:txBody>
          <a:bodyPr wrap="square" lIns="0" tIns="0" rIns="0" bIns="0" rtlCol="0" anchor="t"/>
          <a:lstStyle/>
          <a:p>
            <a:pPr indent="0" marL="0">
              <a:buNone/>
            </a:pPr>
            <a:r>
              <a:rPr lang="en-US" sz="1350" dirty="0">
                <a:solidFill>
                  <a:schemeClr val="tx2"/>
                </a:solidFill>
              </a:rPr>
              <a:t>Toll-free FDR Drive and West Side Highway not separated.</a:t>
            </a:r>
            <a:endParaRPr lang="en-US" sz="1350" dirty="0"/>
          </a:p>
        </p:txBody>
      </p:sp>
      <p:sp>
        <p:nvSpPr>
          <p:cNvPr id="21" name="card_389"/>
          <p:cNvSpPr/>
          <p:nvPr/>
        </p:nvSpPr>
        <p:spPr>
          <a:xfrm>
            <a:off x="4322978" y="3931920"/>
            <a:ext cx="3545738" cy="1920240"/>
          </a:xfrm>
          <a:prstGeom prst="roundRect">
            <a:avLst>
              <a:gd name="adj" fmla="val 5714"/>
            </a:avLst>
          </a:prstGeom>
          <a:solidFill>
            <a:schemeClr val="bg2"/>
          </a:solidFill>
          <a:ln/>
        </p:spPr>
      </p:sp>
      <p:sp>
        <p:nvSpPr>
          <p:cNvPr id="22" name="num_390"/>
          <p:cNvSpPr/>
          <p:nvPr/>
        </p:nvSpPr>
        <p:spPr>
          <a:xfrm>
            <a:off x="4597298" y="4206240"/>
            <a:ext cx="384048" cy="384048"/>
          </a:xfrm>
          <a:prstGeom prst="ellipse">
            <a:avLst/>
          </a:prstGeom>
          <a:solidFill>
            <a:schemeClr val="bg1"/>
          </a:solidFill>
          <a:ln/>
        </p:spPr>
        <p:txBody>
          <a:bodyPr wrap="square" lIns="0" tIns="0" rIns="0" bIns="0" rtlCol="0" anchor="ctr"/>
          <a:lstStyle/>
          <a:p>
            <a:pPr algn="ctr" indent="0" marL="0">
              <a:buNone/>
            </a:pPr>
            <a:r>
              <a:rPr lang="en-US" sz="1300" b="1" dirty="0">
                <a:solidFill>
                  <a:schemeClr val="tx1"/>
                </a:solidFill>
              </a:rPr>
              <a:t>5</a:t>
            </a:r>
            <a:endParaRPr lang="en-US" sz="1300" dirty="0"/>
          </a:p>
        </p:txBody>
      </p:sp>
      <p:sp>
        <p:nvSpPr>
          <p:cNvPr id="23" name="text_391"/>
          <p:cNvSpPr txBox="1"/>
          <p:nvPr/>
        </p:nvSpPr>
        <p:spPr>
          <a:xfrm>
            <a:off x="4597298" y="4709160"/>
            <a:ext cx="2997098" cy="384048"/>
          </a:xfrm>
          <a:prstGeom prst="rect">
            <a:avLst/>
          </a:prstGeom>
          <a:noFill/>
          <a:ln/>
        </p:spPr>
        <p:txBody>
          <a:bodyPr wrap="square" lIns="0" tIns="0" rIns="0" bIns="0" rtlCol="0" anchor="t"/>
          <a:lstStyle/>
          <a:p>
            <a:pPr indent="0" marL="0">
              <a:buNone/>
            </a:pPr>
            <a:r>
              <a:rPr lang="en-US" sz="1700" b="1" dirty="0">
                <a:solidFill>
                  <a:schemeClr val="tx1"/>
                </a:solidFill>
              </a:rPr>
              <a:t>Yellow taxis only</a:t>
            </a:r>
            <a:endParaRPr lang="en-US" sz="1700" dirty="0"/>
          </a:p>
        </p:txBody>
      </p:sp>
      <p:sp>
        <p:nvSpPr>
          <p:cNvPr id="24" name="text_392"/>
          <p:cNvSpPr txBox="1"/>
          <p:nvPr/>
        </p:nvSpPr>
        <p:spPr>
          <a:xfrm>
            <a:off x="4597298" y="5120640"/>
            <a:ext cx="2997098" cy="640080"/>
          </a:xfrm>
          <a:prstGeom prst="rect">
            <a:avLst/>
          </a:prstGeom>
          <a:noFill/>
          <a:ln/>
        </p:spPr>
        <p:txBody>
          <a:bodyPr wrap="square" lIns="0" tIns="0" rIns="0" bIns="0" rtlCol="0" anchor="t"/>
          <a:lstStyle/>
          <a:p>
            <a:pPr indent="0" marL="0">
              <a:buNone/>
            </a:pPr>
            <a:r>
              <a:rPr lang="en-US" sz="1350" dirty="0">
                <a:solidFill>
                  <a:schemeClr val="tx2"/>
                </a:solidFill>
              </a:rPr>
              <a:t>Uber and Lyft, the larger market, are not observed.</a:t>
            </a:r>
            <a:endParaRPr lang="en-US" sz="1350" dirty="0"/>
          </a:p>
        </p:txBody>
      </p:sp>
      <p:sp>
        <p:nvSpPr>
          <p:cNvPr id="25" name="card_393"/>
          <p:cNvSpPr/>
          <p:nvPr/>
        </p:nvSpPr>
        <p:spPr>
          <a:xfrm>
            <a:off x="8097317" y="3931920"/>
            <a:ext cx="3545738" cy="1920240"/>
          </a:xfrm>
          <a:prstGeom prst="roundRect">
            <a:avLst>
              <a:gd name="adj" fmla="val 5714"/>
            </a:avLst>
          </a:prstGeom>
          <a:solidFill>
            <a:schemeClr val="bg2"/>
          </a:solidFill>
          <a:ln/>
        </p:spPr>
      </p:sp>
      <p:sp>
        <p:nvSpPr>
          <p:cNvPr id="26" name="num_394"/>
          <p:cNvSpPr/>
          <p:nvPr/>
        </p:nvSpPr>
        <p:spPr>
          <a:xfrm>
            <a:off x="8371637" y="4206240"/>
            <a:ext cx="384048" cy="384048"/>
          </a:xfrm>
          <a:prstGeom prst="ellipse">
            <a:avLst/>
          </a:prstGeom>
          <a:solidFill>
            <a:schemeClr val="bg1"/>
          </a:solidFill>
          <a:ln/>
        </p:spPr>
        <p:txBody>
          <a:bodyPr wrap="square" lIns="0" tIns="0" rIns="0" bIns="0" rtlCol="0" anchor="ctr"/>
          <a:lstStyle/>
          <a:p>
            <a:pPr algn="ctr" indent="0" marL="0">
              <a:buNone/>
            </a:pPr>
            <a:r>
              <a:rPr lang="en-US" sz="1300" b="1" dirty="0">
                <a:solidFill>
                  <a:schemeClr val="tx1"/>
                </a:solidFill>
              </a:rPr>
              <a:t>6</a:t>
            </a:r>
            <a:endParaRPr lang="en-US" sz="1300" dirty="0"/>
          </a:p>
        </p:txBody>
      </p:sp>
      <p:sp>
        <p:nvSpPr>
          <p:cNvPr id="27" name="text_395"/>
          <p:cNvSpPr txBox="1"/>
          <p:nvPr/>
        </p:nvSpPr>
        <p:spPr>
          <a:xfrm>
            <a:off x="8371637" y="4709160"/>
            <a:ext cx="2997098" cy="384048"/>
          </a:xfrm>
          <a:prstGeom prst="rect">
            <a:avLst/>
          </a:prstGeom>
          <a:noFill/>
          <a:ln/>
        </p:spPr>
        <p:txBody>
          <a:bodyPr wrap="square" lIns="0" tIns="0" rIns="0" bIns="0" rtlCol="0" anchor="t"/>
          <a:lstStyle/>
          <a:p>
            <a:pPr indent="0" marL="0">
              <a:buNone/>
            </a:pPr>
            <a:r>
              <a:rPr lang="en-US" sz="1700" b="1" dirty="0">
                <a:solidFill>
                  <a:schemeClr val="tx1"/>
                </a:solidFill>
              </a:rPr>
              <a:t>Short horizon, relative fares</a:t>
            </a:r>
            <a:endParaRPr lang="en-US" sz="1700" dirty="0"/>
          </a:p>
        </p:txBody>
      </p:sp>
      <p:sp>
        <p:nvSpPr>
          <p:cNvPr id="28" name="text_396"/>
          <p:cNvSpPr txBox="1"/>
          <p:nvPr/>
        </p:nvSpPr>
        <p:spPr>
          <a:xfrm>
            <a:off x="8371637" y="5120640"/>
            <a:ext cx="2997098" cy="640080"/>
          </a:xfrm>
          <a:prstGeom prst="rect">
            <a:avLst/>
          </a:prstGeom>
          <a:noFill/>
          <a:ln/>
        </p:spPr>
        <p:txBody>
          <a:bodyPr wrap="square" lIns="0" tIns="0" rIns="0" bIns="0" rtlCol="0" anchor="t"/>
          <a:lstStyle/>
          <a:p>
            <a:pPr indent="0" marL="0">
              <a:buNone/>
            </a:pPr>
            <a:r>
              <a:rPr lang="en-US" sz="1350" dirty="0">
                <a:solidFill>
                  <a:schemeClr val="tx2"/>
                </a:solidFill>
              </a:rPr>
              <a:t>One post-toll year; relative, not total, fare effects.</a:t>
            </a:r>
            <a:endParaRPr lang="en-US" sz="13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kicker_397"/>
          <p:cNvSpPr/>
          <p:nvPr/>
        </p:nvSpPr>
        <p:spPr>
          <a:xfrm>
            <a:off x="548640" y="384048"/>
            <a:ext cx="2626157" cy="292608"/>
          </a:xfrm>
          <a:prstGeom prst="roundRect">
            <a:avLst>
              <a:gd name="adj" fmla="val 40625"/>
            </a:avLst>
          </a:prstGeom>
          <a:solidFill>
            <a:schemeClr val="accent1"/>
          </a:solidFill>
          <a:ln/>
        </p:spPr>
        <p:txBody>
          <a:bodyPr wrap="square" lIns="0" tIns="0" rIns="0" bIns="0" rtlCol="0" anchor="ctr"/>
          <a:lstStyle/>
          <a:p>
            <a:pPr algn="ctr" indent="0" marL="0">
              <a:buNone/>
            </a:pPr>
            <a:r>
              <a:rPr lang="en-US" sz="1050" b="1" spc="150" kern="0" dirty="0">
                <a:solidFill>
                  <a:schemeClr val="tx1"/>
                </a:solidFill>
              </a:rPr>
              <a:t>E · LESSONS FOR INDIAN CITIES</a:t>
            </a:r>
            <a:endParaRPr lang="en-US" sz="1050" dirty="0"/>
          </a:p>
        </p:txBody>
      </p:sp>
      <p:sp>
        <p:nvSpPr>
          <p:cNvPr id="3" name="Text 1"/>
          <p:cNvSpPr/>
          <p:nvPr>
            <p:ph idx="101" type="title" hasCustomPrompt="1"/>
          </p:nvPr>
        </p:nvSpPr>
        <p:spPr>
          <a:xfrm>
            <a:off x="548640" y="868680"/>
            <a:ext cx="11094415" cy="77724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Lessons that transfer, under conditions</a:t>
            </a:r>
            <a:endParaRPr lang="en-US" sz="3000" dirty="0"/>
          </a:p>
        </p:txBody>
      </p:sp>
      <p:sp>
        <p:nvSpPr>
          <p:cNvPr id="5" name="text_398"/>
          <p:cNvSpPr txBox="1"/>
          <p:nvPr/>
        </p:nvSpPr>
        <p:spPr>
          <a:xfrm>
            <a:off x="1234440" y="1737360"/>
            <a:ext cx="4572000" cy="274320"/>
          </a:xfrm>
          <a:prstGeom prst="rect">
            <a:avLst/>
          </a:prstGeom>
          <a:noFill/>
          <a:ln/>
        </p:spPr>
        <p:txBody>
          <a:bodyPr wrap="square" lIns="0" tIns="0" rIns="0" bIns="0" rtlCol="0" anchor="t"/>
          <a:lstStyle/>
          <a:p>
            <a:pPr indent="0" marL="0">
              <a:buNone/>
            </a:pPr>
            <a:r>
              <a:rPr lang="en-US" sz="1200" b="1" spc="100" kern="0" dirty="0">
                <a:solidFill>
                  <a:schemeClr val="accent3"/>
                </a:solidFill>
              </a:rPr>
              <a:t>From New York</a:t>
            </a:r>
            <a:endParaRPr lang="en-US" sz="1200" dirty="0"/>
          </a:p>
        </p:txBody>
      </p:sp>
      <p:sp>
        <p:nvSpPr>
          <p:cNvPr id="6" name="text_399"/>
          <p:cNvSpPr txBox="1"/>
          <p:nvPr/>
        </p:nvSpPr>
        <p:spPr>
          <a:xfrm>
            <a:off x="6263640" y="1737360"/>
            <a:ext cx="4572000" cy="274320"/>
          </a:xfrm>
          <a:prstGeom prst="rect">
            <a:avLst/>
          </a:prstGeom>
          <a:noFill/>
          <a:ln/>
        </p:spPr>
        <p:txBody>
          <a:bodyPr wrap="square" lIns="0" tIns="0" rIns="0" bIns="0" rtlCol="0" anchor="t"/>
          <a:lstStyle/>
          <a:p>
            <a:pPr indent="0" marL="0">
              <a:buNone/>
            </a:pPr>
            <a:r>
              <a:rPr lang="en-US" sz="1200" b="1" spc="100" kern="0" dirty="0">
                <a:solidFill>
                  <a:schemeClr val="accent3"/>
                </a:solidFill>
              </a:rPr>
              <a:t>Condition for Indian cities</a:t>
            </a:r>
            <a:endParaRPr lang="en-US" sz="1200" dirty="0"/>
          </a:p>
        </p:txBody>
      </p:sp>
      <p:sp>
        <p:nvSpPr>
          <p:cNvPr id="7" name="num_400"/>
          <p:cNvSpPr/>
          <p:nvPr/>
        </p:nvSpPr>
        <p:spPr>
          <a:xfrm>
            <a:off x="548640" y="2240280"/>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8" name="text_401"/>
          <p:cNvSpPr txBox="1"/>
          <p:nvPr/>
        </p:nvSpPr>
        <p:spPr>
          <a:xfrm>
            <a:off x="1234440" y="2103120"/>
            <a:ext cx="5120640" cy="658368"/>
          </a:xfrm>
          <a:prstGeom prst="rect">
            <a:avLst/>
          </a:prstGeom>
          <a:noFill/>
          <a:ln/>
        </p:spPr>
        <p:txBody>
          <a:bodyPr wrap="square" lIns="0" tIns="0" rIns="0" bIns="0" rtlCol="0" anchor="ctr"/>
          <a:lstStyle/>
          <a:p>
            <a:pPr indent="0" marL="0">
              <a:buNone/>
            </a:pPr>
            <a:r>
              <a:rPr lang="en-US" sz="1500" b="1" dirty="0">
                <a:solidFill>
                  <a:schemeClr val="tx1"/>
                </a:solidFill>
              </a:rPr>
              <a:t>Price the peak, when congestion is worst</a:t>
            </a:r>
            <a:endParaRPr lang="en-US" sz="1500" dirty="0"/>
          </a:p>
        </p:txBody>
      </p:sp>
      <p:sp>
        <p:nvSpPr>
          <p:cNvPr id="9" name="card_402"/>
          <p:cNvSpPr/>
          <p:nvPr/>
        </p:nvSpPr>
        <p:spPr>
          <a:xfrm>
            <a:off x="6126480" y="2103120"/>
            <a:ext cx="5516575" cy="658368"/>
          </a:xfrm>
          <a:prstGeom prst="roundRect">
            <a:avLst>
              <a:gd name="adj" fmla="val 16667"/>
            </a:avLst>
          </a:prstGeom>
          <a:solidFill>
            <a:schemeClr val="bg2"/>
          </a:solidFill>
          <a:ln/>
        </p:spPr>
      </p:sp>
      <p:sp>
        <p:nvSpPr>
          <p:cNvPr id="10" name="text_403"/>
          <p:cNvSpPr txBox="1"/>
          <p:nvPr/>
        </p:nvSpPr>
        <p:spPr>
          <a:xfrm>
            <a:off x="6355080" y="2103120"/>
            <a:ext cx="5059375" cy="658368"/>
          </a:xfrm>
          <a:prstGeom prst="rect">
            <a:avLst/>
          </a:prstGeom>
          <a:noFill/>
          <a:ln/>
        </p:spPr>
        <p:txBody>
          <a:bodyPr wrap="square" lIns="0" tIns="0" rIns="0" bIns="0" rtlCol="0" anchor="ctr"/>
          <a:lstStyle/>
          <a:p>
            <a:pPr indent="0" marL="0">
              <a:buNone/>
            </a:pPr>
            <a:r>
              <a:rPr lang="en-US" sz="1350" dirty="0">
                <a:solidFill>
                  <a:schemeClr val="tx2"/>
                </a:solidFill>
              </a:rPr>
              <a:t>FASTag and number-plate cameras make time-of-day charging enforceable</a:t>
            </a:r>
            <a:endParaRPr lang="en-US" sz="1350" dirty="0"/>
          </a:p>
        </p:txBody>
      </p:sp>
      <p:sp>
        <p:nvSpPr>
          <p:cNvPr id="11" name="num_404"/>
          <p:cNvSpPr/>
          <p:nvPr/>
        </p:nvSpPr>
        <p:spPr>
          <a:xfrm>
            <a:off x="548640" y="3017520"/>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2" name="text_405"/>
          <p:cNvSpPr txBox="1"/>
          <p:nvPr/>
        </p:nvSpPr>
        <p:spPr>
          <a:xfrm>
            <a:off x="1234440" y="2880360"/>
            <a:ext cx="5120640" cy="658368"/>
          </a:xfrm>
          <a:prstGeom prst="rect">
            <a:avLst/>
          </a:prstGeom>
          <a:noFill/>
          <a:ln/>
        </p:spPr>
        <p:txBody>
          <a:bodyPr wrap="square" lIns="0" tIns="0" rIns="0" bIns="0" rtlCol="0" anchor="ctr"/>
          <a:lstStyle/>
          <a:p>
            <a:pPr indent="0" marL="0">
              <a:buNone/>
            </a:pPr>
            <a:r>
              <a:rPr lang="en-US" sz="1500" b="1" dirty="0">
                <a:solidFill>
                  <a:schemeClr val="tx1"/>
                </a:solidFill>
              </a:rPr>
              <a:t>Gains can fade within a year</a:t>
            </a:r>
            <a:endParaRPr lang="en-US" sz="1500" dirty="0"/>
          </a:p>
        </p:txBody>
      </p:sp>
      <p:sp>
        <p:nvSpPr>
          <p:cNvPr id="13" name="card_406"/>
          <p:cNvSpPr/>
          <p:nvPr/>
        </p:nvSpPr>
        <p:spPr>
          <a:xfrm>
            <a:off x="6126480" y="2880360"/>
            <a:ext cx="5516575" cy="658368"/>
          </a:xfrm>
          <a:prstGeom prst="roundRect">
            <a:avLst>
              <a:gd name="adj" fmla="val 16667"/>
            </a:avLst>
          </a:prstGeom>
          <a:solidFill>
            <a:schemeClr val="bg2"/>
          </a:solidFill>
          <a:ln/>
        </p:spPr>
      </p:sp>
      <p:sp>
        <p:nvSpPr>
          <p:cNvPr id="14" name="text_407"/>
          <p:cNvSpPr txBox="1"/>
          <p:nvPr/>
        </p:nvSpPr>
        <p:spPr>
          <a:xfrm>
            <a:off x="6355080" y="2880360"/>
            <a:ext cx="5059375" cy="658368"/>
          </a:xfrm>
          <a:prstGeom prst="rect">
            <a:avLst/>
          </a:prstGeom>
          <a:noFill/>
          <a:ln/>
        </p:spPr>
        <p:txBody>
          <a:bodyPr wrap="square" lIns="0" tIns="0" rIns="0" bIns="0" rtlCol="0" anchor="ctr"/>
          <a:lstStyle/>
          <a:p>
            <a:pPr indent="0" marL="0">
              <a:buNone/>
            </a:pPr>
            <a:r>
              <a:rPr lang="en-US" sz="1350" dirty="0">
                <a:solidFill>
                  <a:schemeClr val="tx2"/>
                </a:solidFill>
              </a:rPr>
              <a:t>Pair charges with better buses and metro; protect freed road space</a:t>
            </a:r>
            <a:endParaRPr lang="en-US" sz="1350" dirty="0"/>
          </a:p>
        </p:txBody>
      </p:sp>
      <p:sp>
        <p:nvSpPr>
          <p:cNvPr id="15" name="num_408"/>
          <p:cNvSpPr/>
          <p:nvPr/>
        </p:nvSpPr>
        <p:spPr>
          <a:xfrm>
            <a:off x="548640" y="3794760"/>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6" name="text_409"/>
          <p:cNvSpPr txBox="1"/>
          <p:nvPr/>
        </p:nvSpPr>
        <p:spPr>
          <a:xfrm>
            <a:off x="1234440" y="3657600"/>
            <a:ext cx="5120640" cy="658368"/>
          </a:xfrm>
          <a:prstGeom prst="rect">
            <a:avLst/>
          </a:prstGeom>
          <a:noFill/>
          <a:ln/>
        </p:spPr>
        <p:txBody>
          <a:bodyPr wrap="square" lIns="0" tIns="0" rIns="0" bIns="0" rtlCol="0" anchor="ctr"/>
          <a:lstStyle/>
          <a:p>
            <a:pPr indent="0" marL="0">
              <a:buNone/>
            </a:pPr>
            <a:r>
              <a:rPr lang="en-US" sz="1500" b="1" dirty="0">
                <a:solidFill>
                  <a:schemeClr val="tx1"/>
                </a:solidFill>
              </a:rPr>
              <a:t>Charge private vehicles, not shared rides</a:t>
            </a:r>
            <a:endParaRPr lang="en-US" sz="1500" dirty="0"/>
          </a:p>
        </p:txBody>
      </p:sp>
      <p:sp>
        <p:nvSpPr>
          <p:cNvPr id="17" name="card_410"/>
          <p:cNvSpPr/>
          <p:nvPr/>
        </p:nvSpPr>
        <p:spPr>
          <a:xfrm>
            <a:off x="6126480" y="3657600"/>
            <a:ext cx="5516575" cy="658368"/>
          </a:xfrm>
          <a:prstGeom prst="roundRect">
            <a:avLst>
              <a:gd name="adj" fmla="val 16667"/>
            </a:avLst>
          </a:prstGeom>
          <a:solidFill>
            <a:schemeClr val="bg2"/>
          </a:solidFill>
          <a:ln/>
        </p:spPr>
      </p:sp>
      <p:sp>
        <p:nvSpPr>
          <p:cNvPr id="18" name="text_411"/>
          <p:cNvSpPr txBox="1"/>
          <p:nvPr/>
        </p:nvSpPr>
        <p:spPr>
          <a:xfrm>
            <a:off x="6355080" y="3657600"/>
            <a:ext cx="5059375" cy="658368"/>
          </a:xfrm>
          <a:prstGeom prst="rect">
            <a:avLst/>
          </a:prstGeom>
          <a:noFill/>
          <a:ln/>
        </p:spPr>
        <p:txBody>
          <a:bodyPr wrap="square" lIns="0" tIns="0" rIns="0" bIns="0" rtlCol="0" anchor="ctr"/>
          <a:lstStyle/>
          <a:p>
            <a:pPr indent="0" marL="0">
              <a:buNone/>
            </a:pPr>
            <a:r>
              <a:rPr lang="en-US" sz="1350" dirty="0">
                <a:solidFill>
                  <a:schemeClr val="tx2"/>
                </a:solidFill>
              </a:rPr>
              <a:t>A $0.75 taxi fee barely moved demand; cover two-wheelers and autos</a:t>
            </a:r>
            <a:endParaRPr lang="en-US" sz="1350" dirty="0"/>
          </a:p>
        </p:txBody>
      </p:sp>
      <p:sp>
        <p:nvSpPr>
          <p:cNvPr id="19" name="num_412"/>
          <p:cNvSpPr/>
          <p:nvPr/>
        </p:nvSpPr>
        <p:spPr>
          <a:xfrm>
            <a:off x="548640" y="4572000"/>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20" name="text_413"/>
          <p:cNvSpPr txBox="1"/>
          <p:nvPr/>
        </p:nvSpPr>
        <p:spPr>
          <a:xfrm>
            <a:off x="1234440" y="4434840"/>
            <a:ext cx="5120640" cy="658368"/>
          </a:xfrm>
          <a:prstGeom prst="rect">
            <a:avLst/>
          </a:prstGeom>
          <a:noFill/>
          <a:ln/>
        </p:spPr>
        <p:txBody>
          <a:bodyPr wrap="square" lIns="0" tIns="0" rIns="0" bIns="0" rtlCol="0" anchor="ctr"/>
          <a:lstStyle/>
          <a:p>
            <a:pPr indent="0" marL="0">
              <a:buNone/>
            </a:pPr>
            <a:r>
              <a:rPr lang="en-US" sz="1500" b="1" dirty="0">
                <a:solidFill>
                  <a:schemeClr val="tx1"/>
                </a:solidFill>
              </a:rPr>
              <a:t>Regulated fare rises need not collapse demand</a:t>
            </a:r>
            <a:endParaRPr lang="en-US" sz="1500" dirty="0"/>
          </a:p>
        </p:txBody>
      </p:sp>
      <p:sp>
        <p:nvSpPr>
          <p:cNvPr id="21" name="card_414"/>
          <p:cNvSpPr/>
          <p:nvPr/>
        </p:nvSpPr>
        <p:spPr>
          <a:xfrm>
            <a:off x="6126480" y="4434840"/>
            <a:ext cx="5516575" cy="658368"/>
          </a:xfrm>
          <a:prstGeom prst="roundRect">
            <a:avLst>
              <a:gd name="adj" fmla="val 16667"/>
            </a:avLst>
          </a:prstGeom>
          <a:solidFill>
            <a:schemeClr val="bg2"/>
          </a:solidFill>
          <a:ln/>
        </p:spPr>
      </p:sp>
      <p:sp>
        <p:nvSpPr>
          <p:cNvPr id="22" name="text_415"/>
          <p:cNvSpPr txBox="1"/>
          <p:nvPr/>
        </p:nvSpPr>
        <p:spPr>
          <a:xfrm>
            <a:off x="6355080" y="4434840"/>
            <a:ext cx="5059375" cy="658368"/>
          </a:xfrm>
          <a:prstGeom prst="rect">
            <a:avLst/>
          </a:prstGeom>
          <a:noFill/>
          <a:ln/>
        </p:spPr>
        <p:txBody>
          <a:bodyPr wrap="square" lIns="0" tIns="0" rIns="0" bIns="0" rtlCol="0" anchor="ctr"/>
          <a:lstStyle/>
          <a:p>
            <a:pPr indent="0" marL="0">
              <a:buNone/>
            </a:pPr>
            <a:r>
              <a:rPr lang="en-US" sz="1350" dirty="0">
                <a:solidFill>
                  <a:schemeClr val="tx2"/>
                </a:solidFill>
              </a:rPr>
              <a:t>App-based fares differ: 2025 MoRTH guidelines allow surge up to 2× base fare</a:t>
            </a:r>
            <a:endParaRPr lang="en-US" sz="1350" dirty="0"/>
          </a:p>
        </p:txBody>
      </p:sp>
      <p:sp>
        <p:nvSpPr>
          <p:cNvPr id="23" name="num_416"/>
          <p:cNvSpPr/>
          <p:nvPr/>
        </p:nvSpPr>
        <p:spPr>
          <a:xfrm>
            <a:off x="548640" y="5349240"/>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tx1"/>
                </a:solidFill>
              </a:rPr>
              <a:t>5</a:t>
            </a:r>
            <a:endParaRPr lang="en-US" sz="1300" dirty="0"/>
          </a:p>
        </p:txBody>
      </p:sp>
      <p:sp>
        <p:nvSpPr>
          <p:cNvPr id="24" name="text_417"/>
          <p:cNvSpPr txBox="1"/>
          <p:nvPr/>
        </p:nvSpPr>
        <p:spPr>
          <a:xfrm>
            <a:off x="1234440" y="5212080"/>
            <a:ext cx="5120640" cy="658368"/>
          </a:xfrm>
          <a:prstGeom prst="rect">
            <a:avLst/>
          </a:prstGeom>
          <a:noFill/>
          <a:ln/>
        </p:spPr>
        <p:txBody>
          <a:bodyPr wrap="square" lIns="0" tIns="0" rIns="0" bIns="0" rtlCol="0" anchor="ctr"/>
          <a:lstStyle/>
          <a:p>
            <a:pPr indent="0" marL="0">
              <a:buNone/>
            </a:pPr>
            <a:r>
              <a:rPr lang="en-US" sz="1500" b="1" dirty="0">
                <a:solidFill>
                  <a:schemeClr val="tx1"/>
                </a:solidFill>
              </a:rPr>
              <a:t>Evaluation needs trip-level data</a:t>
            </a:r>
            <a:endParaRPr lang="en-US" sz="1500" dirty="0"/>
          </a:p>
        </p:txBody>
      </p:sp>
      <p:sp>
        <p:nvSpPr>
          <p:cNvPr id="25" name="card_418"/>
          <p:cNvSpPr/>
          <p:nvPr/>
        </p:nvSpPr>
        <p:spPr>
          <a:xfrm>
            <a:off x="6126480" y="5212080"/>
            <a:ext cx="5516575" cy="658368"/>
          </a:xfrm>
          <a:prstGeom prst="roundRect">
            <a:avLst>
              <a:gd name="adj" fmla="val 16667"/>
            </a:avLst>
          </a:prstGeom>
          <a:solidFill>
            <a:schemeClr val="bg2"/>
          </a:solidFill>
          <a:ln/>
        </p:spPr>
      </p:sp>
      <p:sp>
        <p:nvSpPr>
          <p:cNvPr id="26" name="text_419"/>
          <p:cNvSpPr txBox="1"/>
          <p:nvPr/>
        </p:nvSpPr>
        <p:spPr>
          <a:xfrm>
            <a:off x="6355080" y="5212080"/>
            <a:ext cx="5059375" cy="658368"/>
          </a:xfrm>
          <a:prstGeom prst="rect">
            <a:avLst/>
          </a:prstGeom>
          <a:noFill/>
          <a:ln/>
        </p:spPr>
        <p:txBody>
          <a:bodyPr wrap="square" lIns="0" tIns="0" rIns="0" bIns="0" rtlCol="0" anchor="ctr"/>
          <a:lstStyle/>
          <a:p>
            <a:pPr indent="0" marL="0">
              <a:buNone/>
            </a:pPr>
            <a:r>
              <a:rPr lang="en-US" sz="1350" dirty="0">
                <a:solidFill>
                  <a:schemeClr val="tx2"/>
                </a:solidFill>
              </a:rPr>
              <a:t>Require aggregators and meters to share anonymised trip records</a:t>
            </a:r>
            <a:endParaRPr lang="en-US" sz="1350" dirty="0"/>
          </a:p>
        </p:txBody>
      </p:sp>
      <p:sp>
        <p:nvSpPr>
          <p:cNvPr id="27" name="text_420"/>
          <p:cNvSpPr txBox="1"/>
          <p:nvPr/>
        </p:nvSpPr>
        <p:spPr>
          <a:xfrm>
            <a:off x="548640" y="6053328"/>
            <a:ext cx="11094415" cy="274320"/>
          </a:xfrm>
          <a:prstGeom prst="rect">
            <a:avLst/>
          </a:prstGeom>
          <a:noFill/>
          <a:ln/>
        </p:spPr>
        <p:txBody>
          <a:bodyPr wrap="square" lIns="0" tIns="0" rIns="0" bIns="0" rtlCol="0" anchor="t"/>
          <a:lstStyle/>
          <a:p>
            <a:pPr indent="0" marL="0">
              <a:buNone/>
            </a:pPr>
            <a:r>
              <a:rPr lang="en-US" sz="1000" i="1" dirty="0">
                <a:solidFill>
                  <a:schemeClr val="accent3"/>
                </a:solidFill>
              </a:rPr>
              <a:t>Indian context: Ministry of Road Transport and Highways, Motor Vehicle Aggregator Guidelines 2025.</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3" name="photo_concl" descr="Illustration: taxis driving under a toll-zone camera gantry">    </p:cNvPr>
          <p:cNvPicPr>
            <a:picLocks noChangeAspect="1"/>
          </p:cNvPicPr>
          <p:nvPr/>
        </p:nvPicPr>
        <p:blipFill>
          <a:blip r:embed="rId1"/>
          <a:srcRect l="0" r="0" t="0" b="0"/>
          <a:stretch/>
        </p:blipFill>
        <p:spPr>
          <a:xfrm>
            <a:off x="8259775" y="0"/>
            <a:ext cx="3931920" cy="6858000"/>
          </a:xfrm>
          <a:prstGeom prst="rect">
            <a:avLst/>
          </a:prstGeom>
        </p:spPr>
      </p:pic>
      <p:sp>
        <p:nvSpPr>
          <p:cNvPr id="4" name="kicker_421"/>
          <p:cNvSpPr/>
          <p:nvPr/>
        </p:nvSpPr>
        <p:spPr>
          <a:xfrm>
            <a:off x="548640" y="384048"/>
            <a:ext cx="1177747" cy="292608"/>
          </a:xfrm>
          <a:prstGeom prst="roundRect">
            <a:avLst>
              <a:gd name="adj" fmla="val 40625"/>
            </a:avLst>
          </a:prstGeom>
          <a:solidFill>
            <a:schemeClr val="accent1"/>
          </a:solidFill>
          <a:ln/>
        </p:spPr>
        <p:txBody>
          <a:bodyPr wrap="square" lIns="0" tIns="0" rIns="0" bIns="0" rtlCol="0" anchor="ctr"/>
          <a:lstStyle/>
          <a:p>
            <a:pPr algn="ctr" indent="0" marL="0">
              <a:buNone/>
            </a:pPr>
            <a:r>
              <a:rPr lang="en-US" sz="1050" b="1" spc="150" kern="0" dirty="0">
                <a:solidFill>
                  <a:schemeClr val="tx1"/>
                </a:solidFill>
              </a:rPr>
              <a:t>CONCLUSIONS</a:t>
            </a:r>
            <a:endParaRPr lang="en-US" sz="1050" dirty="0"/>
          </a:p>
        </p:txBody>
      </p:sp>
      <p:sp>
        <p:nvSpPr>
          <p:cNvPr id="5" name="text_422"/>
          <p:cNvSpPr txBox="1"/>
          <p:nvPr/>
        </p:nvSpPr>
        <p:spPr>
          <a:xfrm>
            <a:off x="548640" y="868680"/>
            <a:ext cx="7315200" cy="731520"/>
          </a:xfrm>
          <a:prstGeom prst="rect">
            <a:avLst/>
          </a:prstGeom>
          <a:noFill/>
          <a:ln/>
        </p:spPr>
        <p:txBody>
          <a:bodyPr wrap="square" lIns="0" tIns="0" rIns="0" bIns="0" rtlCol="0" anchor="t"/>
          <a:lstStyle/>
          <a:p>
            <a:pPr indent="0" marL="0">
              <a:buNone/>
            </a:pPr>
            <a:r>
              <a:rPr lang="en-US" sz="3000" b="1" dirty="0">
                <a:solidFill>
                  <a:schemeClr val="bg1"/>
                </a:solidFill>
                <a:latin typeface="Arial" pitchFamily="34" charset="0"/>
                <a:ea typeface="Arial" pitchFamily="34" charset="-122"/>
                <a:cs typeface="Arial" pitchFamily="34" charset="-120"/>
              </a:rPr>
              <a:t>What the evidence says</a:t>
            </a:r>
            <a:endParaRPr lang="en-US" sz="3000" dirty="0"/>
          </a:p>
        </p:txBody>
      </p:sp>
      <p:sp>
        <p:nvSpPr>
          <p:cNvPr id="6" name="text_423"/>
          <p:cNvSpPr txBox="1"/>
          <p:nvPr/>
        </p:nvSpPr>
        <p:spPr>
          <a:xfrm>
            <a:off x="548640" y="1828800"/>
            <a:ext cx="2103120" cy="822960"/>
          </a:xfrm>
          <a:prstGeom prst="rect">
            <a:avLst/>
          </a:prstGeom>
          <a:noFill/>
          <a:ln/>
        </p:spPr>
        <p:txBody>
          <a:bodyPr wrap="square" lIns="0" tIns="0" rIns="0" bIns="0" rtlCol="0" anchor="ctr"/>
          <a:lstStyle/>
          <a:p>
            <a:pPr indent="0" marL="0">
              <a:buNone/>
            </a:pPr>
            <a:r>
              <a:rPr lang="en-US" sz="3000" b="1" dirty="0">
                <a:solidFill>
                  <a:schemeClr val="accent1"/>
                </a:solidFill>
                <a:latin typeface="Arial" pitchFamily="34" charset="0"/>
                <a:ea typeface="Arial" pitchFamily="34" charset="-122"/>
                <a:cs typeface="Arial" pitchFamily="34" charset="-120"/>
              </a:rPr>
              <a:t>+1–3%</a:t>
            </a:r>
            <a:endParaRPr lang="en-US" sz="3000" dirty="0"/>
          </a:p>
        </p:txBody>
      </p:sp>
      <p:sp>
        <p:nvSpPr>
          <p:cNvPr id="7" name="text_424"/>
          <p:cNvSpPr txBox="1"/>
          <p:nvPr/>
        </p:nvSpPr>
        <p:spPr>
          <a:xfrm>
            <a:off x="2834640" y="1828800"/>
            <a:ext cx="5212080" cy="822960"/>
          </a:xfrm>
          <a:prstGeom prst="rect">
            <a:avLst/>
          </a:prstGeom>
          <a:noFill/>
          <a:ln/>
        </p:spPr>
        <p:txBody>
          <a:bodyPr wrap="square" lIns="0" tIns="0" rIns="0" bIns="0" rtlCol="0" anchor="ctr"/>
          <a:lstStyle/>
          <a:p>
            <a:pPr indent="0" marL="0">
              <a:buNone/>
            </a:pPr>
            <a:r>
              <a:rPr lang="en-US" sz="1500" dirty="0">
                <a:solidFill>
                  <a:schemeClr val="bg1"/>
                </a:solidFill>
              </a:rPr>
              <a:t>Congestion pricing modestly sped up taxi travel in the zone, mostly in early 2025 (a lower bound).</a:t>
            </a:r>
            <a:endParaRPr lang="en-US" sz="1500" dirty="0"/>
          </a:p>
        </p:txBody>
      </p:sp>
      <p:sp>
        <p:nvSpPr>
          <p:cNvPr id="8" name="text_425"/>
          <p:cNvSpPr txBox="1"/>
          <p:nvPr/>
        </p:nvSpPr>
        <p:spPr>
          <a:xfrm>
            <a:off x="548640" y="2907792"/>
            <a:ext cx="2103120" cy="822960"/>
          </a:xfrm>
          <a:prstGeom prst="rect">
            <a:avLst/>
          </a:prstGeom>
          <a:noFill/>
          <a:ln/>
        </p:spPr>
        <p:txBody>
          <a:bodyPr wrap="square" lIns="0" tIns="0" rIns="0" bIns="0" rtlCol="0" anchor="ctr"/>
          <a:lstStyle/>
          <a:p>
            <a:pPr indent="0" marL="0">
              <a:buNone/>
            </a:pPr>
            <a:r>
              <a:rPr lang="en-US" sz="3000" b="1" dirty="0">
                <a:solidFill>
                  <a:schemeClr val="accent1"/>
                </a:solidFill>
                <a:latin typeface="Arial" pitchFamily="34" charset="0"/>
                <a:ea typeface="Arial" pitchFamily="34" charset="-122"/>
                <a:cs typeface="Arial" pitchFamily="34" charset="-120"/>
              </a:rPr>
              <a:t>+4 pp</a:t>
            </a:r>
            <a:endParaRPr lang="en-US" sz="3000" dirty="0"/>
          </a:p>
        </p:txBody>
      </p:sp>
      <p:sp>
        <p:nvSpPr>
          <p:cNvPr id="9" name="text_426"/>
          <p:cNvSpPr txBox="1"/>
          <p:nvPr/>
        </p:nvSpPr>
        <p:spPr>
          <a:xfrm>
            <a:off x="2834640" y="2907792"/>
            <a:ext cx="5212080" cy="822960"/>
          </a:xfrm>
          <a:prstGeom prst="rect">
            <a:avLst/>
          </a:prstGeom>
          <a:noFill/>
          <a:ln/>
        </p:spPr>
        <p:txBody>
          <a:bodyPr wrap="square" lIns="0" tIns="0" rIns="0" bIns="0" rtlCol="0" anchor="ctr"/>
          <a:lstStyle/>
          <a:p>
            <a:pPr indent="0" marL="0">
              <a:buNone/>
            </a:pPr>
            <a:r>
              <a:rPr lang="en-US" sz="1500" dirty="0">
                <a:solidFill>
                  <a:schemeClr val="bg1"/>
                </a:solidFill>
              </a:rPr>
              <a:t>Gains were larger at peak, when the toll is $9: the toll, not something else, drove them.</a:t>
            </a:r>
            <a:endParaRPr lang="en-US" sz="1500" dirty="0"/>
          </a:p>
        </p:txBody>
      </p:sp>
      <p:sp>
        <p:nvSpPr>
          <p:cNvPr id="10" name="text_427"/>
          <p:cNvSpPr txBox="1"/>
          <p:nvPr/>
        </p:nvSpPr>
        <p:spPr>
          <a:xfrm>
            <a:off x="548640" y="3986784"/>
            <a:ext cx="2103120" cy="822960"/>
          </a:xfrm>
          <a:prstGeom prst="rect">
            <a:avLst/>
          </a:prstGeom>
          <a:noFill/>
          <a:ln/>
        </p:spPr>
        <p:txBody>
          <a:bodyPr wrap="square" lIns="0" tIns="0" rIns="0" bIns="0" rtlCol="0" anchor="ctr"/>
          <a:lstStyle/>
          <a:p>
            <a:pPr indent="0" marL="0">
              <a:buNone/>
            </a:pPr>
            <a:r>
              <a:rPr lang="en-US" sz="3000" b="1" dirty="0">
                <a:solidFill>
                  <a:schemeClr val="accent1"/>
                </a:solidFill>
                <a:latin typeface="Arial" pitchFamily="34" charset="0"/>
                <a:ea typeface="Arial" pitchFamily="34" charset="-122"/>
                <a:cs typeface="Arial" pitchFamily="34" charset="-120"/>
              </a:rPr>
              <a:t>−6 to −8%</a:t>
            </a:r>
            <a:endParaRPr lang="en-US" sz="3000" dirty="0"/>
          </a:p>
        </p:txBody>
      </p:sp>
      <p:sp>
        <p:nvSpPr>
          <p:cNvPr id="11" name="text_428"/>
          <p:cNvSpPr txBox="1"/>
          <p:nvPr/>
        </p:nvSpPr>
        <p:spPr>
          <a:xfrm>
            <a:off x="2834640" y="3986784"/>
            <a:ext cx="5212080" cy="822960"/>
          </a:xfrm>
          <a:prstGeom prst="rect">
            <a:avLst/>
          </a:prstGeom>
          <a:noFill/>
          <a:ln/>
        </p:spPr>
        <p:txBody>
          <a:bodyPr wrap="square" lIns="0" tIns="0" rIns="0" bIns="0" rtlCol="0" anchor="ctr"/>
          <a:lstStyle/>
          <a:p>
            <a:pPr indent="0" marL="0">
              <a:buNone/>
            </a:pPr>
            <a:r>
              <a:rPr lang="en-US" sz="1500" dirty="0">
                <a:solidFill>
                  <a:schemeClr val="bg1"/>
                </a:solidFill>
              </a:rPr>
              <a:t>Pickups fell most just outside the boundary; inside the zone, 2–5%.</a:t>
            </a:r>
            <a:endParaRPr lang="en-US" sz="1500" dirty="0"/>
          </a:p>
        </p:txBody>
      </p:sp>
      <p:sp>
        <p:nvSpPr>
          <p:cNvPr id="12" name="text_429"/>
          <p:cNvSpPr txBox="1"/>
          <p:nvPr/>
        </p:nvSpPr>
        <p:spPr>
          <a:xfrm>
            <a:off x="548640" y="5065776"/>
            <a:ext cx="2103120" cy="822960"/>
          </a:xfrm>
          <a:prstGeom prst="rect">
            <a:avLst/>
          </a:prstGeom>
          <a:noFill/>
          <a:ln/>
        </p:spPr>
        <p:txBody>
          <a:bodyPr wrap="square" lIns="0" tIns="0" rIns="0" bIns="0" rtlCol="0" anchor="ctr"/>
          <a:lstStyle/>
          <a:p>
            <a:pPr indent="0" marL="0">
              <a:buNone/>
            </a:pPr>
            <a:r>
              <a:rPr lang="en-US" sz="3000" b="1" dirty="0">
                <a:solidFill>
                  <a:schemeClr val="accent1"/>
                </a:solidFill>
                <a:latin typeface="Arial" pitchFamily="34" charset="0"/>
                <a:ea typeface="Arial" pitchFamily="34" charset="-122"/>
                <a:cs typeface="Arial" pitchFamily="34" charset="-120"/>
              </a:rPr>
              <a:t>≈ 0</a:t>
            </a:r>
            <a:endParaRPr lang="en-US" sz="3000" dirty="0"/>
          </a:p>
        </p:txBody>
      </p:sp>
      <p:sp>
        <p:nvSpPr>
          <p:cNvPr id="13" name="text_430"/>
          <p:cNvSpPr txBox="1"/>
          <p:nvPr/>
        </p:nvSpPr>
        <p:spPr>
          <a:xfrm>
            <a:off x="2834640" y="5065776"/>
            <a:ext cx="5212080" cy="822960"/>
          </a:xfrm>
          <a:prstGeom prst="rect">
            <a:avLst/>
          </a:prstGeom>
          <a:noFill/>
          <a:ln/>
        </p:spPr>
        <p:txBody>
          <a:bodyPr wrap="square" lIns="0" tIns="0" rIns="0" bIns="0" rtlCol="0" anchor="ctr"/>
          <a:lstStyle/>
          <a:p>
            <a:pPr indent="0" marL="0">
              <a:buNone/>
            </a:pPr>
            <a:r>
              <a:rPr lang="en-US" sz="1500" dirty="0">
                <a:solidFill>
                  <a:schemeClr val="bg1"/>
                </a:solidFill>
              </a:rPr>
              <a:t>The 2022 fare rise brought no measurable fall in demand; revenue rose 29%.</a:t>
            </a:r>
            <a:endParaRPr lang="en-US" sz="1500" dirty="0"/>
          </a:p>
        </p:txBody>
      </p:sp>
      <p:sp>
        <p:nvSpPr>
          <p:cNvPr id="14" name="Text 1"/>
          <p:cNvSpPr/>
          <p:nvPr>
            <p:ph idx="101" type="title" hasCustomPrompt="1"/>
          </p:nvPr>
        </p:nvSpPr>
        <p:spPr>
          <a:xfrm>
            <a:off x="548640" y="868680"/>
            <a:ext cx="11094415" cy="777240"/>
          </a:xfrm>
          <a:prstGeom prst="rect">
            <a:avLst/>
          </a:prstGeom>
          <a:noFill/>
          <a:ln/>
        </p:spPr>
        <p:txBody>
          <a:bodyPr wrap="square" lIns="0" tIns="0" rIns="0" bIns="0" rtlCol="0" anchor="t"/>
          <a:lstStyle/>
          <a:p>
            <a:pPr algn="l" indent="0" marL="0">
              <a:buNone/>
            </a:pPr>
            <a:endParaRPr lang="en-US" sz="3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pic>
        <p:nvPicPr>
          <p:cNvPr id="3" name="photo_thanks" descr="Illustration: Central Park at dusk with the Manhattan skyline and a yellow taxi">    </p:cNvPr>
          <p:cNvPicPr>
            <a:picLocks noChangeAspect="1"/>
          </p:cNvPicPr>
          <p:nvPr/>
        </p:nvPicPr>
        <p:blipFill>
          <a:blip r:embed="rId1"/>
          <a:srcRect l="0" r="0" t="0" b="0"/>
          <a:stretch/>
        </p:blipFill>
        <p:spPr>
          <a:xfrm>
            <a:off x="0" y="0"/>
            <a:ext cx="12191695" cy="6858000"/>
          </a:xfrm>
          <a:prstGeom prst="rect">
            <a:avLst/>
          </a:prstGeom>
        </p:spPr>
      </p:pic>
      <p:sp>
        <p:nvSpPr>
          <p:cNvPr id="4" name="overlay_thanks"/>
          <p:cNvSpPr/>
          <p:nvPr/>
        </p:nvSpPr>
        <p:spPr>
          <a:xfrm>
            <a:off x="0" y="0"/>
            <a:ext cx="12191695" cy="6858000"/>
          </a:xfrm>
          <a:prstGeom prst="rect">
            <a:avLst/>
          </a:prstGeom>
          <a:solidFill>
            <a:srgbClr val="111111">
              <a:alpha val="65000"/>
            </a:srgbClr>
          </a:solidFill>
          <a:ln/>
        </p:spPr>
      </p:sp>
      <p:sp>
        <p:nvSpPr>
          <p:cNvPr id="5" name="text_431"/>
          <p:cNvSpPr txBox="1"/>
          <p:nvPr/>
        </p:nvSpPr>
        <p:spPr>
          <a:xfrm>
            <a:off x="548640" y="2103120"/>
            <a:ext cx="8229600" cy="1097280"/>
          </a:xfrm>
          <a:prstGeom prst="rect">
            <a:avLst/>
          </a:prstGeom>
          <a:noFill/>
          <a:ln/>
        </p:spPr>
        <p:txBody>
          <a:bodyPr wrap="square" lIns="0" tIns="0" rIns="0" bIns="0" rtlCol="0" anchor="b"/>
          <a:lstStyle/>
          <a:p>
            <a:pPr indent="0" marL="0">
              <a:buNone/>
            </a:pPr>
            <a:r>
              <a:rPr lang="en-US" sz="6000" b="1" dirty="0">
                <a:solidFill>
                  <a:schemeClr val="bg1"/>
                </a:solidFill>
                <a:latin typeface="Arial" pitchFamily="34" charset="0"/>
                <a:ea typeface="Arial" pitchFamily="34" charset="-122"/>
                <a:cs typeface="Arial" pitchFamily="34" charset="-120"/>
              </a:rPr>
              <a:t>Thank you</a:t>
            </a:r>
            <a:endParaRPr lang="en-US" sz="6000" dirty="0"/>
          </a:p>
        </p:txBody>
      </p:sp>
      <p:sp>
        <p:nvSpPr>
          <p:cNvPr id="6" name="text_432"/>
          <p:cNvSpPr txBox="1"/>
          <p:nvPr/>
        </p:nvSpPr>
        <p:spPr>
          <a:xfrm>
            <a:off x="548640" y="3246120"/>
            <a:ext cx="8229600" cy="548640"/>
          </a:xfrm>
          <a:prstGeom prst="rect">
            <a:avLst/>
          </a:prstGeom>
          <a:noFill/>
          <a:ln/>
        </p:spPr>
        <p:txBody>
          <a:bodyPr wrap="square" lIns="0" tIns="0" rIns="0" bIns="0" rtlCol="0" anchor="t"/>
          <a:lstStyle/>
          <a:p>
            <a:pPr indent="0" marL="0">
              <a:buNone/>
            </a:pPr>
            <a:r>
              <a:rPr lang="en-US" sz="2600" dirty="0">
                <a:solidFill>
                  <a:schemeClr val="accent1"/>
                </a:solidFill>
                <a:latin typeface="Arial" pitchFamily="34" charset="0"/>
                <a:ea typeface="Arial" pitchFamily="34" charset="-122"/>
                <a:cs typeface="Arial" pitchFamily="34" charset="-120"/>
              </a:rPr>
              <a:t>Questions and discussion</a:t>
            </a:r>
            <a:endParaRPr lang="en-US" sz="2600" dirty="0"/>
          </a:p>
        </p:txBody>
      </p:sp>
      <p:sp>
        <p:nvSpPr>
          <p:cNvPr id="7" name="text_433"/>
          <p:cNvSpPr txBox="1"/>
          <p:nvPr/>
        </p:nvSpPr>
        <p:spPr>
          <a:xfrm>
            <a:off x="548640" y="4937760"/>
            <a:ext cx="9144000" cy="548640"/>
          </a:xfrm>
          <a:prstGeom prst="rect">
            <a:avLst/>
          </a:prstGeom>
          <a:noFill/>
          <a:ln/>
        </p:spPr>
        <p:txBody>
          <a:bodyPr wrap="square" lIns="0" tIns="0" rIns="0" bIns="0" rtlCol="0" anchor="t"/>
          <a:lstStyle/>
          <a:p>
            <a:pPr indent="0" marL="0">
              <a:buNone/>
            </a:pPr>
            <a:r>
              <a:rPr lang="en-US" sz="1300" dirty="0">
                <a:solidFill>
                  <a:schemeClr val="accent6"/>
                </a:solidFill>
              </a:rPr>
              <a:t>Data: NYC Taxi &amp; Limousine Commission trip records 2022–2025 · NOAA daily weather, Central Park · TLC taxi zone shapefile</a:t>
            </a:r>
            <a:endParaRPr lang="en-US" sz="1300" dirty="0"/>
          </a:p>
        </p:txBody>
      </p:sp>
      <p:sp>
        <p:nvSpPr>
          <p:cNvPr id="8" name="text_434"/>
          <p:cNvSpPr txBox="1"/>
          <p:nvPr/>
        </p:nvSpPr>
        <p:spPr>
          <a:xfrm>
            <a:off x="548640" y="5669280"/>
            <a:ext cx="9144000" cy="365760"/>
          </a:xfrm>
          <a:prstGeom prst="rect">
            <a:avLst/>
          </a:prstGeom>
          <a:noFill/>
          <a:ln/>
        </p:spPr>
        <p:txBody>
          <a:bodyPr wrap="square" lIns="0" tIns="0" rIns="0" bIns="0" rtlCol="0" anchor="t"/>
          <a:lstStyle/>
          <a:p>
            <a:pPr indent="0" marL="0">
              <a:buNone/>
            </a:pPr>
            <a:r>
              <a:rPr lang="en-US" sz="1400" dirty="0">
                <a:solidFill>
                  <a:schemeClr val="bg1"/>
                </a:solidFill>
              </a:rPr>
              <a:t>[Student name]  ·  [Email]  ·  [Institution]</a:t>
            </a:r>
            <a:endParaRPr lang="en-US" sz="1400" dirty="0"/>
          </a:p>
        </p:txBody>
      </p:sp>
    </p:spTree>
  </p:cSld>
  <p:clrMapOvr>
    <a:masterClrMapping/>
  </p:clrMapOvr>
</p:sld>
</file>

<file path=ppt/theme/theme1.xml><?xml version="1.0" encoding="utf-8"?>
<a:theme xmlns:a="http://schemas.openxmlformats.org/drawingml/2006/main" name="Pricing the Streets">
  <a:themeElements>
    <a:clrScheme name="Pricing the Streets">
      <a:dk1>
        <a:srgbClr val="111111"/>
      </a:dk1>
      <a:lt1>
        <a:srgbClr val="FFFFFF"/>
      </a:lt1>
      <a:dk2>
        <a:srgbClr val="2B2D31"/>
      </a:dk2>
      <a:lt2>
        <a:srgbClr val="F3F3F1"/>
      </a:lt2>
      <a:accent1>
        <a:srgbClr val="F5B700"/>
      </a:accent1>
      <a:accent2>
        <a:srgbClr val="5B7A99"/>
      </a:accent2>
      <a:accent3>
        <a:srgbClr val="8A8F98"/>
      </a:accent3>
      <a:accent4>
        <a:srgbClr val="B88600"/>
      </a:accent4>
      <a:accent5>
        <a:srgbClr val="3D5A75"/>
      </a:accent5>
      <a:accent6>
        <a:srgbClr val="D9D9D9"/>
      </a:accent6>
      <a:hlink>
        <a:srgbClr val="3D5A75"/>
      </a:hlink>
      <a:folHlink>
        <a:srgbClr val="8A8F98"/>
      </a:folHlink>
    </a:clrScheme>
    <a:fontScheme name="Pricing the Street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Pricing the Streets</dc:title>
  <dc:subject>PptxGenJS Presentation</dc:subject>
  <dc:creator>[Student name]</dc:creator>
  <cp:lastModifiedBy>[Student name]</cp:lastModifiedBy>
  <cp:revision>1</cp:revision>
  <dcterms:created xsi:type="dcterms:W3CDTF">2026-10-28T06:37:55Z</dcterms:created>
  <dcterms:modified xsi:type="dcterms:W3CDTF">2026-10-28T06:37:55Z</dcterms:modified>
</cp:coreProperties>
</file>